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egory Label Placeholder"/>
          <p:cNvSpPr>
            <a:spLocks noGrp="1"/>
          </p:cNvSpPr>
          <p:nvPr>
            <p:ph type="body" idx="2"/>
          </p:nvPr>
        </p:nvSpPr>
        <p:spPr>
          <a:xfrm>
            <a:off x="3143250" y="1882140"/>
            <a:ext cx="5905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1800" b="1" kern="1200">
                <a:solidFill>
                  <a:srgbClr val="A855F7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1800" b="1" kern="1200">
                <a:solidFill>
                  <a:srgbClr val="A855F7"/>
                </a:solidFill>
                <a:latin typeface="Poppins"/>
                <a:ea typeface="Poppins"/>
                <a:cs typeface="Poppins"/>
              </a:defRPr>
            </a:pPr>
            <a:r>
              <a:rPr lang="en-US" sz="1800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Category Label</a:t>
            </a:r>
            <a:endParaRPr sz="1800" b="1" kern="1200">
              <a:solidFill>
                <a:srgbClr val="A855F7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3" name="Title Slide Center Divider"/>
          <p:cNvSpPr/>
          <p:nvPr/>
        </p:nvSpPr>
        <p:spPr>
          <a:xfrm>
            <a:off x="5524500" y="2228850"/>
            <a:ext cx="1143000" cy="9525"/>
          </a:xfrm>
          <a:prstGeom prst="rect">
            <a:avLst/>
          </a:prstGeom>
          <a:solidFill>
            <a:srgbClr val="A855F7">
              <a:alpha val="55000"/>
            </a:srgbClr>
          </a:solidFill>
          <a:ln>
            <a:noFill/>
          </a:ln>
        </p:spPr>
      </p:sp>
      <p:sp>
        <p:nvSpPr>
          <p:cNvPr id="4" name="Presentation Title Placeholder"/>
          <p:cNvSpPr>
            <a:spLocks noGrp="1"/>
          </p:cNvSpPr>
          <p:nvPr>
            <p:ph type="title"/>
          </p:nvPr>
        </p:nvSpPr>
        <p:spPr>
          <a:xfrm>
            <a:off x="762000" y="2635568"/>
            <a:ext cx="10668000" cy="828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4350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4350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435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Presentation Title</a:t>
            </a:r>
            <a:endParaRPr sz="4350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Subtitle Placeholder"/>
          <p:cNvSpPr>
            <a:spLocks noGrp="1"/>
          </p:cNvSpPr>
          <p:nvPr>
            <p:ph type="subTitle" idx="1"/>
          </p:nvPr>
        </p:nvSpPr>
        <p:spPr>
          <a:xfrm>
            <a:off x="1143000" y="3373755"/>
            <a:ext cx="9906000" cy="746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1800" kern="1200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800" kern="120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lang="en-US" sz="18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Subtitle</a:t>
            </a:r>
            <a:endParaRPr sz="1800" kern="120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" name="Author / Date Placeholder"/>
          <p:cNvSpPr>
            <a:spLocks noGrp="1"/>
          </p:cNvSpPr>
          <p:nvPr>
            <p:ph type="body" idx="3"/>
          </p:nvPr>
        </p:nvSpPr>
        <p:spPr>
          <a:xfrm>
            <a:off x="3143250" y="4195286"/>
            <a:ext cx="590550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1725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725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725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Author / Date</a:t>
            </a:r>
            <a:endParaRPr sz="1725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ns2:creationId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3225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Title</a:t>
            </a:r>
            <a:endParaRPr sz="3225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1064895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Content</a:t>
            </a:r>
            <a:endParaRPr sz="15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ns2:creationId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Label Placeholder"/>
          <p:cNvSpPr>
            <a:spLocks noGrp="1"/>
          </p:cNvSpPr>
          <p:nvPr>
            <p:ph type="body" idx="2"/>
          </p:nvPr>
        </p:nvSpPr>
        <p:spPr>
          <a:xfrm>
            <a:off x="3619500" y="2167890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1800" b="1" kern="1200">
                <a:solidFill>
                  <a:srgbClr val="A855F7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1800" b="1" kern="1200">
                <a:solidFill>
                  <a:srgbClr val="A855F7"/>
                </a:solidFill>
                <a:latin typeface="Poppins"/>
                <a:ea typeface="Poppins"/>
                <a:cs typeface="Poppins"/>
              </a:defRPr>
            </a:pPr>
            <a:r>
              <a:rPr lang="en-US" sz="1800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Chapter Label</a:t>
            </a:r>
            <a:endParaRPr sz="1800" b="1" kern="1200">
              <a:solidFill>
                <a:srgbClr val="A855F7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3" name="Section Header Center Divider"/>
          <p:cNvSpPr/>
          <p:nvPr/>
        </p:nvSpPr>
        <p:spPr>
          <a:xfrm>
            <a:off x="5524500" y="2514600"/>
            <a:ext cx="1143000" cy="9525"/>
          </a:xfrm>
          <a:prstGeom prst="rect">
            <a:avLst/>
          </a:prstGeom>
          <a:solidFill>
            <a:srgbClr val="A855F7">
              <a:alpha val="55000"/>
            </a:srgbClr>
          </a:solidFill>
          <a:ln>
            <a:noFill/>
          </a:ln>
        </p:spPr>
      </p:sp>
      <p:sp>
        <p:nvSpPr>
          <p:cNvPr id="4" name="Section Title Placeholder"/>
          <p:cNvSpPr>
            <a:spLocks noGrp="1"/>
          </p:cNvSpPr>
          <p:nvPr>
            <p:ph type="title"/>
          </p:nvPr>
        </p:nvSpPr>
        <p:spPr>
          <a:xfrm>
            <a:off x="762000" y="2941320"/>
            <a:ext cx="10668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5400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5400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Section Title</a:t>
            </a:r>
            <a:endParaRPr sz="5400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Section Subtitle Placeholder"/>
          <p:cNvSpPr>
            <a:spLocks noGrp="1"/>
          </p:cNvSpPr>
          <p:nvPr>
            <p:ph type="subTitle" idx="1"/>
          </p:nvPr>
        </p:nvSpPr>
        <p:spPr>
          <a:xfrm>
            <a:off x="1619250" y="3850005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18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8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8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Section Subtitle</a:t>
            </a:r>
            <a:endParaRPr sz="18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ns2:creationId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3225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Title</a:t>
            </a:r>
            <a:endParaRPr sz="3225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Left 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5111115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Left Content</a:t>
            </a:r>
            <a:endParaRPr sz="15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" name="Right Content Placeholder"/>
          <p:cNvSpPr>
            <a:spLocks noGrp="1"/>
          </p:cNvSpPr>
          <p:nvPr>
            <p:ph type="body" idx="2"/>
          </p:nvPr>
        </p:nvSpPr>
        <p:spPr>
          <a:xfrm>
            <a:off x="6309360" y="1645920"/>
            <a:ext cx="5111115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Right Content</a:t>
            </a:r>
            <a:endParaRPr sz="15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ns2:creationId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3225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Title</a:t>
            </a:r>
            <a:endParaRPr sz="3225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Left 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5111115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Left Content</a:t>
            </a:r>
            <a:endParaRPr sz="15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" name="Right Content Placeholder"/>
          <p:cNvSpPr>
            <a:spLocks noGrp="1"/>
          </p:cNvSpPr>
          <p:nvPr>
            <p:ph type="body" idx="2"/>
          </p:nvPr>
        </p:nvSpPr>
        <p:spPr>
          <a:xfrm>
            <a:off x="6309360" y="1645920"/>
            <a:ext cx="5111115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Right Content</a:t>
            </a:r>
            <a:endParaRPr sz="15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ns2:creationId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3225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Title</a:t>
            </a:r>
            <a:endParaRPr sz="3225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ns2:creationId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3225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Title</a:t>
            </a:r>
            <a:endParaRPr sz="3225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1064895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Content</a:t>
            </a:r>
            <a:endParaRPr sz="15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ns2:creationId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3225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Title</a:t>
            </a:r>
            <a:endParaRPr sz="3225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1064895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Content</a:t>
            </a:r>
            <a:endParaRPr sz="15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ns2:creationId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3225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Title</a:t>
            </a:r>
            <a:endParaRPr sz="3225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1064895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Content</a:t>
            </a:r>
            <a:endParaRPr sz="15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ns2:creationId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Header Accent Bar"/>
          <p:cNvSpPr/>
          <p:nvPr/>
        </p:nvSpPr>
        <p:spPr>
          <a:xfrm>
            <a:off x="571500" y="638175"/>
            <a:ext cx="28575" cy="381000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3" name="PPT Master Header Underline"/>
          <p:cNvSpPr/>
          <p:nvPr/>
        </p:nvSpPr>
        <p:spPr>
          <a:xfrm>
            <a:off x="771525" y="1123950"/>
            <a:ext cx="1064895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3225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Title</a:t>
            </a:r>
            <a:endParaRPr sz="3225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Content Placeholder"/>
          <p:cNvSpPr>
            <a:spLocks noGrp="1"/>
          </p:cNvSpPr>
          <p:nvPr>
            <p:ph type="body" idx="1"/>
          </p:nvPr>
        </p:nvSpPr>
        <p:spPr>
          <a:xfrm>
            <a:off x="771525" y="1645920"/>
            <a:ext cx="10648950" cy="3840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Content</a:t>
            </a:r>
            <a:endParaRPr sz="15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ns2:creationId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 Master SVG bgGlow"/>
          <p:cNvSpPr/>
          <p:nvPr/>
        </p:nvSpPr>
        <p:spPr>
          <a:xfrm>
            <a:off x="1828800" y="-3977640"/>
            <a:ext cx="17068800" cy="9601200"/>
          </a:xfrm>
          <a:prstGeom prst="ellipse">
            <a:avLst/>
          </a:prstGeom>
          <a:gradFill flip="none" rotWithShape="1">
            <a:gsLst>
              <a:gs pos="0">
                <a:srgbClr val="7C3AED">
                  <a:alpha val="15000"/>
                </a:srgbClr>
              </a:gs>
              <a:gs pos="50000">
                <a:srgbClr val="4C1D95">
                  <a:alpha val="4000"/>
                </a:srgbClr>
              </a:gs>
              <a:gs pos="100000">
                <a:srgbClr val="05050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PPT Master SVG bgGlow2"/>
          <p:cNvSpPr/>
          <p:nvPr/>
        </p:nvSpPr>
        <p:spPr>
          <a:xfrm>
            <a:off x="-5486400" y="2263140"/>
            <a:ext cx="13411200" cy="7543800"/>
          </a:xfrm>
          <a:prstGeom prst="ellipse">
            <a:avLst/>
          </a:prstGeom>
          <a:gradFill flip="none" rotWithShape="1">
            <a:gsLst>
              <a:gs pos="0">
                <a:srgbClr val="1E40AF">
                  <a:alpha val="8000"/>
                </a:srgbClr>
              </a:gs>
              <a:gs pos="100000">
                <a:srgbClr val="05050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Master Title Style Placeholder"/>
          <p:cNvSpPr>
            <a:spLocks noGrp="1"/>
          </p:cNvSpPr>
          <p:nvPr>
            <p:ph type="title"/>
          </p:nvPr>
        </p:nvSpPr>
        <p:spPr>
          <a:xfrm>
            <a:off x="730568" y="604361"/>
            <a:ext cx="10692765" cy="655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>
            <a:lvl1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l">
              <a:defRPr sz="3225" b="1" kern="12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lang="en-US" sz="3225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Click to edit master title style</a:t>
            </a:r>
            <a:endParaRPr sz="3225" b="1" kern="1200">
              <a:solidFill>
                <a:srgbClr val="FFFFF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Master Body Style Placeholder"/>
          <p:cNvSpPr>
            <a:spLocks noGrp="1"/>
          </p:cNvSpPr>
          <p:nvPr>
            <p:ph type="body" idx="1"/>
          </p:nvPr>
        </p:nvSpPr>
        <p:spPr>
          <a:xfrm>
            <a:off x="771525" y="1954529"/>
            <a:ext cx="10648950" cy="3154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lvl1pPr>
          </a:lstStyle>
          <a:p>
            <a:pPr algn="l">
              <a:defRPr sz="1500" kern="1200">
                <a:solidFill>
                  <a:srgbClr val="94A3B8"/>
                </a:solidFill>
                <a:latin typeface="Lato"/>
                <a:ea typeface="Lato"/>
                <a:cs typeface="Lato"/>
              </a:defRPr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Click to edit master body style</a:t>
            </a:r>
            <a:endParaRPr sz="1500" kern="1200">
              <a:solidFill>
                <a:srgbClr val="94A3B8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" name="PPT Master Footer Text"/>
          <p:cNvSpPr/>
          <p:nvPr/>
        </p:nvSpPr>
        <p:spPr>
          <a:xfrm>
            <a:off x="580000" y="6338000"/>
            <a:ext cx="5486400" cy="1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975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VisualSol Lecture 2026</a:t>
            </a:r>
          </a:p>
        </p:txBody>
      </p:sp>
      <p:sp>
        <p:nvSpPr>
          <p:cNvPr id="7" name="PPT Master Slide Number"/>
          <p:cNvSpPr/>
          <p:nvPr/>
        </p:nvSpPr>
        <p:spPr>
          <a:xfrm>
            <a:off x="10912000" y="6338000"/>
            <a:ext cx="700000" cy="1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/>
            <a:fld id="{21317E6D-AA92-4895-A475-BA7930CC4A43}" type="slidenum">
              <a:rPr lang="en-US" sz="975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#</a:t>
            </a:fld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algn="l" defTabSz="457200" rtl="0" eaLnBrk="1" latinLnBrk="0" hangingPunct="1">
        <a:defRPr sz="3225" b="1" kern="1200">
          <a:solidFill>
            <a:srgbClr val="FFFFFF"/>
          </a:solidFill>
          <a:latin typeface="Poppins"/>
          <a:ea typeface="Poppins"/>
          <a:cs typeface="Poppins"/>
        </a:defRPr>
      </a:lvl1pPr>
      <a:lvl2pPr marL="457200" algn="l" defTabSz="457200" rtl="0" eaLnBrk="1" latinLnBrk="0" hangingPunct="1">
        <a:defRPr sz="1500" kern="1200">
          <a:solidFill>
            <a:srgbClr val="94A3B8"/>
          </a:solidFill>
          <a:latin typeface="Lato"/>
          <a:ea typeface="Lato"/>
          <a:cs typeface="Lato"/>
        </a:defRPr>
      </a:lvl2pPr>
    </p:titleStyle>
    <p:bodyStyle>
      <a:lvl1pPr marL="0" algn="l" defTabSz="457200" rtl="0" eaLnBrk="1" latinLnBrk="0" hangingPunct="1">
        <a:defRPr sz="1500" kern="1200">
          <a:solidFill>
            <a:srgbClr val="94A3B8"/>
          </a:solidFill>
          <a:latin typeface="Lato"/>
          <a:ea typeface="Lato"/>
          <a:cs typeface="Lato"/>
        </a:defRPr>
      </a:lvl1pPr>
      <a:lvl2pPr marL="457200" algn="l" defTabSz="457200" rtl="0" eaLnBrk="1" latinLnBrk="0" hangingPunct="1">
        <a:defRPr sz="1500" kern="1200">
          <a:solidFill>
            <a:srgbClr val="94A3B8"/>
          </a:solidFill>
          <a:latin typeface="Lato"/>
          <a:ea typeface="Lato"/>
          <a:cs typeface="Lato"/>
        </a:defRPr>
      </a:lvl2pPr>
    </p:bodyStyle>
    <p:otherStyle>
      <a:lvl1pPr marL="0" algn="l" defTabSz="457200" rtl="0" eaLnBrk="1" latinLnBrk="0" hangingPunct="1">
        <a:defRPr sz="1500" kern="1200">
          <a:solidFill>
            <a:srgbClr val="94A3B8"/>
          </a:solidFill>
          <a:latin typeface="Lato"/>
          <a:ea typeface="Lato"/>
          <a:cs typeface="Lato"/>
        </a:defRPr>
      </a:lvl1pPr>
      <a:lvl2pPr marL="457200" algn="l" defTabSz="457200" rtl="0" eaLnBrk="1" latinLnBrk="0" hangingPunct="1">
        <a:defRPr sz="1500" kern="1200">
          <a:solidFill>
            <a:srgbClr val="94A3B8"/>
          </a:solidFill>
          <a:latin typeface="Lato"/>
          <a:ea typeface="Lato"/>
          <a:cs typeface="Lato"/>
        </a:defRPr>
      </a:lvl2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34123" y="1882140"/>
            <a:ext cx="3523755" cy="365760"/>
            <a:chOff x="4334123" y="1882140"/>
            <a:chExt cx="3523755" cy="365760"/>
          </a:xfrm>
        </p:grpSpPr>
        <p:sp>
          <p:nvSpPr>
            <p:cNvPr id="2" name="TextBox 2"/>
            <p:cNvSpPr txBox="1"/>
            <p:nvPr/>
          </p:nvSpPr>
          <p:spPr>
            <a:xfrm>
              <a:off x="4334123" y="1882140"/>
              <a:ext cx="35237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VISUAL SOLUTIONS LECTURE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0" y="2228850"/>
              <a:ext cx="1143000" cy="9525"/>
            </a:xfrm>
            <a:prstGeom prst="rect">
              <a:avLst/>
            </a:prstGeom>
            <a:solidFill>
              <a:srgbClr val="A855F7">
                <a:alpha val="55000"/>
              </a:srgbClr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-63058" y="2635568"/>
            <a:ext cx="12318116" cy="883920"/>
            <a:chOff x="-63058" y="2635568"/>
            <a:chExt cx="12318116" cy="883920"/>
          </a:xfrm>
        </p:grpSpPr>
        <p:sp>
          <p:nvSpPr>
            <p:cNvPr id="5" name="TextBox 5"/>
            <p:cNvSpPr txBox="1"/>
            <p:nvPr/>
          </p:nvSpPr>
          <p:spPr>
            <a:xfrm>
              <a:off x="-63058" y="2635568"/>
              <a:ext cx="12318116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 Scene Reconstruction &amp; Generation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74818" y="3373755"/>
            <a:ext cx="8242363" cy="773430"/>
            <a:chOff x="1974818" y="3373755"/>
            <a:chExt cx="8242363" cy="773430"/>
          </a:xfrm>
        </p:grpSpPr>
        <p:sp>
          <p:nvSpPr>
            <p:cNvPr id="7" name="TextBox 7"/>
            <p:cNvSpPr txBox="1"/>
            <p:nvPr/>
          </p:nvSpPr>
          <p:spPr>
            <a:xfrm>
              <a:off x="1974818" y="3373755"/>
              <a:ext cx="8242363" cy="773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>
                      <a:alpha val="85000"/>
                    </a:srgbClr>
                  </a:solidFill>
                  <a:latin typeface="Lato"/>
                  <a:ea typeface="Lato"/>
                  <a:cs typeface="Lato"/>
                </a:rPr>
                <a:t>From Scene Reconstruction to Feed-Forward Inference</a:t>
              </a:r>
            </a:p>
            <a:p>
              <a:pPr algn="ctr"/>
              <a:r>
                <a:rPr lang="en-US" sz="2100" dirty="0">
                  <a:solidFill>
                    <a:srgbClr val="FFFFFF">
                      <a:alpha val="85000"/>
                    </a:srgbClr>
                  </a:solidFill>
                  <a:latin typeface="Lato"/>
                  <a:ea typeface="Lato"/>
                  <a:cs typeface="Lato"/>
                </a:rPr>
                <a:t>and World Models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68773" y="4195286"/>
            <a:ext cx="3054453" cy="581502"/>
            <a:chOff x="4568773" y="4195286"/>
            <a:chExt cx="3054453" cy="581502"/>
          </a:xfrm>
        </p:grpSpPr>
        <p:sp>
          <p:nvSpPr>
            <p:cNvPr id="9" name="TextBox 9"/>
            <p:cNvSpPr txBox="1"/>
            <p:nvPr/>
          </p:nvSpPr>
          <p:spPr>
            <a:xfrm>
              <a:off x="4568773" y="4195286"/>
              <a:ext cx="305445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5" dirty="0">
                  <a:solidFill>
                    <a:srgbClr val="94A3B8"/>
                  </a:solidFill>
                  <a:latin typeface="Poppins"/>
                  <a:ea typeface="Poppins"/>
                  <a:cs typeface="Poppins"/>
                </a:rPr>
                <a:t>VisualSol Research Group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0016" y="4502468"/>
              <a:ext cx="8919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May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2356899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CONTENTS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54380" y="1535430"/>
            <a:ext cx="7012496" cy="2931795"/>
            <a:chOff x="754380" y="1535430"/>
            <a:chExt cx="7012496" cy="2931795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161639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16330" y="1535430"/>
              <a:ext cx="43203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What is 3D Reconstruction?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2045" y="1822132"/>
              <a:ext cx="66448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Definition, taxonomy, and the representation landscape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71525" y="2171700"/>
              <a:ext cx="49530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4380" y="23783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6330" y="2297430"/>
              <a:ext cx="33703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 Gaussian Splatting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2045" y="2584132"/>
              <a:ext cx="58616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Math, pipeline, results, and practical limitations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" y="2933700"/>
              <a:ext cx="49530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4380" y="314039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6330" y="305943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—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71525" y="3695700"/>
              <a:ext cx="49530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4380" y="390239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1E2E"/>
                  </a:solidFill>
                  <a:latin typeface="Poppins"/>
                  <a:ea typeface="Poppins"/>
                  <a:cs typeface="Poppins"/>
                </a:rPr>
                <a:t>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6330" y="382143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E1E2E"/>
                  </a:solidFill>
                  <a:latin typeface="Poppins"/>
                  <a:ea typeface="Poppins"/>
                  <a:cs typeface="Poppins"/>
                </a:rPr>
                <a:t>—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71525" y="4457700"/>
              <a:ext cx="49530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459855" y="1535430"/>
            <a:ext cx="7771590" cy="2931795"/>
            <a:chOff x="6459855" y="1535430"/>
            <a:chExt cx="7771590" cy="2931795"/>
          </a:xfrm>
        </p:grpSpPr>
        <p:sp>
          <p:nvSpPr>
            <p:cNvPr id="21" name="TextBox 21"/>
            <p:cNvSpPr txBox="1"/>
            <p:nvPr/>
          </p:nvSpPr>
          <p:spPr>
            <a:xfrm>
              <a:off x="6459855" y="16163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21805" y="1535430"/>
              <a:ext cx="30483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Feed-Forward 3DGS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27520" y="1822132"/>
              <a:ext cx="7403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Amortized inference: single-view, sparse, pose-free methods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2171700"/>
              <a:ext cx="49530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59855" y="23783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21805" y="2297430"/>
              <a:ext cx="366019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World Models &amp; Outlook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27520" y="2584132"/>
              <a:ext cx="63315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Cosmos, Marble, RTFM — reconstruction to simulation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2933700"/>
              <a:ext cx="49530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59855" y="314039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1E2E"/>
                  </a:solidFill>
                  <a:latin typeface="Poppins"/>
                  <a:ea typeface="Poppins"/>
                  <a:cs typeface="Poppins"/>
                </a:rPr>
                <a:t>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21805" y="305943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E1E2E"/>
                  </a:solidFill>
                  <a:latin typeface="Poppins"/>
                  <a:ea typeface="Poppins"/>
                  <a:cs typeface="Poppins"/>
                </a:rPr>
                <a:t>—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3695700"/>
              <a:ext cx="49530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59855" y="390239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1E2E"/>
                  </a:solidFill>
                  <a:latin typeface="Poppins"/>
                  <a:ea typeface="Poppins"/>
                  <a:cs typeface="Poppins"/>
                </a:rPr>
                <a:t>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21805" y="382143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E1E2E"/>
                  </a:solidFill>
                  <a:latin typeface="Poppins"/>
                  <a:ea typeface="Poppins"/>
                  <a:cs typeface="Poppins"/>
                </a:rPr>
                <a:t>—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0" y="4457700"/>
              <a:ext cx="49530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83054" y="2167890"/>
            <a:ext cx="1425893" cy="365760"/>
            <a:chOff x="5383054" y="2167890"/>
            <a:chExt cx="1425893" cy="365760"/>
          </a:xfrm>
        </p:grpSpPr>
        <p:sp>
          <p:nvSpPr>
            <p:cNvPr id="2" name="TextBox 2"/>
            <p:cNvSpPr txBox="1"/>
            <p:nvPr/>
          </p:nvSpPr>
          <p:spPr>
            <a:xfrm>
              <a:off x="5383054" y="2167890"/>
              <a:ext cx="142589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CHAPTER 01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0" y="2514600"/>
              <a:ext cx="1143000" cy="9525"/>
            </a:xfrm>
            <a:prstGeom prst="rect">
              <a:avLst/>
            </a:prstGeom>
            <a:solidFill>
              <a:srgbClr val="A855F7">
                <a:alpha val="55000"/>
              </a:srgbClr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41234" y="2941320"/>
            <a:ext cx="11109531" cy="1097280"/>
            <a:chOff x="541234" y="2941320"/>
            <a:chExt cx="11109531" cy="1097280"/>
          </a:xfrm>
        </p:grpSpPr>
        <p:sp>
          <p:nvSpPr>
            <p:cNvPr id="5" name="TextBox 5"/>
            <p:cNvSpPr txBox="1"/>
            <p:nvPr/>
          </p:nvSpPr>
          <p:spPr>
            <a:xfrm>
              <a:off x="541234" y="2941320"/>
              <a:ext cx="11109531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What is 3D Reconstruction?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51174" y="3850005"/>
            <a:ext cx="7889653" cy="426720"/>
            <a:chOff x="2151174" y="3850005"/>
            <a:chExt cx="7889653" cy="426720"/>
          </a:xfrm>
        </p:grpSpPr>
        <p:sp>
          <p:nvSpPr>
            <p:cNvPr id="7" name="TextBox 7"/>
            <p:cNvSpPr txBox="1"/>
            <p:nvPr/>
          </p:nvSpPr>
          <p:spPr>
            <a:xfrm>
              <a:off x="2151174" y="3850005"/>
              <a:ext cx="788965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Definition, scope, and the representation landscape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2332171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Why Now?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-222790" y="2059305"/>
            <a:ext cx="12637579" cy="812483"/>
            <a:chOff x="-222790" y="2059305"/>
            <a:chExt cx="12637579" cy="812483"/>
          </a:xfrm>
        </p:grpSpPr>
        <p:sp>
          <p:nvSpPr>
            <p:cNvPr id="6" name="TextBox 6"/>
            <p:cNvSpPr txBox="1"/>
            <p:nvPr/>
          </p:nvSpPr>
          <p:spPr>
            <a:xfrm>
              <a:off x="3959966" y="2059305"/>
              <a:ext cx="427206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The bottleneck is shifting.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222790" y="2475548"/>
              <a:ext cx="1263757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From per-scene optimization → real-time universal inference → generative world simulation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3124200"/>
            <a:ext cx="9527905" cy="592931"/>
            <a:chOff x="571500" y="3124200"/>
            <a:chExt cx="9527905" cy="592931"/>
          </a:xfrm>
        </p:grpSpPr>
        <p:sp>
          <p:nvSpPr>
            <p:cNvPr id="9" name="Freeform 9"/>
            <p:cNvSpPr/>
            <p:nvPr/>
          </p:nvSpPr>
          <p:spPr>
            <a:xfrm>
              <a:off x="571500" y="3124200"/>
              <a:ext cx="38100" cy="495300"/>
            </a:xfrm>
            <a:custGeom>
              <a:avLst/>
              <a:gdLst/>
              <a:ahLst/>
              <a:cxnLst/>
              <a:rect l="l" t="t" r="r" b="b"/>
              <a:pathLst>
                <a:path w="38100" h="4953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76250"/>
                  </a:lnTo>
                  <a:cubicBezTo>
                    <a:pt x="38100" y="486771"/>
                    <a:pt x="29571" y="495300"/>
                    <a:pt x="19050" y="495300"/>
                  </a:cubicBezTo>
                  <a:lnTo>
                    <a:pt x="19050" y="495300"/>
                  </a:lnTo>
                  <a:cubicBezTo>
                    <a:pt x="8529" y="495300"/>
                    <a:pt x="0" y="486771"/>
                    <a:pt x="0" y="4762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1048" y="3163729"/>
              <a:ext cx="502760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Real-time 3D is now a product requirement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9142" y="3366611"/>
              <a:ext cx="934026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AR / VR, robotics, digital twins, autonomous driving — all demand instant 3D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3905250"/>
            <a:ext cx="8864257" cy="592931"/>
            <a:chOff x="571500" y="3905250"/>
            <a:chExt cx="8864257" cy="592931"/>
          </a:xfrm>
        </p:grpSpPr>
        <p:sp>
          <p:nvSpPr>
            <p:cNvPr id="13" name="Freeform 13"/>
            <p:cNvSpPr/>
            <p:nvPr/>
          </p:nvSpPr>
          <p:spPr>
            <a:xfrm>
              <a:off x="571500" y="3905250"/>
              <a:ext cx="38100" cy="495300"/>
            </a:xfrm>
            <a:custGeom>
              <a:avLst/>
              <a:gdLst/>
              <a:ahLst/>
              <a:cxnLst/>
              <a:rect l="l" t="t" r="r" b="b"/>
              <a:pathLst>
                <a:path w="38100" h="4953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76250"/>
                  </a:lnTo>
                  <a:cubicBezTo>
                    <a:pt x="38100" y="486771"/>
                    <a:pt x="29571" y="495300"/>
                    <a:pt x="19050" y="495300"/>
                  </a:cubicBezTo>
                  <a:lnTo>
                    <a:pt x="19050" y="495300"/>
                  </a:lnTo>
                  <a:cubicBezTo>
                    <a:pt x="8529" y="495300"/>
                    <a:pt x="0" y="486771"/>
                    <a:pt x="0" y="4762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1048" y="3944779"/>
              <a:ext cx="867470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NeRF proved quality; 3DGS proved speed; feed-forward proves scalability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9142" y="4147661"/>
              <a:ext cx="815616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Each generation solved the previous generation's core bottleneck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4686300"/>
            <a:ext cx="11026925" cy="592931"/>
            <a:chOff x="571500" y="4686300"/>
            <a:chExt cx="11026925" cy="592931"/>
          </a:xfrm>
        </p:grpSpPr>
        <p:sp>
          <p:nvSpPr>
            <p:cNvPr id="17" name="Freeform 17"/>
            <p:cNvSpPr/>
            <p:nvPr/>
          </p:nvSpPr>
          <p:spPr>
            <a:xfrm>
              <a:off x="571500" y="4686300"/>
              <a:ext cx="38100" cy="495300"/>
            </a:xfrm>
            <a:custGeom>
              <a:avLst/>
              <a:gdLst/>
              <a:ahLst/>
              <a:cxnLst/>
              <a:rect l="l" t="t" r="r" b="b"/>
              <a:pathLst>
                <a:path w="38100" h="4953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76250"/>
                  </a:lnTo>
                  <a:cubicBezTo>
                    <a:pt x="38100" y="486771"/>
                    <a:pt x="29571" y="495300"/>
                    <a:pt x="19050" y="495300"/>
                  </a:cubicBezTo>
                  <a:lnTo>
                    <a:pt x="19050" y="495300"/>
                  </a:lnTo>
                  <a:cubicBezTo>
                    <a:pt x="8529" y="495300"/>
                    <a:pt x="0" y="486771"/>
                    <a:pt x="0" y="4762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1048" y="4725829"/>
              <a:ext cx="70443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World models push reconstruction → generation → simulation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9142" y="4928711"/>
              <a:ext cx="1083928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The question is no longer "can we reconstruct a scene?" but "can we simulate a world?"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6783228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Three Levels of the Problem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352550"/>
            <a:ext cx="4381215" cy="4667250"/>
            <a:chOff x="571500" y="1352550"/>
            <a:chExt cx="4381215" cy="4667250"/>
          </a:xfrm>
        </p:grpSpPr>
        <p:sp>
          <p:nvSpPr>
            <p:cNvPr id="6" name="Freeform 6"/>
            <p:cNvSpPr/>
            <p:nvPr/>
          </p:nvSpPr>
          <p:spPr>
            <a:xfrm>
              <a:off x="571500" y="1352550"/>
              <a:ext cx="3448050" cy="4667250"/>
            </a:xfrm>
            <a:custGeom>
              <a:avLst/>
              <a:gdLst/>
              <a:ahLst/>
              <a:cxnLst/>
              <a:rect l="l" t="t" r="r" b="b"/>
              <a:pathLst>
                <a:path w="3448050" h="4667250">
                  <a:moveTo>
                    <a:pt x="76200" y="0"/>
                  </a:moveTo>
                  <a:lnTo>
                    <a:pt x="3371850" y="0"/>
                  </a:lnTo>
                  <a:cubicBezTo>
                    <a:pt x="3413934" y="0"/>
                    <a:pt x="3448050" y="34116"/>
                    <a:pt x="3448050" y="76200"/>
                  </a:cubicBezTo>
                  <a:lnTo>
                    <a:pt x="3448050" y="4591050"/>
                  </a:lnTo>
                  <a:cubicBezTo>
                    <a:pt x="3448050" y="4633134"/>
                    <a:pt x="3413934" y="4667250"/>
                    <a:pt x="3371850" y="4667250"/>
                  </a:cubicBezTo>
                  <a:lnTo>
                    <a:pt x="76200" y="4667250"/>
                  </a:lnTo>
                  <a:cubicBezTo>
                    <a:pt x="34116" y="4667250"/>
                    <a:pt x="0" y="4633134"/>
                    <a:pt x="0" y="4591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352550"/>
              <a:ext cx="3448050" cy="38100"/>
            </a:xfrm>
            <a:custGeom>
              <a:avLst/>
              <a:gdLst/>
              <a:ahLst/>
              <a:cxnLst/>
              <a:rect l="l" t="t" r="r" b="b"/>
              <a:pathLst>
                <a:path w="3448050" h="38100">
                  <a:moveTo>
                    <a:pt x="19050" y="0"/>
                  </a:moveTo>
                  <a:lnTo>
                    <a:pt x="3429000" y="0"/>
                  </a:lnTo>
                  <a:cubicBezTo>
                    <a:pt x="3439521" y="0"/>
                    <a:pt x="3448050" y="8529"/>
                    <a:pt x="3448050" y="19050"/>
                  </a:cubicBezTo>
                  <a:lnTo>
                    <a:pt x="3448050" y="19050"/>
                  </a:lnTo>
                  <a:cubicBezTo>
                    <a:pt x="3448050" y="29571"/>
                    <a:pt x="3439521" y="38100"/>
                    <a:pt x="34290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81062" y="1643062"/>
              <a:ext cx="257175" cy="257175"/>
              <a:chOff x="881062" y="1643062"/>
              <a:chExt cx="257175" cy="2571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45356" y="1707356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128588" y="10716"/>
                    </a:moveTo>
                    <a:lnTo>
                      <a:pt x="128588" y="117872"/>
                    </a:lnTo>
                    <a:cubicBezTo>
                      <a:pt x="128588" y="123790"/>
                      <a:pt x="123790" y="128588"/>
                      <a:pt x="117872" y="128588"/>
                    </a:cubicBezTo>
                    <a:lnTo>
                      <a:pt x="10716" y="128588"/>
                    </a:lnTo>
                    <a:cubicBezTo>
                      <a:pt x="4798" y="128588"/>
                      <a:pt x="0" y="123790"/>
                      <a:pt x="0" y="117872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lnTo>
                      <a:pt x="117872" y="0"/>
                    </a:lnTo>
                    <a:cubicBezTo>
                      <a:pt x="123790" y="0"/>
                      <a:pt x="128588" y="4798"/>
                      <a:pt x="128588" y="10716"/>
                    </a:cubicBezTo>
                    <a:close/>
                  </a:path>
                </a:pathLst>
              </a:custGeom>
              <a:solidFill>
                <a:srgbClr val="A855F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81062" y="16430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257175" y="10716"/>
                    </a:moveTo>
                    <a:lnTo>
                      <a:pt x="257175" y="64294"/>
                    </a:lnTo>
                    <a:cubicBezTo>
                      <a:pt x="257175" y="70212"/>
                      <a:pt x="252377" y="75009"/>
                      <a:pt x="246459" y="75009"/>
                    </a:cubicBezTo>
                    <a:cubicBezTo>
                      <a:pt x="240541" y="75009"/>
                      <a:pt x="235744" y="70212"/>
                      <a:pt x="235744" y="64294"/>
                    </a:cubicBezTo>
                    <a:lnTo>
                      <a:pt x="235744" y="21431"/>
                    </a:lnTo>
                    <a:lnTo>
                      <a:pt x="192881" y="21431"/>
                    </a:lnTo>
                    <a:cubicBezTo>
                      <a:pt x="186963" y="21431"/>
                      <a:pt x="182166" y="16634"/>
                      <a:pt x="182166" y="10716"/>
                    </a:cubicBezTo>
                    <a:cubicBezTo>
                      <a:pt x="182166" y="4798"/>
                      <a:pt x="186963" y="0"/>
                      <a:pt x="192881" y="0"/>
                    </a:cubicBezTo>
                    <a:lnTo>
                      <a:pt x="246459" y="0"/>
                    </a:lnTo>
                    <a:cubicBezTo>
                      <a:pt x="252377" y="0"/>
                      <a:pt x="257175" y="4798"/>
                      <a:pt x="257175" y="10716"/>
                    </a:cubicBezTo>
                    <a:close/>
                    <a:moveTo>
                      <a:pt x="64294" y="235744"/>
                    </a:moveTo>
                    <a:lnTo>
                      <a:pt x="21431" y="235744"/>
                    </a:lnTo>
                    <a:lnTo>
                      <a:pt x="21431" y="192881"/>
                    </a:lnTo>
                    <a:cubicBezTo>
                      <a:pt x="21431" y="186963"/>
                      <a:pt x="16634" y="182166"/>
                      <a:pt x="10716" y="182166"/>
                    </a:cubicBezTo>
                    <a:cubicBezTo>
                      <a:pt x="4798" y="182166"/>
                      <a:pt x="0" y="186963"/>
                      <a:pt x="0" y="192881"/>
                    </a:cubicBezTo>
                    <a:lnTo>
                      <a:pt x="0" y="246459"/>
                    </a:lnTo>
                    <a:cubicBezTo>
                      <a:pt x="0" y="252377"/>
                      <a:pt x="4798" y="257175"/>
                      <a:pt x="10716" y="257175"/>
                    </a:cubicBezTo>
                    <a:lnTo>
                      <a:pt x="64294" y="257175"/>
                    </a:lnTo>
                    <a:cubicBezTo>
                      <a:pt x="70212" y="257175"/>
                      <a:pt x="75009" y="252377"/>
                      <a:pt x="75009" y="246459"/>
                    </a:cubicBezTo>
                    <a:cubicBezTo>
                      <a:pt x="75009" y="240541"/>
                      <a:pt x="70212" y="235744"/>
                      <a:pt x="64294" y="235744"/>
                    </a:cubicBezTo>
                    <a:close/>
                    <a:moveTo>
                      <a:pt x="246459" y="182166"/>
                    </a:moveTo>
                    <a:cubicBezTo>
                      <a:pt x="240541" y="182166"/>
                      <a:pt x="235744" y="186963"/>
                      <a:pt x="235744" y="192881"/>
                    </a:cubicBezTo>
                    <a:lnTo>
                      <a:pt x="235744" y="235744"/>
                    </a:lnTo>
                    <a:lnTo>
                      <a:pt x="192881" y="235744"/>
                    </a:lnTo>
                    <a:cubicBezTo>
                      <a:pt x="186963" y="235744"/>
                      <a:pt x="182166" y="240541"/>
                      <a:pt x="182166" y="246459"/>
                    </a:cubicBezTo>
                    <a:cubicBezTo>
                      <a:pt x="182166" y="252377"/>
                      <a:pt x="186963" y="257175"/>
                      <a:pt x="192881" y="257175"/>
                    </a:cubicBezTo>
                    <a:lnTo>
                      <a:pt x="246459" y="257175"/>
                    </a:lnTo>
                    <a:cubicBezTo>
                      <a:pt x="252377" y="257175"/>
                      <a:pt x="257175" y="252377"/>
                      <a:pt x="257175" y="246459"/>
                    </a:cubicBezTo>
                    <a:lnTo>
                      <a:pt x="257175" y="192881"/>
                    </a:lnTo>
                    <a:cubicBezTo>
                      <a:pt x="257175" y="186963"/>
                      <a:pt x="252377" y="182166"/>
                      <a:pt x="246459" y="182166"/>
                    </a:cubicBezTo>
                    <a:close/>
                    <a:moveTo>
                      <a:pt x="10716" y="75009"/>
                    </a:moveTo>
                    <a:cubicBezTo>
                      <a:pt x="16634" y="75009"/>
                      <a:pt x="21431" y="70212"/>
                      <a:pt x="21431" y="64294"/>
                    </a:cubicBezTo>
                    <a:lnTo>
                      <a:pt x="21431" y="21431"/>
                    </a:lnTo>
                    <a:lnTo>
                      <a:pt x="64294" y="21431"/>
                    </a:lnTo>
                    <a:cubicBezTo>
                      <a:pt x="70212" y="21431"/>
                      <a:pt x="75009" y="16634"/>
                      <a:pt x="75009" y="10716"/>
                    </a:cubicBezTo>
                    <a:cubicBezTo>
                      <a:pt x="75009" y="4798"/>
                      <a:pt x="70212" y="0"/>
                      <a:pt x="64294" y="0"/>
                    </a:cubicBezTo>
                    <a:lnTo>
                      <a:pt x="10716" y="0"/>
                    </a:lnTo>
                    <a:cubicBezTo>
                      <a:pt x="4798" y="0"/>
                      <a:pt x="0" y="4798"/>
                      <a:pt x="0" y="10716"/>
                    </a:cubicBezTo>
                    <a:lnTo>
                      <a:pt x="0" y="64294"/>
                    </a:lnTo>
                    <a:cubicBezTo>
                      <a:pt x="0" y="70212"/>
                      <a:pt x="4798" y="75009"/>
                      <a:pt x="10716" y="75009"/>
                    </a:cubicBezTo>
                    <a:close/>
                    <a:moveTo>
                      <a:pt x="182166" y="203597"/>
                    </a:moveTo>
                    <a:lnTo>
                      <a:pt x="75009" y="203597"/>
                    </a:lnTo>
                    <a:cubicBezTo>
                      <a:pt x="63173" y="203597"/>
                      <a:pt x="53578" y="194002"/>
                      <a:pt x="53578" y="182166"/>
                    </a:cubicBezTo>
                    <a:lnTo>
                      <a:pt x="53578" y="75009"/>
                    </a:lnTo>
                    <a:cubicBezTo>
                      <a:pt x="53578" y="63173"/>
                      <a:pt x="63173" y="53578"/>
                      <a:pt x="75009" y="53578"/>
                    </a:cubicBezTo>
                    <a:lnTo>
                      <a:pt x="182166" y="53578"/>
                    </a:lnTo>
                    <a:cubicBezTo>
                      <a:pt x="194002" y="53578"/>
                      <a:pt x="203597" y="63173"/>
                      <a:pt x="203597" y="75009"/>
                    </a:cubicBezTo>
                    <a:lnTo>
                      <a:pt x="203597" y="182166"/>
                    </a:lnTo>
                    <a:cubicBezTo>
                      <a:pt x="203597" y="194002"/>
                      <a:pt x="194002" y="203597"/>
                      <a:pt x="182166" y="203597"/>
                    </a:cubicBezTo>
                    <a:close/>
                    <a:moveTo>
                      <a:pt x="75009" y="182166"/>
                    </a:moveTo>
                    <a:lnTo>
                      <a:pt x="182166" y="182166"/>
                    </a:lnTo>
                    <a:lnTo>
                      <a:pt x="182166" y="75009"/>
                    </a:lnTo>
                    <a:lnTo>
                      <a:pt x="75009" y="75009"/>
                    </a:lnTo>
                    <a:close/>
                  </a:path>
                </a:pathLst>
              </a:custGeom>
              <a:solidFill>
                <a:srgbClr val="A855F7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13435" y="2037398"/>
              <a:ext cx="269601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 Reconstruction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" y="2362200"/>
              <a:ext cx="29146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8198" y="2477929"/>
              <a:ext cx="4134517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Goal: Faithfully recover geometry,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appearance, and camera parameters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from observations.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1055" y="3283268"/>
              <a:ext cx="11108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KEY METRIC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8198" y="3468529"/>
              <a:ext cx="3789474" cy="580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Geometric consistency,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photometric fidelity, PSNR / SSIM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055" y="408336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KEY METHODS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198" y="4268629"/>
              <a:ext cx="248981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A855F7"/>
                  </a:solidFill>
                  <a:latin typeface="Lato"/>
                  <a:ea typeface="Lato"/>
                  <a:cs typeface="Lato"/>
                </a:rPr>
                <a:t>SfM, MVS, NeRF, 3DGS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9150" y="5153025"/>
              <a:ext cx="33789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i="1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"Faithfulness to observations"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71975" y="1352550"/>
            <a:ext cx="4093678" cy="4667250"/>
            <a:chOff x="4371975" y="1352550"/>
            <a:chExt cx="4093678" cy="4667250"/>
          </a:xfrm>
        </p:grpSpPr>
        <p:sp>
          <p:nvSpPr>
            <p:cNvPr id="20" name="Freeform 20"/>
            <p:cNvSpPr/>
            <p:nvPr/>
          </p:nvSpPr>
          <p:spPr>
            <a:xfrm>
              <a:off x="4371975" y="1352550"/>
              <a:ext cx="3448050" cy="4667250"/>
            </a:xfrm>
            <a:custGeom>
              <a:avLst/>
              <a:gdLst/>
              <a:ahLst/>
              <a:cxnLst/>
              <a:rect l="l" t="t" r="r" b="b"/>
              <a:pathLst>
                <a:path w="3448050" h="4667250">
                  <a:moveTo>
                    <a:pt x="76200" y="0"/>
                  </a:moveTo>
                  <a:lnTo>
                    <a:pt x="3371850" y="0"/>
                  </a:lnTo>
                  <a:cubicBezTo>
                    <a:pt x="3413934" y="0"/>
                    <a:pt x="3448050" y="34116"/>
                    <a:pt x="3448050" y="76200"/>
                  </a:cubicBezTo>
                  <a:lnTo>
                    <a:pt x="3448050" y="4591050"/>
                  </a:lnTo>
                  <a:cubicBezTo>
                    <a:pt x="3448050" y="4633134"/>
                    <a:pt x="3413934" y="4667250"/>
                    <a:pt x="3371850" y="4667250"/>
                  </a:cubicBezTo>
                  <a:lnTo>
                    <a:pt x="76200" y="4667250"/>
                  </a:lnTo>
                  <a:cubicBezTo>
                    <a:pt x="34116" y="4667250"/>
                    <a:pt x="0" y="4633134"/>
                    <a:pt x="0" y="4591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71975" y="1352550"/>
              <a:ext cx="3448050" cy="38100"/>
            </a:xfrm>
            <a:custGeom>
              <a:avLst/>
              <a:gdLst/>
              <a:ahLst/>
              <a:cxnLst/>
              <a:rect l="l" t="t" r="r" b="b"/>
              <a:pathLst>
                <a:path w="3448050" h="38100">
                  <a:moveTo>
                    <a:pt x="19050" y="0"/>
                  </a:moveTo>
                  <a:lnTo>
                    <a:pt x="3429000" y="0"/>
                  </a:lnTo>
                  <a:cubicBezTo>
                    <a:pt x="3439521" y="0"/>
                    <a:pt x="3448050" y="8529"/>
                    <a:pt x="3448050" y="19050"/>
                  </a:cubicBezTo>
                  <a:lnTo>
                    <a:pt x="3448050" y="19050"/>
                  </a:lnTo>
                  <a:cubicBezTo>
                    <a:pt x="3448050" y="29571"/>
                    <a:pt x="3439521" y="38100"/>
                    <a:pt x="34290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649083" y="1664494"/>
              <a:ext cx="322085" cy="214312"/>
              <a:chOff x="4649083" y="1664494"/>
              <a:chExt cx="322085" cy="21431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660106" y="1675209"/>
                <a:ext cx="300038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92881">
                    <a:moveTo>
                      <a:pt x="150019" y="0"/>
                    </a:moveTo>
                    <a:cubicBezTo>
                      <a:pt x="42862" y="0"/>
                      <a:pt x="0" y="96441"/>
                      <a:pt x="0" y="96441"/>
                    </a:cubicBezTo>
                    <a:cubicBezTo>
                      <a:pt x="0" y="96441"/>
                      <a:pt x="42862" y="192881"/>
                      <a:pt x="150019" y="192881"/>
                    </a:cubicBezTo>
                    <a:cubicBezTo>
                      <a:pt x="257175" y="192881"/>
                      <a:pt x="300038" y="96441"/>
                      <a:pt x="300038" y="96441"/>
                    </a:cubicBezTo>
                    <a:cubicBezTo>
                      <a:pt x="300038" y="96441"/>
                      <a:pt x="257175" y="0"/>
                      <a:pt x="150019" y="0"/>
                    </a:cubicBezTo>
                    <a:close/>
                    <a:moveTo>
                      <a:pt x="150019" y="150019"/>
                    </a:moveTo>
                    <a:cubicBezTo>
                      <a:pt x="120428" y="150019"/>
                      <a:pt x="96441" y="126031"/>
                      <a:pt x="96441" y="96441"/>
                    </a:cubicBezTo>
                    <a:cubicBezTo>
                      <a:pt x="96441" y="66850"/>
                      <a:pt x="120428" y="42862"/>
                      <a:pt x="150019" y="42862"/>
                    </a:cubicBezTo>
                    <a:cubicBezTo>
                      <a:pt x="179609" y="42862"/>
                      <a:pt x="203597" y="66850"/>
                      <a:pt x="203597" y="96441"/>
                    </a:cubicBezTo>
                    <a:cubicBezTo>
                      <a:pt x="203597" y="126031"/>
                      <a:pt x="179609" y="150019"/>
                      <a:pt x="150019" y="150019"/>
                    </a:cubicBezTo>
                    <a:close/>
                  </a:path>
                </a:pathLst>
              </a:custGeom>
              <a:solidFill>
                <a:srgbClr val="C084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649083" y="1664494"/>
                <a:ext cx="32208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22085" h="214312">
                    <a:moveTo>
                      <a:pt x="320852" y="102816"/>
                    </a:moveTo>
                    <a:cubicBezTo>
                      <a:pt x="320384" y="101758"/>
                      <a:pt x="309038" y="76590"/>
                      <a:pt x="283817" y="51368"/>
                    </a:cubicBezTo>
                    <a:cubicBezTo>
                      <a:pt x="250210" y="17761"/>
                      <a:pt x="207762" y="0"/>
                      <a:pt x="161042" y="0"/>
                    </a:cubicBezTo>
                    <a:cubicBezTo>
                      <a:pt x="114322" y="0"/>
                      <a:pt x="71875" y="17761"/>
                      <a:pt x="38268" y="51368"/>
                    </a:cubicBezTo>
                    <a:cubicBezTo>
                      <a:pt x="13046" y="76590"/>
                      <a:pt x="1647" y="101798"/>
                      <a:pt x="1232" y="102816"/>
                    </a:cubicBezTo>
                    <a:cubicBezTo>
                      <a:pt x="0" y="105588"/>
                      <a:pt x="0" y="108751"/>
                      <a:pt x="1232" y="111523"/>
                    </a:cubicBezTo>
                    <a:cubicBezTo>
                      <a:pt x="1701" y="112581"/>
                      <a:pt x="13046" y="137736"/>
                      <a:pt x="38268" y="162958"/>
                    </a:cubicBezTo>
                    <a:cubicBezTo>
                      <a:pt x="71875" y="196551"/>
                      <a:pt x="114322" y="214312"/>
                      <a:pt x="161042" y="214312"/>
                    </a:cubicBezTo>
                    <a:cubicBezTo>
                      <a:pt x="207762" y="214312"/>
                      <a:pt x="250210" y="196551"/>
                      <a:pt x="283817" y="162958"/>
                    </a:cubicBezTo>
                    <a:cubicBezTo>
                      <a:pt x="309038" y="137736"/>
                      <a:pt x="320384" y="112581"/>
                      <a:pt x="320852" y="111523"/>
                    </a:cubicBezTo>
                    <a:cubicBezTo>
                      <a:pt x="322085" y="108751"/>
                      <a:pt x="322085" y="105588"/>
                      <a:pt x="320852" y="102816"/>
                    </a:cubicBezTo>
                    <a:close/>
                    <a:moveTo>
                      <a:pt x="161042" y="192881"/>
                    </a:moveTo>
                    <a:cubicBezTo>
                      <a:pt x="119814" y="192881"/>
                      <a:pt x="83796" y="177893"/>
                      <a:pt x="53980" y="148344"/>
                    </a:cubicBezTo>
                    <a:cubicBezTo>
                      <a:pt x="41746" y="136178"/>
                      <a:pt x="31338" y="122305"/>
                      <a:pt x="23079" y="107156"/>
                    </a:cubicBezTo>
                    <a:cubicBezTo>
                      <a:pt x="31335" y="92006"/>
                      <a:pt x="41744" y="78133"/>
                      <a:pt x="53980" y="65968"/>
                    </a:cubicBezTo>
                    <a:cubicBezTo>
                      <a:pt x="83796" y="36420"/>
                      <a:pt x="119814" y="21431"/>
                      <a:pt x="161042" y="21431"/>
                    </a:cubicBezTo>
                    <a:cubicBezTo>
                      <a:pt x="202271" y="21431"/>
                      <a:pt x="238289" y="36420"/>
                      <a:pt x="268105" y="65968"/>
                    </a:cubicBezTo>
                    <a:cubicBezTo>
                      <a:pt x="280363" y="78130"/>
                      <a:pt x="290794" y="92003"/>
                      <a:pt x="299073" y="107156"/>
                    </a:cubicBezTo>
                    <a:cubicBezTo>
                      <a:pt x="289415" y="125185"/>
                      <a:pt x="247343" y="192881"/>
                      <a:pt x="161042" y="192881"/>
                    </a:cubicBezTo>
                    <a:close/>
                    <a:moveTo>
                      <a:pt x="161042" y="42862"/>
                    </a:moveTo>
                    <a:cubicBezTo>
                      <a:pt x="125534" y="42862"/>
                      <a:pt x="96749" y="71648"/>
                      <a:pt x="96749" y="107156"/>
                    </a:cubicBezTo>
                    <a:cubicBezTo>
                      <a:pt x="96749" y="142665"/>
                      <a:pt x="125534" y="171450"/>
                      <a:pt x="161042" y="171450"/>
                    </a:cubicBezTo>
                    <a:cubicBezTo>
                      <a:pt x="196551" y="171450"/>
                      <a:pt x="225336" y="142665"/>
                      <a:pt x="225336" y="107156"/>
                    </a:cubicBezTo>
                    <a:cubicBezTo>
                      <a:pt x="225299" y="71663"/>
                      <a:pt x="196535" y="42899"/>
                      <a:pt x="161042" y="42862"/>
                    </a:cubicBezTo>
                    <a:close/>
                    <a:moveTo>
                      <a:pt x="161042" y="150019"/>
                    </a:moveTo>
                    <a:cubicBezTo>
                      <a:pt x="137370" y="150019"/>
                      <a:pt x="118180" y="130829"/>
                      <a:pt x="118180" y="107156"/>
                    </a:cubicBezTo>
                    <a:cubicBezTo>
                      <a:pt x="118180" y="83484"/>
                      <a:pt x="137370" y="64294"/>
                      <a:pt x="161042" y="64294"/>
                    </a:cubicBezTo>
                    <a:cubicBezTo>
                      <a:pt x="184715" y="64294"/>
                      <a:pt x="203905" y="83484"/>
                      <a:pt x="203905" y="107156"/>
                    </a:cubicBezTo>
                    <a:cubicBezTo>
                      <a:pt x="203905" y="130829"/>
                      <a:pt x="184715" y="150019"/>
                      <a:pt x="161042" y="150019"/>
                    </a:cubicBezTo>
                    <a:close/>
                  </a:path>
                </a:pathLst>
              </a:custGeom>
              <a:solidFill>
                <a:srgbClr val="C084FC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613910" y="2037398"/>
              <a:ext cx="295019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 Scene Generation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38675" y="2362200"/>
              <a:ext cx="29146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8672" y="2477929"/>
              <a:ext cx="3846981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Goal: Synthesize plausible 3D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scenes from text / image / layout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with diversity &amp; controllability.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21530" y="3283268"/>
              <a:ext cx="11108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KEY METRIC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18672" y="3468529"/>
              <a:ext cx="2616327" cy="580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Plausibility, diversity,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FID, user study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21530" y="408336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KEY METHODS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18672" y="4268629"/>
              <a:ext cx="349043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C084FC"/>
                  </a:solidFill>
                  <a:latin typeface="Lato"/>
                  <a:ea typeface="Lato"/>
                  <a:cs typeface="Lato"/>
                </a:rPr>
                <a:t>Generative NeRF, Diffusion NVS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19625" y="5153025"/>
              <a:ext cx="29189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i="1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"Plausibility and variation"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72450" y="1352550"/>
            <a:ext cx="4588241" cy="4667250"/>
            <a:chOff x="8172450" y="1352550"/>
            <a:chExt cx="4588241" cy="4667250"/>
          </a:xfrm>
        </p:grpSpPr>
        <p:sp>
          <p:nvSpPr>
            <p:cNvPr id="34" name="Freeform 34"/>
            <p:cNvSpPr/>
            <p:nvPr/>
          </p:nvSpPr>
          <p:spPr>
            <a:xfrm>
              <a:off x="8172450" y="1352550"/>
              <a:ext cx="3448050" cy="4667250"/>
            </a:xfrm>
            <a:custGeom>
              <a:avLst/>
              <a:gdLst/>
              <a:ahLst/>
              <a:cxnLst/>
              <a:rect l="l" t="t" r="r" b="b"/>
              <a:pathLst>
                <a:path w="3448050" h="4667250">
                  <a:moveTo>
                    <a:pt x="76200" y="0"/>
                  </a:moveTo>
                  <a:lnTo>
                    <a:pt x="3371850" y="0"/>
                  </a:lnTo>
                  <a:cubicBezTo>
                    <a:pt x="3413934" y="0"/>
                    <a:pt x="3448050" y="34116"/>
                    <a:pt x="3448050" y="76200"/>
                  </a:cubicBezTo>
                  <a:lnTo>
                    <a:pt x="3448050" y="4591050"/>
                  </a:lnTo>
                  <a:cubicBezTo>
                    <a:pt x="3448050" y="4633134"/>
                    <a:pt x="3413934" y="4667250"/>
                    <a:pt x="3371850" y="4667250"/>
                  </a:cubicBezTo>
                  <a:lnTo>
                    <a:pt x="76200" y="4667250"/>
                  </a:lnTo>
                  <a:cubicBezTo>
                    <a:pt x="34116" y="4667250"/>
                    <a:pt x="0" y="4633134"/>
                    <a:pt x="0" y="4591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172450" y="1352550"/>
              <a:ext cx="3448050" cy="38100"/>
            </a:xfrm>
            <a:custGeom>
              <a:avLst/>
              <a:gdLst/>
              <a:ahLst/>
              <a:cxnLst/>
              <a:rect l="l" t="t" r="r" b="b"/>
              <a:pathLst>
                <a:path w="3448050" h="38100">
                  <a:moveTo>
                    <a:pt x="19050" y="0"/>
                  </a:moveTo>
                  <a:lnTo>
                    <a:pt x="3429000" y="0"/>
                  </a:lnTo>
                  <a:cubicBezTo>
                    <a:pt x="3439521" y="0"/>
                    <a:pt x="3448050" y="8529"/>
                    <a:pt x="3448050" y="19050"/>
                  </a:cubicBezTo>
                  <a:lnTo>
                    <a:pt x="3448050" y="19050"/>
                  </a:lnTo>
                  <a:cubicBezTo>
                    <a:pt x="3448050" y="29571"/>
                    <a:pt x="3439521" y="38100"/>
                    <a:pt x="34290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449856" y="1626962"/>
              <a:ext cx="321479" cy="278661"/>
              <a:chOff x="8449856" y="1626962"/>
              <a:chExt cx="321479" cy="27866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460524" y="1643062"/>
                <a:ext cx="300104" cy="246459"/>
              </a:xfrm>
              <a:custGeom>
                <a:avLst/>
                <a:gdLst/>
                <a:ahLst/>
                <a:cxnLst/>
                <a:rect l="l" t="t" r="r" b="b"/>
                <a:pathLst>
                  <a:path w="300104" h="246459">
                    <a:moveTo>
                      <a:pt x="300095" y="123230"/>
                    </a:moveTo>
                    <a:cubicBezTo>
                      <a:pt x="300104" y="150484"/>
                      <a:pt x="282928" y="174782"/>
                      <a:pt x="257233" y="183867"/>
                    </a:cubicBezTo>
                    <a:lnTo>
                      <a:pt x="257233" y="183867"/>
                    </a:lnTo>
                    <a:lnTo>
                      <a:pt x="257233" y="192881"/>
                    </a:lnTo>
                    <a:cubicBezTo>
                      <a:pt x="257233" y="222472"/>
                      <a:pt x="233245" y="246459"/>
                      <a:pt x="203654" y="246459"/>
                    </a:cubicBezTo>
                    <a:cubicBezTo>
                      <a:pt x="174064" y="246459"/>
                      <a:pt x="150076" y="222472"/>
                      <a:pt x="150076" y="192881"/>
                    </a:cubicBezTo>
                    <a:cubicBezTo>
                      <a:pt x="150076" y="222472"/>
                      <a:pt x="126089" y="246459"/>
                      <a:pt x="96498" y="246459"/>
                    </a:cubicBezTo>
                    <a:cubicBezTo>
                      <a:pt x="66908" y="246459"/>
                      <a:pt x="42920" y="222472"/>
                      <a:pt x="42920" y="192881"/>
                    </a:cubicBezTo>
                    <a:lnTo>
                      <a:pt x="42920" y="183867"/>
                    </a:lnTo>
                    <a:lnTo>
                      <a:pt x="42920" y="183867"/>
                    </a:lnTo>
                    <a:cubicBezTo>
                      <a:pt x="17202" y="174801"/>
                      <a:pt x="0" y="150499"/>
                      <a:pt x="0" y="123230"/>
                    </a:cubicBezTo>
                    <a:cubicBezTo>
                      <a:pt x="0" y="95961"/>
                      <a:pt x="17202" y="71658"/>
                      <a:pt x="42920" y="62593"/>
                    </a:cubicBezTo>
                    <a:lnTo>
                      <a:pt x="42920" y="53578"/>
                    </a:lnTo>
                    <a:cubicBezTo>
                      <a:pt x="42920" y="23988"/>
                      <a:pt x="66908" y="0"/>
                      <a:pt x="96498" y="0"/>
                    </a:cubicBezTo>
                    <a:cubicBezTo>
                      <a:pt x="126089" y="0"/>
                      <a:pt x="150076" y="23988"/>
                      <a:pt x="150076" y="53578"/>
                    </a:cubicBezTo>
                    <a:cubicBezTo>
                      <a:pt x="150076" y="23988"/>
                      <a:pt x="174064" y="0"/>
                      <a:pt x="203654" y="0"/>
                    </a:cubicBezTo>
                    <a:cubicBezTo>
                      <a:pt x="233245" y="0"/>
                      <a:pt x="257233" y="23988"/>
                      <a:pt x="257233" y="53578"/>
                    </a:cubicBezTo>
                    <a:lnTo>
                      <a:pt x="257233" y="62593"/>
                    </a:lnTo>
                    <a:cubicBezTo>
                      <a:pt x="282928" y="71677"/>
                      <a:pt x="300104" y="95976"/>
                      <a:pt x="300095" y="123230"/>
                    </a:cubicBezTo>
                    <a:close/>
                  </a:path>
                </a:pathLst>
              </a:custGeom>
              <a:solidFill>
                <a:srgbClr val="7C3AE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449856" y="1626962"/>
                <a:ext cx="321479" cy="278661"/>
              </a:xfrm>
              <a:custGeom>
                <a:avLst/>
                <a:gdLst/>
                <a:ahLst/>
                <a:cxnLst/>
                <a:rect l="l" t="t" r="r" b="b"/>
                <a:pathLst>
                  <a:path w="321479" h="278661">
                    <a:moveTo>
                      <a:pt x="321479" y="139330"/>
                    </a:moveTo>
                    <a:cubicBezTo>
                      <a:pt x="321450" y="110362"/>
                      <a:pt x="304774" y="83988"/>
                      <a:pt x="278616" y="71541"/>
                    </a:cubicBezTo>
                    <a:lnTo>
                      <a:pt x="278616" y="69679"/>
                    </a:lnTo>
                    <a:cubicBezTo>
                      <a:pt x="278591" y="41330"/>
                      <a:pt x="260001" y="16343"/>
                      <a:pt x="232855" y="8172"/>
                    </a:cubicBezTo>
                    <a:cubicBezTo>
                      <a:pt x="205709" y="0"/>
                      <a:pt x="176415" y="10573"/>
                      <a:pt x="160744" y="34197"/>
                    </a:cubicBezTo>
                    <a:cubicBezTo>
                      <a:pt x="145074" y="10573"/>
                      <a:pt x="115780" y="0"/>
                      <a:pt x="88634" y="8172"/>
                    </a:cubicBezTo>
                    <a:cubicBezTo>
                      <a:pt x="61488" y="16343"/>
                      <a:pt x="42898" y="41330"/>
                      <a:pt x="42873" y="69679"/>
                    </a:cubicBezTo>
                    <a:lnTo>
                      <a:pt x="42873" y="71541"/>
                    </a:lnTo>
                    <a:cubicBezTo>
                      <a:pt x="16690" y="83955"/>
                      <a:pt x="0" y="110340"/>
                      <a:pt x="0" y="139317"/>
                    </a:cubicBezTo>
                    <a:cubicBezTo>
                      <a:pt x="0" y="168294"/>
                      <a:pt x="16690" y="194679"/>
                      <a:pt x="42873" y="207093"/>
                    </a:cubicBezTo>
                    <a:lnTo>
                      <a:pt x="42873" y="208982"/>
                    </a:lnTo>
                    <a:cubicBezTo>
                      <a:pt x="42898" y="237331"/>
                      <a:pt x="61488" y="262318"/>
                      <a:pt x="88634" y="270489"/>
                    </a:cubicBezTo>
                    <a:cubicBezTo>
                      <a:pt x="115780" y="278661"/>
                      <a:pt x="145074" y="268088"/>
                      <a:pt x="160744" y="244464"/>
                    </a:cubicBezTo>
                    <a:cubicBezTo>
                      <a:pt x="176415" y="268088"/>
                      <a:pt x="205709" y="278661"/>
                      <a:pt x="232855" y="270489"/>
                    </a:cubicBezTo>
                    <a:cubicBezTo>
                      <a:pt x="260001" y="262318"/>
                      <a:pt x="278591" y="237331"/>
                      <a:pt x="278616" y="208982"/>
                    </a:cubicBezTo>
                    <a:lnTo>
                      <a:pt x="278616" y="207093"/>
                    </a:lnTo>
                    <a:cubicBezTo>
                      <a:pt x="304770" y="194655"/>
                      <a:pt x="321446" y="168291"/>
                      <a:pt x="321479" y="139330"/>
                    </a:cubicBezTo>
                    <a:close/>
                    <a:moveTo>
                      <a:pt x="107166" y="251844"/>
                    </a:moveTo>
                    <a:cubicBezTo>
                      <a:pt x="85280" y="251841"/>
                      <a:pt x="66911" y="235349"/>
                      <a:pt x="64558" y="213590"/>
                    </a:cubicBezTo>
                    <a:cubicBezTo>
                      <a:pt x="68024" y="214084"/>
                      <a:pt x="71519" y="214335"/>
                      <a:pt x="75019" y="214340"/>
                    </a:cubicBezTo>
                    <a:lnTo>
                      <a:pt x="85735" y="214340"/>
                    </a:lnTo>
                    <a:cubicBezTo>
                      <a:pt x="91653" y="214340"/>
                      <a:pt x="96451" y="209542"/>
                      <a:pt x="96451" y="203624"/>
                    </a:cubicBezTo>
                    <a:cubicBezTo>
                      <a:pt x="96451" y="197706"/>
                      <a:pt x="91653" y="192909"/>
                      <a:pt x="85735" y="192909"/>
                    </a:cubicBezTo>
                    <a:lnTo>
                      <a:pt x="75019" y="192909"/>
                    </a:lnTo>
                    <a:cubicBezTo>
                      <a:pt x="48900" y="192939"/>
                      <a:pt x="26564" y="174130"/>
                      <a:pt x="22150" y="148386"/>
                    </a:cubicBezTo>
                    <a:cubicBezTo>
                      <a:pt x="17735" y="122642"/>
                      <a:pt x="32527" y="97467"/>
                      <a:pt x="57165" y="88793"/>
                    </a:cubicBezTo>
                    <a:cubicBezTo>
                      <a:pt x="61443" y="87278"/>
                      <a:pt x="64303" y="83232"/>
                      <a:pt x="64304" y="78693"/>
                    </a:cubicBezTo>
                    <a:lnTo>
                      <a:pt x="64304" y="69679"/>
                    </a:lnTo>
                    <a:cubicBezTo>
                      <a:pt x="64304" y="46007"/>
                      <a:pt x="83494" y="26816"/>
                      <a:pt x="107166" y="26816"/>
                    </a:cubicBezTo>
                    <a:cubicBezTo>
                      <a:pt x="130839" y="26816"/>
                      <a:pt x="150029" y="46007"/>
                      <a:pt x="150029" y="69679"/>
                    </a:cubicBezTo>
                    <a:lnTo>
                      <a:pt x="150029" y="161110"/>
                    </a:lnTo>
                    <a:cubicBezTo>
                      <a:pt x="138262" y="150527"/>
                      <a:pt x="122992" y="144677"/>
                      <a:pt x="107166" y="144688"/>
                    </a:cubicBezTo>
                    <a:cubicBezTo>
                      <a:pt x="101248" y="144688"/>
                      <a:pt x="96451" y="149486"/>
                      <a:pt x="96451" y="155404"/>
                    </a:cubicBezTo>
                    <a:cubicBezTo>
                      <a:pt x="96451" y="161322"/>
                      <a:pt x="101248" y="166119"/>
                      <a:pt x="107166" y="166119"/>
                    </a:cubicBezTo>
                    <a:cubicBezTo>
                      <a:pt x="130839" y="166119"/>
                      <a:pt x="150029" y="185310"/>
                      <a:pt x="150029" y="208982"/>
                    </a:cubicBezTo>
                    <a:cubicBezTo>
                      <a:pt x="150029" y="232654"/>
                      <a:pt x="130839" y="251844"/>
                      <a:pt x="107166" y="251844"/>
                    </a:cubicBezTo>
                    <a:close/>
                    <a:moveTo>
                      <a:pt x="246469" y="192909"/>
                    </a:moveTo>
                    <a:lnTo>
                      <a:pt x="235754" y="192909"/>
                    </a:lnTo>
                    <a:cubicBezTo>
                      <a:pt x="229836" y="192909"/>
                      <a:pt x="225038" y="197706"/>
                      <a:pt x="225038" y="203624"/>
                    </a:cubicBezTo>
                    <a:cubicBezTo>
                      <a:pt x="225038" y="209542"/>
                      <a:pt x="229836" y="214340"/>
                      <a:pt x="235754" y="214340"/>
                    </a:cubicBezTo>
                    <a:lnTo>
                      <a:pt x="246469" y="214340"/>
                    </a:lnTo>
                    <a:cubicBezTo>
                      <a:pt x="249970" y="214335"/>
                      <a:pt x="253465" y="214084"/>
                      <a:pt x="256931" y="213590"/>
                    </a:cubicBezTo>
                    <a:cubicBezTo>
                      <a:pt x="254450" y="236530"/>
                      <a:pt x="234254" y="253390"/>
                      <a:pt x="211239" y="251734"/>
                    </a:cubicBezTo>
                    <a:cubicBezTo>
                      <a:pt x="188224" y="250077"/>
                      <a:pt x="170651" y="230499"/>
                      <a:pt x="171482" y="207439"/>
                    </a:cubicBezTo>
                    <a:cubicBezTo>
                      <a:pt x="172312" y="184380"/>
                      <a:pt x="191248" y="166116"/>
                      <a:pt x="214323" y="166119"/>
                    </a:cubicBezTo>
                    <a:cubicBezTo>
                      <a:pt x="220241" y="166119"/>
                      <a:pt x="225038" y="161322"/>
                      <a:pt x="225038" y="155404"/>
                    </a:cubicBezTo>
                    <a:cubicBezTo>
                      <a:pt x="225038" y="149486"/>
                      <a:pt x="220241" y="144688"/>
                      <a:pt x="214323" y="144688"/>
                    </a:cubicBezTo>
                    <a:cubicBezTo>
                      <a:pt x="198497" y="144677"/>
                      <a:pt x="183227" y="150527"/>
                      <a:pt x="171460" y="161110"/>
                    </a:cubicBezTo>
                    <a:lnTo>
                      <a:pt x="171460" y="69679"/>
                    </a:lnTo>
                    <a:cubicBezTo>
                      <a:pt x="171460" y="46007"/>
                      <a:pt x="190650" y="26816"/>
                      <a:pt x="214323" y="26816"/>
                    </a:cubicBezTo>
                    <a:cubicBezTo>
                      <a:pt x="237995" y="26816"/>
                      <a:pt x="257185" y="46007"/>
                      <a:pt x="257185" y="69679"/>
                    </a:cubicBezTo>
                    <a:lnTo>
                      <a:pt x="257185" y="78693"/>
                    </a:lnTo>
                    <a:cubicBezTo>
                      <a:pt x="257186" y="83232"/>
                      <a:pt x="260046" y="87278"/>
                      <a:pt x="264324" y="88793"/>
                    </a:cubicBezTo>
                    <a:cubicBezTo>
                      <a:pt x="288962" y="97467"/>
                      <a:pt x="303754" y="122642"/>
                      <a:pt x="299339" y="148386"/>
                    </a:cubicBezTo>
                    <a:cubicBezTo>
                      <a:pt x="294924" y="174130"/>
                      <a:pt x="272589" y="192939"/>
                      <a:pt x="246469" y="192909"/>
                    </a:cubicBezTo>
                    <a:close/>
                    <a:moveTo>
                      <a:pt x="267901" y="123257"/>
                    </a:moveTo>
                    <a:cubicBezTo>
                      <a:pt x="267901" y="129175"/>
                      <a:pt x="263103" y="133973"/>
                      <a:pt x="257185" y="133973"/>
                    </a:cubicBezTo>
                    <a:lnTo>
                      <a:pt x="251827" y="133973"/>
                    </a:lnTo>
                    <a:cubicBezTo>
                      <a:pt x="225196" y="133973"/>
                      <a:pt x="203607" y="112384"/>
                      <a:pt x="203607" y="85752"/>
                    </a:cubicBezTo>
                    <a:lnTo>
                      <a:pt x="203607" y="80394"/>
                    </a:lnTo>
                    <a:cubicBezTo>
                      <a:pt x="203607" y="74476"/>
                      <a:pt x="208404" y="69679"/>
                      <a:pt x="214323" y="69679"/>
                    </a:cubicBezTo>
                    <a:cubicBezTo>
                      <a:pt x="220241" y="69679"/>
                      <a:pt x="225038" y="74476"/>
                      <a:pt x="225038" y="80394"/>
                    </a:cubicBezTo>
                    <a:lnTo>
                      <a:pt x="225038" y="85752"/>
                    </a:lnTo>
                    <a:cubicBezTo>
                      <a:pt x="225038" y="100547"/>
                      <a:pt x="237032" y="112541"/>
                      <a:pt x="251827" y="112541"/>
                    </a:cubicBezTo>
                    <a:lnTo>
                      <a:pt x="257185" y="112541"/>
                    </a:lnTo>
                    <a:cubicBezTo>
                      <a:pt x="263103" y="112541"/>
                      <a:pt x="267901" y="117339"/>
                      <a:pt x="267901" y="123257"/>
                    </a:cubicBezTo>
                    <a:close/>
                    <a:moveTo>
                      <a:pt x="69662" y="133973"/>
                    </a:moveTo>
                    <a:lnTo>
                      <a:pt x="64304" y="133973"/>
                    </a:lnTo>
                    <a:cubicBezTo>
                      <a:pt x="58386" y="133973"/>
                      <a:pt x="53588" y="129175"/>
                      <a:pt x="53588" y="123257"/>
                    </a:cubicBezTo>
                    <a:cubicBezTo>
                      <a:pt x="53588" y="117339"/>
                      <a:pt x="58386" y="112541"/>
                      <a:pt x="64304" y="112541"/>
                    </a:cubicBezTo>
                    <a:lnTo>
                      <a:pt x="69662" y="112541"/>
                    </a:lnTo>
                    <a:cubicBezTo>
                      <a:pt x="84457" y="112541"/>
                      <a:pt x="96451" y="100547"/>
                      <a:pt x="96451" y="85752"/>
                    </a:cubicBezTo>
                    <a:lnTo>
                      <a:pt x="96451" y="80394"/>
                    </a:lnTo>
                    <a:cubicBezTo>
                      <a:pt x="96451" y="74476"/>
                      <a:pt x="101248" y="69679"/>
                      <a:pt x="107166" y="69679"/>
                    </a:cubicBezTo>
                    <a:cubicBezTo>
                      <a:pt x="113084" y="69679"/>
                      <a:pt x="117882" y="74476"/>
                      <a:pt x="117882" y="80394"/>
                    </a:cubicBezTo>
                    <a:lnTo>
                      <a:pt x="117882" y="85752"/>
                    </a:lnTo>
                    <a:cubicBezTo>
                      <a:pt x="117882" y="112384"/>
                      <a:pt x="96293" y="133973"/>
                      <a:pt x="69662" y="133973"/>
                    </a:cubicBezTo>
                    <a:close/>
                  </a:path>
                </a:pathLst>
              </a:custGeom>
              <a:solidFill>
                <a:srgbClr val="7C3AED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414385" y="2037398"/>
              <a:ext cx="17540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World Model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439150" y="2362200"/>
              <a:ext cx="29146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19148" y="2477929"/>
              <a:ext cx="4341543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Goal: Maintain internal world state;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predict unseen views, future frames,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and interaction outcomes.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2005" y="3283268"/>
              <a:ext cx="11108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KEY METRIC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19148" y="3468529"/>
              <a:ext cx="3421428" cy="580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3D consistency, temporal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coherence, simulation fidelity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22005" y="408336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KEY METHODS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19148" y="4268629"/>
              <a:ext cx="253581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7C3AED"/>
                  </a:solidFill>
                  <a:latin typeface="Lato"/>
                  <a:ea typeface="Lato"/>
                  <a:cs typeface="Lato"/>
                </a:rPr>
                <a:t>Cosmos, Marble, RTFM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0100" y="5153025"/>
              <a:ext cx="42224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i="1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"Persistence, interaction, simulation"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6153" y="2167890"/>
            <a:ext cx="1439694" cy="365760"/>
            <a:chOff x="5376153" y="2167890"/>
            <a:chExt cx="1439694" cy="365760"/>
          </a:xfrm>
        </p:grpSpPr>
        <p:sp>
          <p:nvSpPr>
            <p:cNvPr id="2" name="TextBox 2"/>
            <p:cNvSpPr txBox="1"/>
            <p:nvPr/>
          </p:nvSpPr>
          <p:spPr>
            <a:xfrm>
              <a:off x="5376153" y="2167890"/>
              <a:ext cx="143969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01 · part 2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0" y="2514600"/>
              <a:ext cx="1143000" cy="9525"/>
            </a:xfrm>
            <a:prstGeom prst="rect">
              <a:avLst/>
            </a:prstGeom>
            <a:solidFill>
              <a:srgbClr val="A855F7">
                <a:alpha val="55000"/>
              </a:srgbClr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575408" y="2958465"/>
            <a:ext cx="7041185" cy="975360"/>
            <a:chOff x="2575408" y="2958465"/>
            <a:chExt cx="7041185" cy="975360"/>
          </a:xfrm>
        </p:grpSpPr>
        <p:sp>
          <p:nvSpPr>
            <p:cNvPr id="5" name="TextBox 5"/>
            <p:cNvSpPr txBox="1"/>
            <p:nvPr/>
          </p:nvSpPr>
          <p:spPr>
            <a:xfrm>
              <a:off x="2575408" y="2958465"/>
              <a:ext cx="7041185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 Representations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62017" y="3773805"/>
            <a:ext cx="5067967" cy="426720"/>
            <a:chOff x="3562017" y="3773805"/>
            <a:chExt cx="5067967" cy="426720"/>
          </a:xfrm>
        </p:grpSpPr>
        <p:sp>
          <p:nvSpPr>
            <p:cNvPr id="7" name="TextBox 7"/>
            <p:cNvSpPr txBox="1"/>
            <p:nvPr/>
          </p:nvSpPr>
          <p:spPr>
            <a:xfrm>
              <a:off x="3562017" y="3773805"/>
              <a:ext cx="506796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Explicit, Implicit, and In-Between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6882140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 Representation Taxonomy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06110" y="1409700"/>
            <a:ext cx="4575739" cy="3826669"/>
            <a:chOff x="306110" y="1409700"/>
            <a:chExt cx="4575739" cy="3826669"/>
          </a:xfrm>
        </p:grpSpPr>
        <p:sp>
          <p:nvSpPr>
            <p:cNvPr id="6" name="Freeform 6"/>
            <p:cNvSpPr/>
            <p:nvPr/>
          </p:nvSpPr>
          <p:spPr>
            <a:xfrm>
              <a:off x="571500" y="1409700"/>
              <a:ext cx="1714500" cy="381000"/>
            </a:xfrm>
            <a:custGeom>
              <a:avLst/>
              <a:gdLst/>
              <a:ahLst/>
              <a:cxnLst/>
              <a:rect l="l" t="t" r="r" b="b"/>
              <a:pathLst>
                <a:path w="1714500" h="381000">
                  <a:moveTo>
                    <a:pt x="57150" y="0"/>
                  </a:moveTo>
                  <a:lnTo>
                    <a:pt x="1657350" y="0"/>
                  </a:lnTo>
                  <a:cubicBezTo>
                    <a:pt x="1688913" y="0"/>
                    <a:pt x="1714500" y="25587"/>
                    <a:pt x="1714500" y="57150"/>
                  </a:cubicBezTo>
                  <a:lnTo>
                    <a:pt x="1714500" y="323850"/>
                  </a:lnTo>
                  <a:cubicBezTo>
                    <a:pt x="1714500" y="355413"/>
                    <a:pt x="1688913" y="381000"/>
                    <a:pt x="1657350" y="381000"/>
                  </a:cubicBezTo>
                  <a:lnTo>
                    <a:pt x="57150" y="381000"/>
                  </a:lnTo>
                  <a:cubicBezTo>
                    <a:pt x="25587" y="381000"/>
                    <a:pt x="0" y="355413"/>
                    <a:pt x="0" y="32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E1E2E"/>
            </a:solidFill>
            <a:ln w="9525">
              <a:solidFill>
                <a:srgbClr val="A855F7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91823" y="1485900"/>
              <a:ext cx="20738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 Representation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428750" y="17907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4288">
              <a:solidFill>
                <a:srgbClr val="1E1E2E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47750" y="2000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E1E2E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20002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14288">
              <a:solidFill>
                <a:srgbClr val="1E1E2E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7750" y="2000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1E1E2E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95750" y="2000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1E1E2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71500" y="2190750"/>
              <a:ext cx="952500" cy="323850"/>
            </a:xfrm>
            <a:custGeom>
              <a:avLst/>
              <a:gdLst/>
              <a:ahLst/>
              <a:cxnLst/>
              <a:rect l="l" t="t" r="r" b="b"/>
              <a:pathLst>
                <a:path w="952500" h="323850">
                  <a:moveTo>
                    <a:pt x="47625" y="0"/>
                  </a:moveTo>
                  <a:lnTo>
                    <a:pt x="904875" y="0"/>
                  </a:lnTo>
                  <a:cubicBezTo>
                    <a:pt x="931178" y="0"/>
                    <a:pt x="952500" y="21322"/>
                    <a:pt x="952500" y="47625"/>
                  </a:cubicBezTo>
                  <a:lnTo>
                    <a:pt x="952500" y="276225"/>
                  </a:lnTo>
                  <a:cubicBezTo>
                    <a:pt x="952500" y="302528"/>
                    <a:pt x="931178" y="323850"/>
                    <a:pt x="904875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A855F7">
                <a:alpha val="20000"/>
              </a:srgbClr>
            </a:solidFill>
            <a:ln w="9525">
              <a:solidFill>
                <a:srgbClr val="A855F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6905" y="2254568"/>
              <a:ext cx="8416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EXPLICIT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47750" y="25146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rgbClr val="1E1E2E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47700" y="2743200"/>
              <a:ext cx="800100" cy="285750"/>
            </a:xfrm>
            <a:custGeom>
              <a:avLst/>
              <a:gdLst/>
              <a:ahLst/>
              <a:cxnLst/>
              <a:rect l="l" t="t" r="r" b="b"/>
              <a:pathLst>
                <a:path w="800100" h="285750">
                  <a:moveTo>
                    <a:pt x="38100" y="0"/>
                  </a:moveTo>
                  <a:lnTo>
                    <a:pt x="762000" y="0"/>
                  </a:lnTo>
                  <a:cubicBezTo>
                    <a:pt x="783042" y="0"/>
                    <a:pt x="800100" y="17058"/>
                    <a:pt x="800100" y="38100"/>
                  </a:cubicBezTo>
                  <a:lnTo>
                    <a:pt x="800100" y="247650"/>
                  </a:lnTo>
                  <a:cubicBezTo>
                    <a:pt x="800100" y="268692"/>
                    <a:pt x="783042" y="285750"/>
                    <a:pt x="7620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4004" y="2787968"/>
              <a:ext cx="507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Mesh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047750" y="30289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1E1E2E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47700" y="3219450"/>
              <a:ext cx="800100" cy="285750"/>
            </a:xfrm>
            <a:custGeom>
              <a:avLst/>
              <a:gdLst/>
              <a:ahLst/>
              <a:cxnLst/>
              <a:rect l="l" t="t" r="r" b="b"/>
              <a:pathLst>
                <a:path w="800100" h="285750">
                  <a:moveTo>
                    <a:pt x="38100" y="0"/>
                  </a:moveTo>
                  <a:lnTo>
                    <a:pt x="762000" y="0"/>
                  </a:lnTo>
                  <a:cubicBezTo>
                    <a:pt x="783042" y="0"/>
                    <a:pt x="800100" y="17058"/>
                    <a:pt x="800100" y="38100"/>
                  </a:cubicBezTo>
                  <a:lnTo>
                    <a:pt x="800100" y="247650"/>
                  </a:lnTo>
                  <a:cubicBezTo>
                    <a:pt x="800100" y="268692"/>
                    <a:pt x="783042" y="285750"/>
                    <a:pt x="7620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8111" y="3264218"/>
              <a:ext cx="10792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Point Cloud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047750" y="3505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1E1E2E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47700" y="3695700"/>
              <a:ext cx="800100" cy="285750"/>
            </a:xfrm>
            <a:custGeom>
              <a:avLst/>
              <a:gdLst/>
              <a:ahLst/>
              <a:cxnLst/>
              <a:rect l="l" t="t" r="r" b="b"/>
              <a:pathLst>
                <a:path w="800100" h="285750">
                  <a:moveTo>
                    <a:pt x="38100" y="0"/>
                  </a:moveTo>
                  <a:lnTo>
                    <a:pt x="762000" y="0"/>
                  </a:lnTo>
                  <a:cubicBezTo>
                    <a:pt x="783042" y="0"/>
                    <a:pt x="800100" y="17058"/>
                    <a:pt x="800100" y="38100"/>
                  </a:cubicBezTo>
                  <a:lnTo>
                    <a:pt x="800100" y="247650"/>
                  </a:lnTo>
                  <a:cubicBezTo>
                    <a:pt x="800100" y="268692"/>
                    <a:pt x="783042" y="285750"/>
                    <a:pt x="7620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4146" y="3740468"/>
              <a:ext cx="5272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Voxel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047750" y="39814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1E1E2E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71500" y="4171950"/>
              <a:ext cx="952500" cy="323850"/>
            </a:xfrm>
            <a:custGeom>
              <a:avLst/>
              <a:gdLst/>
              <a:ahLst/>
              <a:cxnLst/>
              <a:rect l="l" t="t" r="r" b="b"/>
              <a:pathLst>
                <a:path w="952500" h="323850">
                  <a:moveTo>
                    <a:pt x="38100" y="0"/>
                  </a:moveTo>
                  <a:lnTo>
                    <a:pt x="914400" y="0"/>
                  </a:lnTo>
                  <a:cubicBezTo>
                    <a:pt x="935442" y="0"/>
                    <a:pt x="952500" y="17058"/>
                    <a:pt x="952500" y="38100"/>
                  </a:cubicBezTo>
                  <a:lnTo>
                    <a:pt x="952500" y="285750"/>
                  </a:lnTo>
                  <a:cubicBezTo>
                    <a:pt x="952500" y="306792"/>
                    <a:pt x="935442" y="323850"/>
                    <a:pt x="9144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A855F7">
                <a:alpha val="30000"/>
              </a:srgbClr>
            </a:solidFill>
            <a:ln w="14288">
              <a:solidFill>
                <a:srgbClr val="A855F7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4891" y="4235768"/>
              <a:ext cx="665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3DGS ★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3619500" y="2190750"/>
              <a:ext cx="952500" cy="323850"/>
            </a:xfrm>
            <a:custGeom>
              <a:avLst/>
              <a:gdLst/>
              <a:ahLst/>
              <a:cxnLst/>
              <a:rect l="l" t="t" r="r" b="b"/>
              <a:pathLst>
                <a:path w="952500" h="323850">
                  <a:moveTo>
                    <a:pt x="47625" y="0"/>
                  </a:moveTo>
                  <a:lnTo>
                    <a:pt x="904875" y="0"/>
                  </a:lnTo>
                  <a:cubicBezTo>
                    <a:pt x="931178" y="0"/>
                    <a:pt x="952500" y="21322"/>
                    <a:pt x="952500" y="47625"/>
                  </a:cubicBezTo>
                  <a:lnTo>
                    <a:pt x="952500" y="276225"/>
                  </a:lnTo>
                  <a:cubicBezTo>
                    <a:pt x="952500" y="302528"/>
                    <a:pt x="931178" y="323850"/>
                    <a:pt x="904875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C084FC">
                <a:alpha val="15000"/>
              </a:srgbClr>
            </a:solidFill>
            <a:ln w="9525">
              <a:solidFill>
                <a:srgbClr val="C084F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80080" y="2254568"/>
              <a:ext cx="831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084FC"/>
                  </a:solidFill>
                  <a:latin typeface="Poppins"/>
                  <a:ea typeface="Poppins"/>
                  <a:cs typeface="Poppins"/>
                </a:rPr>
                <a:t>IMPLICIT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095750" y="25146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rgbClr val="1E1E2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600450" y="2743200"/>
              <a:ext cx="990600" cy="285750"/>
            </a:xfrm>
            <a:custGeom>
              <a:avLst/>
              <a:gdLst/>
              <a:ahLst/>
              <a:cxnLst/>
              <a:rect l="l" t="t" r="r" b="b"/>
              <a:pathLst>
                <a:path w="990600" h="285750">
                  <a:moveTo>
                    <a:pt x="38100" y="0"/>
                  </a:moveTo>
                  <a:lnTo>
                    <a:pt x="952500" y="0"/>
                  </a:lnTo>
                  <a:cubicBezTo>
                    <a:pt x="973542" y="0"/>
                    <a:pt x="990600" y="17058"/>
                    <a:pt x="990600" y="38100"/>
                  </a:cubicBezTo>
                  <a:lnTo>
                    <a:pt x="990600" y="247650"/>
                  </a:lnTo>
                  <a:cubicBezTo>
                    <a:pt x="990600" y="268692"/>
                    <a:pt x="973542" y="285750"/>
                    <a:pt x="9525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09652" y="2787968"/>
              <a:ext cx="15721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SDF / Neural SDF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095750" y="30289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1E1E2E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600450" y="3219450"/>
              <a:ext cx="990600" cy="285750"/>
            </a:xfrm>
            <a:custGeom>
              <a:avLst/>
              <a:gdLst/>
              <a:ahLst/>
              <a:cxnLst/>
              <a:rect l="l" t="t" r="r" b="b"/>
              <a:pathLst>
                <a:path w="990600" h="285750">
                  <a:moveTo>
                    <a:pt x="38100" y="0"/>
                  </a:moveTo>
                  <a:lnTo>
                    <a:pt x="952500" y="0"/>
                  </a:lnTo>
                  <a:cubicBezTo>
                    <a:pt x="973542" y="0"/>
                    <a:pt x="990600" y="17058"/>
                    <a:pt x="990600" y="38100"/>
                  </a:cubicBezTo>
                  <a:lnTo>
                    <a:pt x="990600" y="247650"/>
                  </a:lnTo>
                  <a:cubicBezTo>
                    <a:pt x="990600" y="268692"/>
                    <a:pt x="973542" y="285750"/>
                    <a:pt x="9525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314581" y="3264218"/>
              <a:ext cx="15623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NeRF (radiance)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47700" y="4743450"/>
              <a:ext cx="1333500" cy="476250"/>
            </a:xfrm>
            <a:custGeom>
              <a:avLst/>
              <a:gdLst/>
              <a:ahLst/>
              <a:cxnLst/>
              <a:rect l="l" t="t" r="r" b="b"/>
              <a:pathLst>
                <a:path w="1333500" h="476250">
                  <a:moveTo>
                    <a:pt x="57150" y="0"/>
                  </a:moveTo>
                  <a:lnTo>
                    <a:pt x="1276350" y="0"/>
                  </a:lnTo>
                  <a:cubicBezTo>
                    <a:pt x="1307913" y="0"/>
                    <a:pt x="1333500" y="25587"/>
                    <a:pt x="1333500" y="57150"/>
                  </a:cubicBezTo>
                  <a:lnTo>
                    <a:pt x="1333500" y="419100"/>
                  </a:lnTo>
                  <a:cubicBezTo>
                    <a:pt x="1333500" y="450663"/>
                    <a:pt x="1307913" y="476250"/>
                    <a:pt x="1276350" y="476250"/>
                  </a:cubicBezTo>
                  <a:lnTo>
                    <a:pt x="57150" y="476250"/>
                  </a:lnTo>
                  <a:cubicBezTo>
                    <a:pt x="25587" y="476250"/>
                    <a:pt x="0" y="450663"/>
                    <a:pt x="0" y="41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A855F7"/>
              </a:solidFill>
              <a:custDash>
                <a:ds d="400000" sp="300000"/>
              </a:custDash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06110" y="4822031"/>
              <a:ext cx="2016681" cy="4143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A855F7"/>
                  </a:solidFill>
                  <a:latin typeface="Lato"/>
                  <a:ea typeface="Lato"/>
                  <a:cs typeface="Lato"/>
                </a:rPr>
                <a:t>3DGS = explicit primitive</a:t>
              </a:r>
            </a:p>
            <a:p>
              <a:pPr algn="ctr"/>
              <a:r>
                <a:rPr lang="en-US" sz="1125" dirty="0">
                  <a:solidFill>
                    <a:srgbClr val="A855F7"/>
                  </a:solidFill>
                  <a:latin typeface="Lato"/>
                  <a:ea typeface="Lato"/>
                  <a:cs typeface="Lato"/>
                </a:rPr>
                <a:t>+ volumetric compositing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619750" y="1409700"/>
            <a:ext cx="8488204" cy="4762500"/>
            <a:chOff x="5619750" y="1409700"/>
            <a:chExt cx="8488204" cy="4762500"/>
          </a:xfrm>
        </p:grpSpPr>
        <p:sp>
          <p:nvSpPr>
            <p:cNvPr id="38" name="Freeform 38"/>
            <p:cNvSpPr/>
            <p:nvPr/>
          </p:nvSpPr>
          <p:spPr>
            <a:xfrm>
              <a:off x="5619750" y="1409700"/>
              <a:ext cx="6191250" cy="4762500"/>
            </a:xfrm>
            <a:custGeom>
              <a:avLst/>
              <a:gdLst/>
              <a:ahLst/>
              <a:cxnLst/>
              <a:rect l="l" t="t" r="r" b="b"/>
              <a:pathLst>
                <a:path w="6191250" h="4762500">
                  <a:moveTo>
                    <a:pt x="76200" y="0"/>
                  </a:moveTo>
                  <a:lnTo>
                    <a:pt x="6115050" y="0"/>
                  </a:lnTo>
                  <a:cubicBezTo>
                    <a:pt x="6157134" y="0"/>
                    <a:pt x="6191250" y="34116"/>
                    <a:pt x="6191250" y="76200"/>
                  </a:cubicBezTo>
                  <a:lnTo>
                    <a:pt x="6191250" y="4686300"/>
                  </a:lnTo>
                  <a:cubicBezTo>
                    <a:pt x="6191250" y="4728384"/>
                    <a:pt x="6157134" y="4762500"/>
                    <a:pt x="6115050" y="4762500"/>
                  </a:cubicBezTo>
                  <a:lnTo>
                    <a:pt x="76200" y="4762500"/>
                  </a:lnTo>
                  <a:cubicBezTo>
                    <a:pt x="34116" y="4762500"/>
                    <a:pt x="0" y="4728384"/>
                    <a:pt x="0" y="468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2642" y="1585436"/>
              <a:ext cx="558578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Representation determines cost structure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924550" y="1885950"/>
              <a:ext cx="55245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5924550" y="2047875"/>
              <a:ext cx="76200" cy="762000"/>
            </a:xfrm>
            <a:custGeom>
              <a:avLst/>
              <a:gdLst/>
              <a:ahLst/>
              <a:cxnLst/>
              <a:rect l="l" t="t" r="r" b="b"/>
              <a:pathLst>
                <a:path w="76200" h="762000">
                  <a:moveTo>
                    <a:pt x="28575" y="0"/>
                  </a:moveTo>
                  <a:lnTo>
                    <a:pt x="47625" y="0"/>
                  </a:lnTo>
                  <a:cubicBezTo>
                    <a:pt x="63407" y="0"/>
                    <a:pt x="76200" y="12793"/>
                    <a:pt x="76200" y="28575"/>
                  </a:cubicBezTo>
                  <a:lnTo>
                    <a:pt x="76200" y="733425"/>
                  </a:lnTo>
                  <a:cubicBezTo>
                    <a:pt x="76200" y="749207"/>
                    <a:pt x="63407" y="762000"/>
                    <a:pt x="47625" y="762000"/>
                  </a:cubicBezTo>
                  <a:lnTo>
                    <a:pt x="28575" y="762000"/>
                  </a:lnTo>
                  <a:cubicBezTo>
                    <a:pt x="12793" y="762000"/>
                    <a:pt x="0" y="749207"/>
                    <a:pt x="0" y="733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95048" y="2087404"/>
              <a:ext cx="92159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Explicit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96000" y="2295525"/>
              <a:ext cx="5241131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Fast GPU rasterization, editable geometry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Topology constraints, hard to learn from images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96000" y="2676525"/>
              <a:ext cx="37842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Examples: Mesh, Point Cloud, Voxel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924550" y="3000375"/>
              <a:ext cx="76200" cy="762000"/>
            </a:xfrm>
            <a:custGeom>
              <a:avLst/>
              <a:gdLst/>
              <a:ahLst/>
              <a:cxnLst/>
              <a:rect l="l" t="t" r="r" b="b"/>
              <a:pathLst>
                <a:path w="76200" h="762000">
                  <a:moveTo>
                    <a:pt x="28575" y="0"/>
                  </a:moveTo>
                  <a:lnTo>
                    <a:pt x="47625" y="0"/>
                  </a:lnTo>
                  <a:cubicBezTo>
                    <a:pt x="63407" y="0"/>
                    <a:pt x="76200" y="12793"/>
                    <a:pt x="76200" y="28575"/>
                  </a:cubicBezTo>
                  <a:lnTo>
                    <a:pt x="76200" y="733425"/>
                  </a:lnTo>
                  <a:cubicBezTo>
                    <a:pt x="76200" y="749207"/>
                    <a:pt x="63407" y="762000"/>
                    <a:pt x="47625" y="762000"/>
                  </a:cubicBezTo>
                  <a:lnTo>
                    <a:pt x="28575" y="762000"/>
                  </a:lnTo>
                  <a:cubicBezTo>
                    <a:pt x="12793" y="762000"/>
                    <a:pt x="0" y="749207"/>
                    <a:pt x="0" y="733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95048" y="3039904"/>
              <a:ext cx="9095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Implicit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96000" y="3248025"/>
              <a:ext cx="5405438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Continuous, differentiable, high quality rendering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Expensive to query (O(rays × samples × field))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96000" y="3629025"/>
              <a:ext cx="22069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Examples: SDF, NeRF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5924550" y="3952875"/>
              <a:ext cx="5695950" cy="857250"/>
            </a:xfrm>
            <a:custGeom>
              <a:avLst/>
              <a:gdLst/>
              <a:ahLst/>
              <a:cxnLst/>
              <a:rect l="l" t="t" r="r" b="b"/>
              <a:pathLst>
                <a:path w="5695950" h="857250">
                  <a:moveTo>
                    <a:pt x="57150" y="0"/>
                  </a:moveTo>
                  <a:lnTo>
                    <a:pt x="5638800" y="0"/>
                  </a:lnTo>
                  <a:cubicBezTo>
                    <a:pt x="5670363" y="0"/>
                    <a:pt x="5695950" y="25587"/>
                    <a:pt x="5695950" y="57150"/>
                  </a:cubicBezTo>
                  <a:lnTo>
                    <a:pt x="5695950" y="800100"/>
                  </a:lnTo>
                  <a:cubicBezTo>
                    <a:pt x="5695950" y="831663"/>
                    <a:pt x="5670363" y="857250"/>
                    <a:pt x="5638800" y="857250"/>
                  </a:cubicBezTo>
                  <a:lnTo>
                    <a:pt x="57150" y="857250"/>
                  </a:lnTo>
                  <a:cubicBezTo>
                    <a:pt x="25587" y="857250"/>
                    <a:pt x="0" y="831663"/>
                    <a:pt x="0" y="800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A855F7">
                <a:alpha val="10000"/>
              </a:srgbClr>
            </a:solidFill>
            <a:ln w="9525">
              <a:solidFill>
                <a:srgbClr val="A855F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000750" y="4029075"/>
              <a:ext cx="76200" cy="704850"/>
            </a:xfrm>
            <a:custGeom>
              <a:avLst/>
              <a:gdLst/>
              <a:ahLst/>
              <a:cxnLst/>
              <a:rect l="l" t="t" r="r" b="b"/>
              <a:pathLst>
                <a:path w="76200" h="704850">
                  <a:moveTo>
                    <a:pt x="28575" y="0"/>
                  </a:moveTo>
                  <a:lnTo>
                    <a:pt x="47625" y="0"/>
                  </a:lnTo>
                  <a:cubicBezTo>
                    <a:pt x="63407" y="0"/>
                    <a:pt x="76200" y="12793"/>
                    <a:pt x="76200" y="28575"/>
                  </a:cubicBezTo>
                  <a:lnTo>
                    <a:pt x="76200" y="676275"/>
                  </a:lnTo>
                  <a:cubicBezTo>
                    <a:pt x="76200" y="692057"/>
                    <a:pt x="63407" y="704850"/>
                    <a:pt x="47625" y="704850"/>
                  </a:cubicBezTo>
                  <a:lnTo>
                    <a:pt x="28575" y="704850"/>
                  </a:lnTo>
                  <a:cubicBezTo>
                    <a:pt x="12793" y="704850"/>
                    <a:pt x="0" y="692057"/>
                    <a:pt x="0" y="676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70295" y="4089082"/>
              <a:ext cx="56718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3D Gaussian Splatting — Bridge Representation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72200" y="4314825"/>
              <a:ext cx="7935754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Lato"/>
                  <a:ea typeface="Lato"/>
                  <a:cs typeface="Lato"/>
                </a:rPr>
                <a:t>Explicit primitives (anisotropic Gaussians) + volumetric alpha compositing</a:t>
              </a:r>
            </a:p>
            <a:p>
              <a:pPr algn="l"/>
              <a:r>
                <a:rPr lang="en-US" sz="1500" dirty="0">
                  <a:solidFill>
                    <a:srgbClr val="FFFFFF"/>
                  </a:solidFill>
                  <a:latin typeface="Lato"/>
                  <a:ea typeface="Lato"/>
                  <a:cs typeface="Lato"/>
                </a:rPr>
                <a:t>Empty-space efficient · differentiable · real-time rasterization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8217457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Classical Explicit Representations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1352550"/>
            <a:ext cx="3834765" cy="4857750"/>
            <a:chOff x="571500" y="1352550"/>
            <a:chExt cx="3834765" cy="4857750"/>
          </a:xfrm>
        </p:grpSpPr>
        <p:sp>
          <p:nvSpPr>
            <p:cNvPr id="6" name="Freeform 6"/>
            <p:cNvSpPr/>
            <p:nvPr/>
          </p:nvSpPr>
          <p:spPr>
            <a:xfrm>
              <a:off x="571500" y="1352550"/>
              <a:ext cx="3448050" cy="4857750"/>
            </a:xfrm>
            <a:custGeom>
              <a:avLst/>
              <a:gdLst/>
              <a:ahLst/>
              <a:cxnLst/>
              <a:rect l="l" t="t" r="r" b="b"/>
              <a:pathLst>
                <a:path w="3448050" h="4857750">
                  <a:moveTo>
                    <a:pt x="76200" y="0"/>
                  </a:moveTo>
                  <a:lnTo>
                    <a:pt x="3371850" y="0"/>
                  </a:lnTo>
                  <a:cubicBezTo>
                    <a:pt x="3413934" y="0"/>
                    <a:pt x="3448050" y="34116"/>
                    <a:pt x="3448050" y="76200"/>
                  </a:cubicBezTo>
                  <a:lnTo>
                    <a:pt x="3448050" y="4781550"/>
                  </a:lnTo>
                  <a:cubicBezTo>
                    <a:pt x="3448050" y="4823634"/>
                    <a:pt x="3413934" y="4857750"/>
                    <a:pt x="3371850" y="4857750"/>
                  </a:cubicBezTo>
                  <a:lnTo>
                    <a:pt x="76200" y="4857750"/>
                  </a:lnTo>
                  <a:cubicBezTo>
                    <a:pt x="34116" y="4857750"/>
                    <a:pt x="0" y="4823634"/>
                    <a:pt x="0" y="478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352550"/>
              <a:ext cx="3448050" cy="38100"/>
            </a:xfrm>
            <a:custGeom>
              <a:avLst/>
              <a:gdLst/>
              <a:ahLst/>
              <a:cxnLst/>
              <a:rect l="l" t="t" r="r" b="b"/>
              <a:pathLst>
                <a:path w="3448050" h="38100">
                  <a:moveTo>
                    <a:pt x="19050" y="0"/>
                  </a:moveTo>
                  <a:lnTo>
                    <a:pt x="3429000" y="0"/>
                  </a:lnTo>
                  <a:cubicBezTo>
                    <a:pt x="3439521" y="0"/>
                    <a:pt x="3448050" y="8529"/>
                    <a:pt x="3448050" y="19050"/>
                  </a:cubicBezTo>
                  <a:lnTo>
                    <a:pt x="3448050" y="19050"/>
                  </a:lnTo>
                  <a:cubicBezTo>
                    <a:pt x="3448050" y="29571"/>
                    <a:pt x="3439521" y="38100"/>
                    <a:pt x="34290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73919" y="1604009"/>
              <a:ext cx="309562" cy="335253"/>
              <a:chOff x="873919" y="1604009"/>
              <a:chExt cx="309562" cy="33525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5825" y="1695643"/>
                <a:ext cx="142875" cy="2307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30788">
                    <a:moveTo>
                      <a:pt x="142875" y="77629"/>
                    </a:moveTo>
                    <a:lnTo>
                      <a:pt x="142875" y="230788"/>
                    </a:lnTo>
                    <a:cubicBezTo>
                      <a:pt x="140875" y="230779"/>
                      <a:pt x="138910" y="230268"/>
                      <a:pt x="137160" y="229299"/>
                    </a:cubicBezTo>
                    <a:lnTo>
                      <a:pt x="6191" y="157624"/>
                    </a:lnTo>
                    <a:cubicBezTo>
                      <a:pt x="2382" y="155540"/>
                      <a:pt x="10" y="151548"/>
                      <a:pt x="0" y="147206"/>
                    </a:cubicBezTo>
                    <a:lnTo>
                      <a:pt x="0" y="4867"/>
                    </a:lnTo>
                    <a:cubicBezTo>
                      <a:pt x="1" y="3189"/>
                      <a:pt x="356" y="1531"/>
                      <a:pt x="1042" y="0"/>
                    </a:cubicBezTo>
                    <a:close/>
                  </a:path>
                </a:pathLst>
              </a:custGeom>
              <a:solidFill>
                <a:srgbClr val="A855F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73919" y="1604009"/>
                <a:ext cx="309562" cy="335253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35253">
                    <a:moveTo>
                      <a:pt x="297180" y="75591"/>
                    </a:moveTo>
                    <a:lnTo>
                      <a:pt x="166211" y="3930"/>
                    </a:lnTo>
                    <a:lnTo>
                      <a:pt x="166211" y="3930"/>
                    </a:lnTo>
                    <a:cubicBezTo>
                      <a:pt x="159098" y="0"/>
                      <a:pt x="150464" y="0"/>
                      <a:pt x="143351" y="3930"/>
                    </a:cubicBezTo>
                    <a:lnTo>
                      <a:pt x="12382" y="75621"/>
                    </a:lnTo>
                    <a:cubicBezTo>
                      <a:pt x="4765" y="79789"/>
                      <a:pt x="20" y="87773"/>
                      <a:pt x="0" y="96457"/>
                    </a:cubicBezTo>
                    <a:lnTo>
                      <a:pt x="0" y="238796"/>
                    </a:lnTo>
                    <a:cubicBezTo>
                      <a:pt x="20" y="247480"/>
                      <a:pt x="4765" y="255464"/>
                      <a:pt x="12382" y="259632"/>
                    </a:cubicBezTo>
                    <a:lnTo>
                      <a:pt x="143351" y="331322"/>
                    </a:lnTo>
                    <a:cubicBezTo>
                      <a:pt x="150464" y="335253"/>
                      <a:pt x="159098" y="335253"/>
                      <a:pt x="166211" y="331322"/>
                    </a:cubicBezTo>
                    <a:lnTo>
                      <a:pt x="297180" y="259632"/>
                    </a:lnTo>
                    <a:cubicBezTo>
                      <a:pt x="304798" y="255464"/>
                      <a:pt x="309543" y="247480"/>
                      <a:pt x="309562" y="238796"/>
                    </a:cubicBezTo>
                    <a:lnTo>
                      <a:pt x="309562" y="96472"/>
                    </a:lnTo>
                    <a:cubicBezTo>
                      <a:pt x="309559" y="87772"/>
                      <a:pt x="304812" y="79767"/>
                      <a:pt x="297180" y="75591"/>
                    </a:cubicBezTo>
                    <a:close/>
                    <a:moveTo>
                      <a:pt x="154781" y="24766"/>
                    </a:moveTo>
                    <a:lnTo>
                      <a:pt x="154781" y="24766"/>
                    </a:lnTo>
                    <a:lnTo>
                      <a:pt x="274350" y="90251"/>
                    </a:lnTo>
                    <a:lnTo>
                      <a:pt x="154781" y="155735"/>
                    </a:lnTo>
                    <a:lnTo>
                      <a:pt x="35213" y="90251"/>
                    </a:lnTo>
                    <a:close/>
                    <a:moveTo>
                      <a:pt x="23812" y="111087"/>
                    </a:moveTo>
                    <a:lnTo>
                      <a:pt x="142875" y="176244"/>
                    </a:lnTo>
                    <a:lnTo>
                      <a:pt x="142875" y="303923"/>
                    </a:lnTo>
                    <a:lnTo>
                      <a:pt x="23812" y="238811"/>
                    </a:lnTo>
                    <a:close/>
                    <a:moveTo>
                      <a:pt x="166688" y="303923"/>
                    </a:moveTo>
                    <a:lnTo>
                      <a:pt x="166688" y="176303"/>
                    </a:lnTo>
                    <a:lnTo>
                      <a:pt x="285750" y="111087"/>
                    </a:lnTo>
                    <a:lnTo>
                      <a:pt x="285750" y="238751"/>
                    </a:lnTo>
                    <a:close/>
                  </a:path>
                </a:pathLst>
              </a:custGeom>
              <a:solidFill>
                <a:srgbClr val="A855F7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11530" y="2059305"/>
              <a:ext cx="82623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Mesh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9150" y="2333625"/>
              <a:ext cx="26560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Vertices · Edges · Faces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628900"/>
              <a:ext cx="29146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1055" y="2768918"/>
              <a:ext cx="11729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ADVANTAGES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9150" y="2943225"/>
              <a:ext cx="345567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GPU rasterization native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Physics / collision / game engine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Editable topology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055" y="36642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LIMITATIONS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9150" y="3838575"/>
              <a:ext cx="3587115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Hard to reconstruct from images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Topology changes are difficult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1055" y="4369118"/>
              <a:ext cx="12039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COMPLEXITY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9150" y="4543425"/>
              <a:ext cx="3466624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O(V+F) storage, rasterization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proportional to visible triangles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1055" y="5188268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USE CASES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9150" y="5362575"/>
              <a:ext cx="30613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CAD, game engines, robotics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371975" y="1352550"/>
            <a:ext cx="3790950" cy="4857750"/>
            <a:chOff x="4371975" y="1352550"/>
            <a:chExt cx="3790950" cy="4857750"/>
          </a:xfrm>
        </p:grpSpPr>
        <p:sp>
          <p:nvSpPr>
            <p:cNvPr id="23" name="Freeform 23"/>
            <p:cNvSpPr/>
            <p:nvPr/>
          </p:nvSpPr>
          <p:spPr>
            <a:xfrm>
              <a:off x="4371975" y="1352550"/>
              <a:ext cx="3448050" cy="4857750"/>
            </a:xfrm>
            <a:custGeom>
              <a:avLst/>
              <a:gdLst/>
              <a:ahLst/>
              <a:cxnLst/>
              <a:rect l="l" t="t" r="r" b="b"/>
              <a:pathLst>
                <a:path w="3448050" h="4857750">
                  <a:moveTo>
                    <a:pt x="76200" y="0"/>
                  </a:moveTo>
                  <a:lnTo>
                    <a:pt x="3371850" y="0"/>
                  </a:lnTo>
                  <a:cubicBezTo>
                    <a:pt x="3413934" y="0"/>
                    <a:pt x="3448050" y="34116"/>
                    <a:pt x="3448050" y="76200"/>
                  </a:cubicBezTo>
                  <a:lnTo>
                    <a:pt x="3448050" y="4781550"/>
                  </a:lnTo>
                  <a:cubicBezTo>
                    <a:pt x="3448050" y="4823634"/>
                    <a:pt x="3413934" y="4857750"/>
                    <a:pt x="3371850" y="4857750"/>
                  </a:cubicBezTo>
                  <a:lnTo>
                    <a:pt x="76200" y="4857750"/>
                  </a:lnTo>
                  <a:cubicBezTo>
                    <a:pt x="34116" y="4857750"/>
                    <a:pt x="0" y="4823634"/>
                    <a:pt x="0" y="478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371975" y="1352550"/>
              <a:ext cx="3448050" cy="38100"/>
            </a:xfrm>
            <a:custGeom>
              <a:avLst/>
              <a:gdLst/>
              <a:ahLst/>
              <a:cxnLst/>
              <a:rect l="l" t="t" r="r" b="b"/>
              <a:pathLst>
                <a:path w="3448050" h="38100">
                  <a:moveTo>
                    <a:pt x="19050" y="0"/>
                  </a:moveTo>
                  <a:lnTo>
                    <a:pt x="3429000" y="0"/>
                  </a:lnTo>
                  <a:cubicBezTo>
                    <a:pt x="3439521" y="0"/>
                    <a:pt x="3448050" y="8529"/>
                    <a:pt x="3448050" y="19050"/>
                  </a:cubicBezTo>
                  <a:lnTo>
                    <a:pt x="3448050" y="19050"/>
                  </a:lnTo>
                  <a:cubicBezTo>
                    <a:pt x="3448050" y="29571"/>
                    <a:pt x="3439521" y="38100"/>
                    <a:pt x="34290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674394" y="1628775"/>
              <a:ext cx="309562" cy="273844"/>
              <a:chOff x="4674394" y="1628775"/>
              <a:chExt cx="309562" cy="27384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686300" y="1640681"/>
                <a:ext cx="285750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50031">
                    <a:moveTo>
                      <a:pt x="142875" y="107156"/>
                    </a:moveTo>
                    <a:cubicBezTo>
                      <a:pt x="113285" y="107156"/>
                      <a:pt x="89297" y="83169"/>
                      <a:pt x="89297" y="53578"/>
                    </a:cubicBezTo>
                    <a:cubicBezTo>
                      <a:pt x="89297" y="23988"/>
                      <a:pt x="113285" y="0"/>
                      <a:pt x="142875" y="0"/>
                    </a:cubicBezTo>
                    <a:cubicBezTo>
                      <a:pt x="172465" y="0"/>
                      <a:pt x="196453" y="23988"/>
                      <a:pt x="196453" y="53578"/>
                    </a:cubicBezTo>
                    <a:cubicBezTo>
                      <a:pt x="196453" y="83169"/>
                      <a:pt x="172465" y="107156"/>
                      <a:pt x="142875" y="107156"/>
                    </a:cubicBezTo>
                    <a:close/>
                    <a:moveTo>
                      <a:pt x="232172" y="142875"/>
                    </a:moveTo>
                    <a:cubicBezTo>
                      <a:pt x="202581" y="142875"/>
                      <a:pt x="178594" y="166863"/>
                      <a:pt x="178594" y="196453"/>
                    </a:cubicBezTo>
                    <a:cubicBezTo>
                      <a:pt x="178594" y="226044"/>
                      <a:pt x="202581" y="250031"/>
                      <a:pt x="232172" y="250031"/>
                    </a:cubicBezTo>
                    <a:cubicBezTo>
                      <a:pt x="261762" y="250031"/>
                      <a:pt x="285750" y="226044"/>
                      <a:pt x="285750" y="196453"/>
                    </a:cubicBezTo>
                    <a:cubicBezTo>
                      <a:pt x="285750" y="166863"/>
                      <a:pt x="261762" y="142875"/>
                      <a:pt x="232172" y="142875"/>
                    </a:cubicBezTo>
                    <a:close/>
                    <a:moveTo>
                      <a:pt x="53578" y="142875"/>
                    </a:moveTo>
                    <a:cubicBezTo>
                      <a:pt x="23988" y="142875"/>
                      <a:pt x="0" y="166863"/>
                      <a:pt x="0" y="196453"/>
                    </a:cubicBezTo>
                    <a:cubicBezTo>
                      <a:pt x="0" y="226044"/>
                      <a:pt x="23988" y="250031"/>
                      <a:pt x="53578" y="250031"/>
                    </a:cubicBezTo>
                    <a:cubicBezTo>
                      <a:pt x="83169" y="250031"/>
                      <a:pt x="107156" y="226044"/>
                      <a:pt x="107156" y="196453"/>
                    </a:cubicBezTo>
                    <a:cubicBezTo>
                      <a:pt x="107156" y="166863"/>
                      <a:pt x="83169" y="142875"/>
                      <a:pt x="53578" y="142875"/>
                    </a:cubicBezTo>
                    <a:close/>
                  </a:path>
                </a:pathLst>
              </a:custGeom>
              <a:solidFill>
                <a:srgbClr val="C084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674394" y="1628775"/>
                <a:ext cx="309562" cy="273844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273844">
                    <a:moveTo>
                      <a:pt x="220266" y="65484"/>
                    </a:moveTo>
                    <a:cubicBezTo>
                      <a:pt x="220266" y="29318"/>
                      <a:pt x="190947" y="0"/>
                      <a:pt x="154781" y="0"/>
                    </a:cubicBezTo>
                    <a:cubicBezTo>
                      <a:pt x="118615" y="0"/>
                      <a:pt x="89297" y="29318"/>
                      <a:pt x="89297" y="65484"/>
                    </a:cubicBezTo>
                    <a:cubicBezTo>
                      <a:pt x="89297" y="101650"/>
                      <a:pt x="118615" y="130969"/>
                      <a:pt x="154781" y="130969"/>
                    </a:cubicBezTo>
                    <a:cubicBezTo>
                      <a:pt x="190930" y="130928"/>
                      <a:pt x="220225" y="101633"/>
                      <a:pt x="220266" y="65484"/>
                    </a:cubicBezTo>
                    <a:close/>
                    <a:moveTo>
                      <a:pt x="154781" y="107156"/>
                    </a:moveTo>
                    <a:cubicBezTo>
                      <a:pt x="131767" y="107156"/>
                      <a:pt x="113109" y="88499"/>
                      <a:pt x="113109" y="65484"/>
                    </a:cubicBezTo>
                    <a:cubicBezTo>
                      <a:pt x="113109" y="42470"/>
                      <a:pt x="131767" y="23812"/>
                      <a:pt x="154781" y="23812"/>
                    </a:cubicBezTo>
                    <a:cubicBezTo>
                      <a:pt x="177796" y="23812"/>
                      <a:pt x="196453" y="42470"/>
                      <a:pt x="196453" y="65484"/>
                    </a:cubicBezTo>
                    <a:cubicBezTo>
                      <a:pt x="196453" y="88499"/>
                      <a:pt x="177796" y="107156"/>
                      <a:pt x="154781" y="107156"/>
                    </a:cubicBezTo>
                    <a:close/>
                    <a:moveTo>
                      <a:pt x="244078" y="142875"/>
                    </a:moveTo>
                    <a:cubicBezTo>
                      <a:pt x="207912" y="142875"/>
                      <a:pt x="178594" y="172193"/>
                      <a:pt x="178594" y="208359"/>
                    </a:cubicBezTo>
                    <a:cubicBezTo>
                      <a:pt x="178594" y="244525"/>
                      <a:pt x="207912" y="273844"/>
                      <a:pt x="244078" y="273844"/>
                    </a:cubicBezTo>
                    <a:cubicBezTo>
                      <a:pt x="280244" y="273844"/>
                      <a:pt x="309562" y="244525"/>
                      <a:pt x="309562" y="208359"/>
                    </a:cubicBezTo>
                    <a:cubicBezTo>
                      <a:pt x="309521" y="172210"/>
                      <a:pt x="280227" y="142916"/>
                      <a:pt x="244078" y="142875"/>
                    </a:cubicBezTo>
                    <a:close/>
                    <a:moveTo>
                      <a:pt x="244078" y="250031"/>
                    </a:moveTo>
                    <a:cubicBezTo>
                      <a:pt x="221063" y="250031"/>
                      <a:pt x="202406" y="231374"/>
                      <a:pt x="202406" y="208359"/>
                    </a:cubicBezTo>
                    <a:cubicBezTo>
                      <a:pt x="202406" y="185345"/>
                      <a:pt x="221063" y="166688"/>
                      <a:pt x="244078" y="166688"/>
                    </a:cubicBezTo>
                    <a:cubicBezTo>
                      <a:pt x="267093" y="166688"/>
                      <a:pt x="285750" y="185345"/>
                      <a:pt x="285750" y="208359"/>
                    </a:cubicBezTo>
                    <a:cubicBezTo>
                      <a:pt x="285750" y="231374"/>
                      <a:pt x="267093" y="250031"/>
                      <a:pt x="244078" y="250031"/>
                    </a:cubicBezTo>
                    <a:close/>
                    <a:moveTo>
                      <a:pt x="65484" y="142875"/>
                    </a:moveTo>
                    <a:cubicBezTo>
                      <a:pt x="29318" y="142875"/>
                      <a:pt x="0" y="172193"/>
                      <a:pt x="0" y="208359"/>
                    </a:cubicBezTo>
                    <a:cubicBezTo>
                      <a:pt x="0" y="244525"/>
                      <a:pt x="29318" y="273844"/>
                      <a:pt x="65484" y="273844"/>
                    </a:cubicBezTo>
                    <a:cubicBezTo>
                      <a:pt x="101650" y="273844"/>
                      <a:pt x="130969" y="244525"/>
                      <a:pt x="130969" y="208359"/>
                    </a:cubicBezTo>
                    <a:cubicBezTo>
                      <a:pt x="130928" y="172210"/>
                      <a:pt x="101633" y="142916"/>
                      <a:pt x="65484" y="142875"/>
                    </a:cubicBezTo>
                    <a:close/>
                    <a:moveTo>
                      <a:pt x="65484" y="250031"/>
                    </a:moveTo>
                    <a:cubicBezTo>
                      <a:pt x="42470" y="250031"/>
                      <a:pt x="23812" y="231374"/>
                      <a:pt x="23812" y="208359"/>
                    </a:cubicBezTo>
                    <a:cubicBezTo>
                      <a:pt x="23812" y="185345"/>
                      <a:pt x="42470" y="166688"/>
                      <a:pt x="65484" y="166688"/>
                    </a:cubicBezTo>
                    <a:cubicBezTo>
                      <a:pt x="88499" y="166688"/>
                      <a:pt x="107156" y="185345"/>
                      <a:pt x="107156" y="208359"/>
                    </a:cubicBezTo>
                    <a:cubicBezTo>
                      <a:pt x="107156" y="231374"/>
                      <a:pt x="88499" y="250031"/>
                      <a:pt x="65484" y="250031"/>
                    </a:cubicBezTo>
                    <a:close/>
                  </a:path>
                </a:pathLst>
              </a:custGeom>
              <a:solidFill>
                <a:srgbClr val="C084FC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612005" y="2059305"/>
              <a:ext cx="176015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Point Cloud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19625" y="233362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Unconnected 3D samples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638675" y="2628900"/>
              <a:ext cx="29146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621530" y="2768918"/>
              <a:ext cx="11729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ADVANTAGES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19625" y="2943225"/>
              <a:ext cx="3247549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Easy to acquire (LiDAR, SLAM)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No topology constraints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Flexible, scalable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21530" y="36642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LIMITATIONS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19625" y="3838575"/>
              <a:ext cx="26670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Holes, aliasing artifacts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No surface connectivity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21530" y="4369118"/>
              <a:ext cx="12039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COMPLEXITY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19625" y="4543425"/>
              <a:ext cx="3214688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O(N) storage; rendering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depends on visible point count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21530" y="5188268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USE CASES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19625" y="5362575"/>
              <a:ext cx="35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LiDAR, SLAM, scan preprocessing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172450" y="1352550"/>
            <a:ext cx="4196239" cy="4857750"/>
            <a:chOff x="8172450" y="1352550"/>
            <a:chExt cx="4196239" cy="4857750"/>
          </a:xfrm>
        </p:grpSpPr>
        <p:sp>
          <p:nvSpPr>
            <p:cNvPr id="40" name="Freeform 40"/>
            <p:cNvSpPr/>
            <p:nvPr/>
          </p:nvSpPr>
          <p:spPr>
            <a:xfrm>
              <a:off x="8172450" y="1352550"/>
              <a:ext cx="3448050" cy="4857750"/>
            </a:xfrm>
            <a:custGeom>
              <a:avLst/>
              <a:gdLst/>
              <a:ahLst/>
              <a:cxnLst/>
              <a:rect l="l" t="t" r="r" b="b"/>
              <a:pathLst>
                <a:path w="3448050" h="4857750">
                  <a:moveTo>
                    <a:pt x="76200" y="0"/>
                  </a:moveTo>
                  <a:lnTo>
                    <a:pt x="3371850" y="0"/>
                  </a:lnTo>
                  <a:cubicBezTo>
                    <a:pt x="3413934" y="0"/>
                    <a:pt x="3448050" y="34116"/>
                    <a:pt x="3448050" y="76200"/>
                  </a:cubicBezTo>
                  <a:lnTo>
                    <a:pt x="3448050" y="4781550"/>
                  </a:lnTo>
                  <a:cubicBezTo>
                    <a:pt x="3448050" y="4823634"/>
                    <a:pt x="3413934" y="4857750"/>
                    <a:pt x="3371850" y="4857750"/>
                  </a:cubicBezTo>
                  <a:lnTo>
                    <a:pt x="76200" y="4857750"/>
                  </a:lnTo>
                  <a:cubicBezTo>
                    <a:pt x="34116" y="4857750"/>
                    <a:pt x="0" y="4823634"/>
                    <a:pt x="0" y="478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172450" y="1352550"/>
              <a:ext cx="3448050" cy="38100"/>
            </a:xfrm>
            <a:custGeom>
              <a:avLst/>
              <a:gdLst/>
              <a:ahLst/>
              <a:cxnLst/>
              <a:rect l="l" t="t" r="r" b="b"/>
              <a:pathLst>
                <a:path w="3448050" h="38100">
                  <a:moveTo>
                    <a:pt x="19050" y="0"/>
                  </a:moveTo>
                  <a:lnTo>
                    <a:pt x="3429000" y="0"/>
                  </a:lnTo>
                  <a:cubicBezTo>
                    <a:pt x="3439521" y="0"/>
                    <a:pt x="3448050" y="8529"/>
                    <a:pt x="3448050" y="19050"/>
                  </a:cubicBezTo>
                  <a:lnTo>
                    <a:pt x="3448050" y="19050"/>
                  </a:lnTo>
                  <a:cubicBezTo>
                    <a:pt x="3448050" y="29571"/>
                    <a:pt x="3439521" y="38100"/>
                    <a:pt x="34290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473298" y="1604423"/>
              <a:ext cx="312785" cy="334453"/>
              <a:chOff x="8473298" y="1604423"/>
              <a:chExt cx="312785" cy="33445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486775" y="1616869"/>
                <a:ext cx="285750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66688">
                    <a:moveTo>
                      <a:pt x="285750" y="83344"/>
                    </a:moveTo>
                    <a:lnTo>
                      <a:pt x="142875" y="166688"/>
                    </a:lnTo>
                    <a:lnTo>
                      <a:pt x="0" y="83344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7C3AE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473298" y="1604423"/>
                <a:ext cx="312785" cy="334453"/>
              </a:xfrm>
              <a:custGeom>
                <a:avLst/>
                <a:gdLst/>
                <a:ahLst/>
                <a:cxnLst/>
                <a:rect l="l" t="t" r="r" b="b"/>
                <a:pathLst>
                  <a:path w="312785" h="334453">
                    <a:moveTo>
                      <a:pt x="309511" y="232711"/>
                    </a:moveTo>
                    <a:cubicBezTo>
                      <a:pt x="312785" y="238393"/>
                      <a:pt x="310849" y="245652"/>
                      <a:pt x="305180" y="248948"/>
                    </a:cubicBezTo>
                    <a:lnTo>
                      <a:pt x="162305" y="332292"/>
                    </a:lnTo>
                    <a:cubicBezTo>
                      <a:pt x="158599" y="334453"/>
                      <a:pt x="154016" y="334453"/>
                      <a:pt x="150309" y="332292"/>
                    </a:cubicBezTo>
                    <a:lnTo>
                      <a:pt x="7434" y="248948"/>
                    </a:lnTo>
                    <a:cubicBezTo>
                      <a:pt x="1850" y="245593"/>
                      <a:pt x="0" y="238372"/>
                      <a:pt x="3282" y="232745"/>
                    </a:cubicBezTo>
                    <a:cubicBezTo>
                      <a:pt x="6564" y="227117"/>
                      <a:pt x="13760" y="225172"/>
                      <a:pt x="19430" y="228380"/>
                    </a:cubicBezTo>
                    <a:lnTo>
                      <a:pt x="156352" y="308226"/>
                    </a:lnTo>
                    <a:lnTo>
                      <a:pt x="293274" y="228380"/>
                    </a:lnTo>
                    <a:cubicBezTo>
                      <a:pt x="298955" y="225106"/>
                      <a:pt x="306215" y="227042"/>
                      <a:pt x="309511" y="232711"/>
                    </a:cubicBezTo>
                    <a:close/>
                    <a:moveTo>
                      <a:pt x="293274" y="156943"/>
                    </a:moveTo>
                    <a:lnTo>
                      <a:pt x="156352" y="236789"/>
                    </a:lnTo>
                    <a:lnTo>
                      <a:pt x="19430" y="156943"/>
                    </a:lnTo>
                    <a:cubicBezTo>
                      <a:pt x="13803" y="154141"/>
                      <a:pt x="6968" y="156196"/>
                      <a:pt x="3819" y="161636"/>
                    </a:cubicBezTo>
                    <a:cubicBezTo>
                      <a:pt x="670" y="167076"/>
                      <a:pt x="2292" y="174027"/>
                      <a:pt x="7524" y="177511"/>
                    </a:cubicBezTo>
                    <a:lnTo>
                      <a:pt x="150399" y="260854"/>
                    </a:lnTo>
                    <a:cubicBezTo>
                      <a:pt x="154105" y="263016"/>
                      <a:pt x="158688" y="263016"/>
                      <a:pt x="162394" y="260854"/>
                    </a:cubicBezTo>
                    <a:lnTo>
                      <a:pt x="305269" y="177511"/>
                    </a:lnTo>
                    <a:cubicBezTo>
                      <a:pt x="309004" y="175398"/>
                      <a:pt x="311313" y="171439"/>
                      <a:pt x="311313" y="167148"/>
                    </a:cubicBezTo>
                    <a:cubicBezTo>
                      <a:pt x="311312" y="162857"/>
                      <a:pt x="309004" y="158898"/>
                      <a:pt x="305269" y="156785"/>
                    </a:cubicBezTo>
                    <a:cubicBezTo>
                      <a:pt x="301534" y="154672"/>
                      <a:pt x="296952" y="154733"/>
                      <a:pt x="293274" y="156943"/>
                    </a:cubicBezTo>
                    <a:close/>
                    <a:moveTo>
                      <a:pt x="1571" y="95789"/>
                    </a:moveTo>
                    <a:cubicBezTo>
                      <a:pt x="1580" y="91545"/>
                      <a:pt x="3848" y="87627"/>
                      <a:pt x="7524" y="85505"/>
                    </a:cubicBezTo>
                    <a:lnTo>
                      <a:pt x="150399" y="2161"/>
                    </a:lnTo>
                    <a:cubicBezTo>
                      <a:pt x="154105" y="0"/>
                      <a:pt x="158688" y="0"/>
                      <a:pt x="162394" y="2161"/>
                    </a:cubicBezTo>
                    <a:lnTo>
                      <a:pt x="305269" y="85505"/>
                    </a:lnTo>
                    <a:cubicBezTo>
                      <a:pt x="308927" y="87639"/>
                      <a:pt x="311176" y="91555"/>
                      <a:pt x="311176" y="95789"/>
                    </a:cubicBezTo>
                    <a:cubicBezTo>
                      <a:pt x="311176" y="100024"/>
                      <a:pt x="308927" y="103939"/>
                      <a:pt x="305269" y="106073"/>
                    </a:cubicBezTo>
                    <a:lnTo>
                      <a:pt x="162394" y="189417"/>
                    </a:lnTo>
                    <a:cubicBezTo>
                      <a:pt x="158688" y="191578"/>
                      <a:pt x="154105" y="191578"/>
                      <a:pt x="150399" y="189417"/>
                    </a:cubicBezTo>
                    <a:lnTo>
                      <a:pt x="7524" y="106073"/>
                    </a:lnTo>
                    <a:cubicBezTo>
                      <a:pt x="3848" y="103951"/>
                      <a:pt x="1580" y="100033"/>
                      <a:pt x="1571" y="95789"/>
                    </a:cubicBezTo>
                    <a:close/>
                    <a:moveTo>
                      <a:pt x="37111" y="95789"/>
                    </a:moveTo>
                    <a:lnTo>
                      <a:pt x="156352" y="165351"/>
                    </a:lnTo>
                    <a:lnTo>
                      <a:pt x="275593" y="95789"/>
                    </a:lnTo>
                    <a:lnTo>
                      <a:pt x="156352" y="26227"/>
                    </a:lnTo>
                    <a:close/>
                  </a:path>
                </a:pathLst>
              </a:custGeom>
              <a:solidFill>
                <a:srgbClr val="7C3AED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412480" y="2059305"/>
              <a:ext cx="288729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Voxel / Occupancy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0100" y="2333625"/>
              <a:ext cx="21850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Regular 3D grid cells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439150" y="2628900"/>
              <a:ext cx="29146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22005" y="2768918"/>
              <a:ext cx="11729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ADVANTAGES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20100" y="2943225"/>
              <a:ext cx="3696652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Simple CNN-compatible structure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Uncertainty / probability-friendly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Easy occupancy queries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22005" y="36642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LIMITATIONS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20100" y="3838575"/>
              <a:ext cx="3707606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Memory O(R³) — costly at high res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Aliasing at low resolution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22005" y="4369118"/>
              <a:ext cx="12039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COMPLEXITY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20100" y="4543425"/>
              <a:ext cx="3948589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Memory / compute scales as R³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Rapidly expensive at high resolutions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22005" y="5188268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USE CASES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20100" y="5362575"/>
              <a:ext cx="38938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Robot mapping, 3D CNN, coarse geom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9503318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Implicit Representations: Power &amp; Cost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1352550"/>
            <a:ext cx="13987795" cy="2076450"/>
            <a:chOff x="571500" y="1352550"/>
            <a:chExt cx="13987795" cy="2076450"/>
          </a:xfrm>
        </p:grpSpPr>
        <p:sp>
          <p:nvSpPr>
            <p:cNvPr id="6" name="Freeform 6"/>
            <p:cNvSpPr/>
            <p:nvPr/>
          </p:nvSpPr>
          <p:spPr>
            <a:xfrm>
              <a:off x="571500" y="1352550"/>
              <a:ext cx="11049000" cy="2076450"/>
            </a:xfrm>
            <a:custGeom>
              <a:avLst/>
              <a:gdLst/>
              <a:ahLst/>
              <a:cxnLst/>
              <a:rect l="l" t="t" r="r" b="b"/>
              <a:pathLst>
                <a:path w="11049000" h="20764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000250"/>
                  </a:lnTo>
                  <a:cubicBezTo>
                    <a:pt x="11049000" y="2042334"/>
                    <a:pt x="11014884" y="2076450"/>
                    <a:pt x="10972800" y="2076450"/>
                  </a:cubicBezTo>
                  <a:lnTo>
                    <a:pt x="76200" y="2076450"/>
                  </a:lnTo>
                  <a:cubicBezTo>
                    <a:pt x="34116" y="2076450"/>
                    <a:pt x="0" y="2042334"/>
                    <a:pt x="0" y="20002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352550"/>
              <a:ext cx="57150" cy="2076450"/>
            </a:xfrm>
            <a:custGeom>
              <a:avLst/>
              <a:gdLst/>
              <a:ahLst/>
              <a:cxnLst/>
              <a:rect l="l" t="t" r="r" b="b"/>
              <a:pathLst>
                <a:path w="57150" h="20764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047875"/>
                  </a:lnTo>
                  <a:cubicBezTo>
                    <a:pt x="57150" y="2063657"/>
                    <a:pt x="44357" y="2076450"/>
                    <a:pt x="28575" y="2076450"/>
                  </a:cubicBezTo>
                  <a:lnTo>
                    <a:pt x="28575" y="2076450"/>
                  </a:lnTo>
                  <a:cubicBezTo>
                    <a:pt x="12793" y="2076450"/>
                    <a:pt x="0" y="2063657"/>
                    <a:pt x="0" y="20478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2485" y="1465898"/>
              <a:ext cx="453509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Signed Distance Function (SDF)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6295" y="1726882"/>
              <a:ext cx="37289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Park et al., DeepSDF, CVPR 2019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57250" y="2019300"/>
              <a:ext cx="104584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5342" y="2080736"/>
              <a:ext cx="13723953" cy="9201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Maps spatial coordinates (x, y, z) → signed distance to the nearest surface (zero level-set = surface)</a:t>
              </a:r>
            </a:p>
            <a:p>
              <a:pPr algn="l"/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Strengths: watertight geometry · smooth gradients for normals · easy surface extraction via Marching Cubes</a:t>
              </a:r>
            </a:p>
            <a:p>
              <a:pPr algn="l"/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Limits: appearance model is separate · expensive field queries at inference · no direct rendering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0980539" y="1579364"/>
              <a:ext cx="232172" cy="232172"/>
              <a:chOff x="10980539" y="1579364"/>
              <a:chExt cx="232172" cy="23217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989469" y="1588294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214312" y="107156"/>
                    </a:moveTo>
                    <a:cubicBezTo>
                      <a:pt x="214312" y="166337"/>
                      <a:pt x="166337" y="214312"/>
                      <a:pt x="107156" y="214312"/>
                    </a:cubicBezTo>
                    <a:cubicBezTo>
                      <a:pt x="47975" y="214312"/>
                      <a:pt x="0" y="166337"/>
                      <a:pt x="0" y="107156"/>
                    </a:cubicBezTo>
                    <a:cubicBezTo>
                      <a:pt x="0" y="47975"/>
                      <a:pt x="47975" y="0"/>
                      <a:pt x="107156" y="0"/>
                    </a:cubicBezTo>
                    <a:cubicBezTo>
                      <a:pt x="166337" y="0"/>
                      <a:pt x="214312" y="47975"/>
                      <a:pt x="214312" y="107156"/>
                    </a:cubicBez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980539" y="1579364"/>
                <a:ext cx="232172" cy="232172"/>
              </a:xfrm>
              <a:custGeom>
                <a:avLst/>
                <a:gdLst/>
                <a:ahLst/>
                <a:cxnLst/>
                <a:rect l="l" t="t" r="r" b="b"/>
                <a:pathLst>
                  <a:path w="232172" h="232172">
                    <a:moveTo>
                      <a:pt x="167052" y="82979"/>
                    </a:moveTo>
                    <a:cubicBezTo>
                      <a:pt x="168729" y="84654"/>
                      <a:pt x="169671" y="86927"/>
                      <a:pt x="169671" y="89297"/>
                    </a:cubicBezTo>
                    <a:cubicBezTo>
                      <a:pt x="169671" y="91667"/>
                      <a:pt x="168729" y="93940"/>
                      <a:pt x="167052" y="95615"/>
                    </a:cubicBezTo>
                    <a:lnTo>
                      <a:pt x="104544" y="158122"/>
                    </a:lnTo>
                    <a:cubicBezTo>
                      <a:pt x="102869" y="159799"/>
                      <a:pt x="100597" y="160741"/>
                      <a:pt x="98227" y="160741"/>
                    </a:cubicBezTo>
                    <a:cubicBezTo>
                      <a:pt x="95857" y="160741"/>
                      <a:pt x="93584" y="159799"/>
                      <a:pt x="91909" y="158122"/>
                    </a:cubicBezTo>
                    <a:lnTo>
                      <a:pt x="65120" y="131333"/>
                    </a:lnTo>
                    <a:cubicBezTo>
                      <a:pt x="61631" y="127844"/>
                      <a:pt x="61631" y="122187"/>
                      <a:pt x="65120" y="118698"/>
                    </a:cubicBezTo>
                    <a:cubicBezTo>
                      <a:pt x="68609" y="115209"/>
                      <a:pt x="74266" y="115209"/>
                      <a:pt x="77755" y="118698"/>
                    </a:cubicBezTo>
                    <a:lnTo>
                      <a:pt x="98227" y="139180"/>
                    </a:lnTo>
                    <a:lnTo>
                      <a:pt x="154417" y="82979"/>
                    </a:lnTo>
                    <a:cubicBezTo>
                      <a:pt x="156092" y="81302"/>
                      <a:pt x="158364" y="80360"/>
                      <a:pt x="160734" y="80360"/>
                    </a:cubicBezTo>
                    <a:cubicBezTo>
                      <a:pt x="163104" y="80360"/>
                      <a:pt x="165377" y="81302"/>
                      <a:pt x="167052" y="82979"/>
                    </a:cubicBezTo>
                    <a:close/>
                    <a:moveTo>
                      <a:pt x="232172" y="116086"/>
                    </a:moveTo>
                    <a:cubicBezTo>
                      <a:pt x="232172" y="180198"/>
                      <a:pt x="180198" y="232172"/>
                      <a:pt x="116086" y="232172"/>
                    </a:cubicBezTo>
                    <a:cubicBezTo>
                      <a:pt x="51973" y="232172"/>
                      <a:pt x="0" y="180198"/>
                      <a:pt x="0" y="116086"/>
                    </a:cubicBezTo>
                    <a:cubicBezTo>
                      <a:pt x="0" y="51973"/>
                      <a:pt x="51973" y="0"/>
                      <a:pt x="116086" y="0"/>
                    </a:cubicBezTo>
                    <a:cubicBezTo>
                      <a:pt x="180170" y="68"/>
                      <a:pt x="232104" y="52001"/>
                      <a:pt x="232172" y="116086"/>
                    </a:cubicBezTo>
                    <a:close/>
                    <a:moveTo>
                      <a:pt x="214312" y="116086"/>
                    </a:moveTo>
                    <a:cubicBezTo>
                      <a:pt x="214312" y="61837"/>
                      <a:pt x="170335" y="17859"/>
                      <a:pt x="116086" y="17859"/>
                    </a:cubicBezTo>
                    <a:cubicBezTo>
                      <a:pt x="61837" y="17859"/>
                      <a:pt x="17859" y="61837"/>
                      <a:pt x="17859" y="116086"/>
                    </a:cubicBezTo>
                    <a:cubicBezTo>
                      <a:pt x="17859" y="170335"/>
                      <a:pt x="61837" y="214312"/>
                      <a:pt x="116086" y="214312"/>
                    </a:cubicBezTo>
                    <a:cubicBezTo>
                      <a:pt x="170309" y="214251"/>
                      <a:pt x="214251" y="170309"/>
                      <a:pt x="214312" y="116086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35495" y="1883092"/>
              <a:ext cx="941260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C55E"/>
                  </a:solidFill>
                  <a:latin typeface="Lato"/>
                  <a:ea typeface="Lato"/>
                  <a:cs typeface="Lato"/>
                </a:rPr>
                <a:t>Geometry</a:t>
              </a:r>
            </a:p>
            <a:p>
              <a:pPr algn="ctr"/>
              <a:r>
                <a:rPr lang="en-US" sz="1350" dirty="0">
                  <a:solidFill>
                    <a:srgbClr val="22C55E"/>
                  </a:solidFill>
                  <a:latin typeface="Lato"/>
                  <a:ea typeface="Lato"/>
                  <a:cs typeface="Lato"/>
                </a:rPr>
                <a:t>✓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3581400"/>
            <a:ext cx="14756201" cy="2171700"/>
            <a:chOff x="571500" y="3581400"/>
            <a:chExt cx="14756201" cy="2171700"/>
          </a:xfrm>
        </p:grpSpPr>
        <p:sp>
          <p:nvSpPr>
            <p:cNvPr id="17" name="Freeform 17"/>
            <p:cNvSpPr/>
            <p:nvPr/>
          </p:nvSpPr>
          <p:spPr>
            <a:xfrm>
              <a:off x="571500" y="3581400"/>
              <a:ext cx="11049000" cy="2171700"/>
            </a:xfrm>
            <a:custGeom>
              <a:avLst/>
              <a:gdLst/>
              <a:ahLst/>
              <a:cxnLst/>
              <a:rect l="l" t="t" r="r" b="b"/>
              <a:pathLst>
                <a:path w="11049000" h="21717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095500"/>
                  </a:lnTo>
                  <a:cubicBezTo>
                    <a:pt x="11049000" y="2137584"/>
                    <a:pt x="11014884" y="2171700"/>
                    <a:pt x="10972800" y="2171700"/>
                  </a:cubicBezTo>
                  <a:lnTo>
                    <a:pt x="76200" y="2171700"/>
                  </a:lnTo>
                  <a:cubicBezTo>
                    <a:pt x="34116" y="2171700"/>
                    <a:pt x="0" y="2137584"/>
                    <a:pt x="0" y="20955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71500" y="3581400"/>
              <a:ext cx="57150" cy="2171700"/>
            </a:xfrm>
            <a:custGeom>
              <a:avLst/>
              <a:gdLst/>
              <a:ahLst/>
              <a:cxnLst/>
              <a:rect l="l" t="t" r="r" b="b"/>
              <a:pathLst>
                <a:path w="57150" h="21717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143125"/>
                  </a:lnTo>
                  <a:cubicBezTo>
                    <a:pt x="57150" y="2158907"/>
                    <a:pt x="44357" y="2171700"/>
                    <a:pt x="28575" y="2171700"/>
                  </a:cubicBezTo>
                  <a:lnTo>
                    <a:pt x="28575" y="2171700"/>
                  </a:lnTo>
                  <a:cubicBezTo>
                    <a:pt x="12793" y="2171700"/>
                    <a:pt x="0" y="2158907"/>
                    <a:pt x="0" y="21431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485" y="3694748"/>
              <a:ext cx="413139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Neural Radiance Field (NeRF)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6295" y="3955732"/>
              <a:ext cx="81991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Mildenhall et al., ECCV 2020 · Mip-NeRF360 (Barron et al., CVPR 2022)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7250" y="4248150"/>
              <a:ext cx="104584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5342" y="4309586"/>
              <a:ext cx="14492359" cy="6353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Maps (x, y, z, θ, φ) → volume density σ + view-dependent color c; renders via ray marching with alpha compositing</a:t>
              </a:r>
            </a:p>
            <a:p>
              <a:pPr algn="l"/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Strengths: photorealistic novel view synthesis · continuous differentiable representation · view-dependent effects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5342" y="4766786"/>
              <a:ext cx="1160768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Limits: O(rays × samples × field query) · Mip-NeRF360 trains in</a:t>
              </a:r>
              <a:r>
                <a:rPr lang="en-US" sz="1725" b="1" dirty="0">
                  <a:solidFill>
                    <a:srgbClr val="EF4444"/>
                  </a:solidFill>
                  <a:latin typeface="Lato"/>
                  <a:ea typeface="Lato"/>
                  <a:cs typeface="Lato"/>
                </a:rPr>
                <a:t>~48 hours</a:t>
              </a:r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, renders at</a:t>
              </a:r>
              <a:r>
                <a:rPr lang="en-US" sz="1725" b="1" dirty="0">
                  <a:solidFill>
                    <a:srgbClr val="EF4444"/>
                  </a:solidFill>
                  <a:latin typeface="Lato"/>
                  <a:ea typeface="Lato"/>
                  <a:cs typeface="Lato"/>
                </a:rPr>
                <a:t>0.06 FPS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703399" y="5829300"/>
            <a:ext cx="6785203" cy="419100"/>
            <a:chOff x="2703399" y="5829300"/>
            <a:chExt cx="6785203" cy="419100"/>
          </a:xfrm>
        </p:grpSpPr>
        <p:sp>
          <p:nvSpPr>
            <p:cNvPr id="25" name="Freeform 25"/>
            <p:cNvSpPr/>
            <p:nvPr/>
          </p:nvSpPr>
          <p:spPr>
            <a:xfrm>
              <a:off x="3619500" y="5829300"/>
              <a:ext cx="4953000" cy="419100"/>
            </a:xfrm>
            <a:custGeom>
              <a:avLst/>
              <a:gdLst/>
              <a:ahLst/>
              <a:cxnLst/>
              <a:rect l="l" t="t" r="r" b="b"/>
              <a:pathLst>
                <a:path w="4953000" h="419100">
                  <a:moveTo>
                    <a:pt x="76200" y="0"/>
                  </a:moveTo>
                  <a:lnTo>
                    <a:pt x="4876800" y="0"/>
                  </a:lnTo>
                  <a:cubicBezTo>
                    <a:pt x="4918884" y="0"/>
                    <a:pt x="4953000" y="34116"/>
                    <a:pt x="4953000" y="76200"/>
                  </a:cubicBezTo>
                  <a:lnTo>
                    <a:pt x="4953000" y="342900"/>
                  </a:lnTo>
                  <a:cubicBezTo>
                    <a:pt x="4953000" y="384984"/>
                    <a:pt x="4918884" y="419100"/>
                    <a:pt x="4876800" y="419100"/>
                  </a:cubicBezTo>
                  <a:lnTo>
                    <a:pt x="76200" y="419100"/>
                  </a:lnTo>
                  <a:cubicBezTo>
                    <a:pt x="34116" y="419100"/>
                    <a:pt x="0" y="384984"/>
                    <a:pt x="0" y="3429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A855F7">
                <a:alpha val="12000"/>
              </a:srgbClr>
            </a:solidFill>
            <a:ln w="9525">
              <a:solidFill>
                <a:srgbClr val="A855F7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03399" y="5908358"/>
              <a:ext cx="67852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Next: 3DGS — NeRF quality at real-time rendering speed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48549" y="2167890"/>
            <a:ext cx="1494901" cy="365760"/>
            <a:chOff x="5348549" y="2167890"/>
            <a:chExt cx="1494901" cy="365760"/>
          </a:xfrm>
        </p:grpSpPr>
        <p:sp>
          <p:nvSpPr>
            <p:cNvPr id="2" name="TextBox 2"/>
            <p:cNvSpPr txBox="1"/>
            <p:nvPr/>
          </p:nvSpPr>
          <p:spPr>
            <a:xfrm>
              <a:off x="5348549" y="2167890"/>
              <a:ext cx="149490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CHAPTER 02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0" y="2514600"/>
              <a:ext cx="1143000" cy="9525"/>
            </a:xfrm>
            <a:prstGeom prst="rect">
              <a:avLst/>
            </a:prstGeom>
            <a:solidFill>
              <a:srgbClr val="A855F7">
                <a:alpha val="55000"/>
              </a:srgbClr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484906" y="2943225"/>
            <a:ext cx="7222188" cy="914400"/>
            <a:chOff x="2484906" y="2943225"/>
            <a:chExt cx="7222188" cy="914400"/>
          </a:xfrm>
        </p:grpSpPr>
        <p:sp>
          <p:nvSpPr>
            <p:cNvPr id="5" name="TextBox 5"/>
            <p:cNvSpPr txBox="1"/>
            <p:nvPr/>
          </p:nvSpPr>
          <p:spPr>
            <a:xfrm>
              <a:off x="2484906" y="2943225"/>
              <a:ext cx="722218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 Gaussian Splatting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72458" y="3713798"/>
            <a:ext cx="5247084" cy="396240"/>
            <a:chOff x="3472458" y="3713798"/>
            <a:chExt cx="5247084" cy="396240"/>
          </a:xfrm>
        </p:grpSpPr>
        <p:sp>
          <p:nvSpPr>
            <p:cNvPr id="7" name="TextBox 7"/>
            <p:cNvSpPr txBox="1"/>
            <p:nvPr/>
          </p:nvSpPr>
          <p:spPr>
            <a:xfrm>
              <a:off x="3472458" y="3713798"/>
              <a:ext cx="52470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Kerbl et al., ACM TOG / SIGGRAPH 2023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8613106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The NeRF Bottleneck &amp; 3DGS Solution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1045" y="1476375"/>
            <a:ext cx="5720954" cy="4524375"/>
            <a:chOff x="741045" y="1476375"/>
            <a:chExt cx="5720954" cy="4524375"/>
          </a:xfrm>
        </p:grpSpPr>
        <p:sp>
          <p:nvSpPr>
            <p:cNvPr id="6" name="TextBox 6"/>
            <p:cNvSpPr txBox="1"/>
            <p:nvPr/>
          </p:nvSpPr>
          <p:spPr>
            <a:xfrm>
              <a:off x="751522" y="1525429"/>
              <a:ext cx="153749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THE PROBLEM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1045" y="1874520"/>
              <a:ext cx="247166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Mip-NeRF360: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2265998"/>
              <a:ext cx="399397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Training:</a:t>
              </a:r>
              <a:r>
                <a:rPr lang="en-US" sz="1950" b="1" dirty="0">
                  <a:solidFill>
                    <a:srgbClr val="EF4444"/>
                  </a:solidFill>
                  <a:latin typeface="Lato"/>
                  <a:ea typeface="Lato"/>
                  <a:cs typeface="Lato"/>
                </a:rPr>
                <a:t>~48 hours</a:t>
              </a:r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per scene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6760" y="2551748"/>
              <a:ext cx="54891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Rendering:</a:t>
              </a:r>
              <a:r>
                <a:rPr lang="en-US" sz="1950" b="1" dirty="0">
                  <a:solidFill>
                    <a:srgbClr val="EF4444"/>
                  </a:solidFill>
                  <a:latin typeface="Lato"/>
                  <a:ea typeface="Lato"/>
                  <a:cs typeface="Lato"/>
                </a:rPr>
                <a:t>0.06 FPS</a:t>
              </a:r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(1 frame per 17 sec)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3052286"/>
              <a:ext cx="5712381" cy="6353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Impractical for real-world deployment in</a:t>
              </a:r>
            </a:p>
            <a:p>
              <a:pPr algn="l"/>
              <a:r>
                <a:rPr lang="en-US" sz="17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robotics, AR/VR, or any interactive scenario.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524500" y="1476375"/>
              <a:ext cx="9525" cy="4524375"/>
            </a:xfrm>
            <a:custGeom>
              <a:avLst/>
              <a:gdLst/>
              <a:ahLst/>
              <a:cxnLst/>
              <a:rect l="l" t="t" r="r" b="b"/>
              <a:pathLst>
                <a:path w="9525" h="4524375">
                  <a:moveTo>
                    <a:pt x="0" y="0"/>
                  </a:moveTo>
                  <a:lnTo>
                    <a:pt x="0" y="4524375"/>
                  </a:lnTo>
                </a:path>
              </a:pathLst>
            </a:custGeom>
            <a:noFill/>
            <a:ln w="9525">
              <a:solidFill>
                <a:srgbClr val="1E1E2E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875020" y="1525429"/>
            <a:ext cx="7043618" cy="3208972"/>
            <a:chOff x="5875020" y="1525429"/>
            <a:chExt cx="7043618" cy="3208972"/>
          </a:xfrm>
        </p:grpSpPr>
        <p:sp>
          <p:nvSpPr>
            <p:cNvPr id="13" name="TextBox 13"/>
            <p:cNvSpPr txBox="1"/>
            <p:nvPr/>
          </p:nvSpPr>
          <p:spPr>
            <a:xfrm>
              <a:off x="5885498" y="1525429"/>
              <a:ext cx="1960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THE 3DGS ANSWER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75020" y="1874520"/>
              <a:ext cx="405425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 Gaussian Splatting: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80735" y="2323148"/>
              <a:ext cx="530404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Quality:</a:t>
              </a:r>
              <a:r>
                <a:rPr lang="en-US" sz="1950" b="1" dirty="0">
                  <a:solidFill>
                    <a:srgbClr val="22C55E"/>
                  </a:solidFill>
                  <a:latin typeface="Lato"/>
                  <a:ea typeface="Lato"/>
                  <a:cs typeface="Lato"/>
                </a:rPr>
                <a:t>Mip-NeRF360 level</a:t>
              </a:r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(or better)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80735" y="2608898"/>
              <a:ext cx="295446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Training:</a:t>
              </a:r>
              <a:r>
                <a:rPr lang="en-US" sz="1950" b="1" dirty="0">
                  <a:solidFill>
                    <a:srgbClr val="22C55E"/>
                  </a:solidFill>
                  <a:latin typeface="Lato"/>
                  <a:ea typeface="Lato"/>
                  <a:cs typeface="Lato"/>
                </a:rPr>
                <a:t>~40 minutes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80735" y="2894648"/>
              <a:ext cx="41648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Rendering:</a:t>
              </a:r>
              <a:r>
                <a:rPr lang="en-US" sz="1950" b="1" dirty="0">
                  <a:solidFill>
                    <a:srgbClr val="22C55E"/>
                  </a:solidFill>
                  <a:latin typeface="Lato"/>
                  <a:ea typeface="Lato"/>
                  <a:cs typeface="Lato"/>
                </a:rPr>
                <a:t>134–160 FPS</a:t>
              </a:r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at 1080p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3409950"/>
              <a:ext cx="5676900" cy="19050"/>
            </a:xfrm>
            <a:prstGeom prst="rect">
              <a:avLst/>
            </a:prstGeom>
            <a:solidFill>
              <a:srgbClr val="A855F7">
                <a:alpha val="3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85498" y="3563779"/>
              <a:ext cx="268476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THREE KEY INNOVATIONS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83592" y="3814286"/>
              <a:ext cx="7035046" cy="9201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① Anisotropic 3D Gaussians as scene primitives</a:t>
              </a:r>
            </a:p>
            <a:p>
              <a:pPr algn="l"/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② Adaptive density control (clone / split / prune)</a:t>
              </a:r>
            </a:p>
            <a:p>
              <a:pPr algn="l"/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③ Tile-based differentiable rasterizer (no ray marching)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11597" y="2531745"/>
              <a:ext cx="1265306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rgbClr val="A855F7">
                      <a:alpha val="18000"/>
                    </a:srgbClr>
                  </a:solidFill>
                  <a:latin typeface="Poppins"/>
                  <a:ea typeface="Poppins"/>
                  <a:cs typeface="Poppins"/>
                </a:rPr>
                <a:t>160×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46877" y="3092768"/>
              <a:ext cx="13947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A855F7">
                      <a:alpha val="40000"/>
                    </a:srgbClr>
                  </a:solidFill>
                  <a:latin typeface="Lato"/>
                  <a:ea typeface="Lato"/>
                  <a:cs typeface="Lato"/>
                </a:rPr>
                <a:t>faster render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7797079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3DGS: Mathematical Formulation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1500" y="1314450"/>
            <a:ext cx="7194566" cy="4914900"/>
            <a:chOff x="571500" y="1314450"/>
            <a:chExt cx="7194566" cy="4914900"/>
          </a:xfrm>
        </p:grpSpPr>
        <p:sp>
          <p:nvSpPr>
            <p:cNvPr id="6" name="Freeform 6"/>
            <p:cNvSpPr/>
            <p:nvPr/>
          </p:nvSpPr>
          <p:spPr>
            <a:xfrm>
              <a:off x="571500" y="1314450"/>
              <a:ext cx="6667500" cy="4914900"/>
            </a:xfrm>
            <a:custGeom>
              <a:avLst/>
              <a:gdLst/>
              <a:ahLst/>
              <a:cxnLst/>
              <a:rect l="l" t="t" r="r" b="b"/>
              <a:pathLst>
                <a:path w="6667500" h="4914900">
                  <a:moveTo>
                    <a:pt x="76200" y="0"/>
                  </a:moveTo>
                  <a:lnTo>
                    <a:pt x="6591300" y="0"/>
                  </a:lnTo>
                  <a:cubicBezTo>
                    <a:pt x="6633384" y="0"/>
                    <a:pt x="6667500" y="34116"/>
                    <a:pt x="6667500" y="76200"/>
                  </a:cubicBezTo>
                  <a:lnTo>
                    <a:pt x="6667500" y="4838700"/>
                  </a:lnTo>
                  <a:cubicBezTo>
                    <a:pt x="6667500" y="4880784"/>
                    <a:pt x="6633384" y="4914900"/>
                    <a:pt x="6591300" y="4914900"/>
                  </a:cubicBezTo>
                  <a:lnTo>
                    <a:pt x="76200" y="4914900"/>
                  </a:lnTo>
                  <a:cubicBezTo>
                    <a:pt x="34116" y="4914900"/>
                    <a:pt x="0" y="4880784"/>
                    <a:pt x="0" y="4838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314450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09625"/>
                  </a:lnTo>
                  <a:cubicBezTo>
                    <a:pt x="57150" y="825407"/>
                    <a:pt x="44357" y="838200"/>
                    <a:pt x="28575" y="838200"/>
                  </a:cubicBezTo>
                  <a:lnTo>
                    <a:pt x="28575" y="838200"/>
                  </a:lnTo>
                  <a:cubicBezTo>
                    <a:pt x="12793" y="838200"/>
                    <a:pt x="0" y="825407"/>
                    <a:pt x="0" y="8096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1055" y="1397318"/>
              <a:ext cx="21770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WORLD-SPACE DENSITY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7245" y="1612582"/>
              <a:ext cx="45241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G_i(x) = exp(−½(x−μ_i)ᵀ Σ_i⁻¹(x−μ_i))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1055" y="1854518"/>
              <a:ext cx="49831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Anisotropic Gaussian in 3D: position μ, covariance 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2209800"/>
              <a:ext cx="66675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571500" y="2219325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09625"/>
                  </a:lnTo>
                  <a:cubicBezTo>
                    <a:pt x="57150" y="825407"/>
                    <a:pt x="44357" y="838200"/>
                    <a:pt x="28575" y="838200"/>
                  </a:cubicBezTo>
                  <a:lnTo>
                    <a:pt x="28575" y="838200"/>
                  </a:lnTo>
                  <a:cubicBezTo>
                    <a:pt x="12793" y="838200"/>
                    <a:pt x="0" y="825407"/>
                    <a:pt x="0" y="8096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1055" y="2292668"/>
              <a:ext cx="26842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084FC"/>
                  </a:solidFill>
                  <a:latin typeface="Poppins"/>
                  <a:ea typeface="Poppins"/>
                  <a:cs typeface="Poppins"/>
                </a:rPr>
                <a:t>COVARIANCE FACTORIZATION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7245" y="2507932"/>
              <a:ext cx="40181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Σ_i = R(q_i) · diag(s_i²) · R(q_i)ᵀ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055" y="2749868"/>
              <a:ext cx="66492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Quaternion q (rotation) + scale s → positive semidefinite guaranteed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105150"/>
              <a:ext cx="66675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71500" y="3114675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09625"/>
                  </a:lnTo>
                  <a:cubicBezTo>
                    <a:pt x="57150" y="825407"/>
                    <a:pt x="44357" y="838200"/>
                    <a:pt x="28575" y="838200"/>
                  </a:cubicBezTo>
                  <a:lnTo>
                    <a:pt x="28575" y="838200"/>
                  </a:lnTo>
                  <a:cubicBezTo>
                    <a:pt x="12793" y="838200"/>
                    <a:pt x="0" y="825407"/>
                    <a:pt x="0" y="8096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1055" y="3188018"/>
              <a:ext cx="33052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7C3AED"/>
                  </a:solidFill>
                  <a:latin typeface="Poppins"/>
                  <a:ea typeface="Poppins"/>
                  <a:cs typeface="Poppins"/>
                </a:rPr>
                <a:t>SCREEN-SPACE PROJECTION (EWA)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7245" y="3403282"/>
              <a:ext cx="25481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Σ'_i = J·W·Σ_i·Wᵀ·Jᵀ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1055" y="3645218"/>
              <a:ext cx="6570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Camera transform W + projection Jacobian J → 2D Gaussian footprint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4000500"/>
              <a:ext cx="66675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71500" y="4010025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09625"/>
                  </a:lnTo>
                  <a:cubicBezTo>
                    <a:pt x="57150" y="825407"/>
                    <a:pt x="44357" y="838200"/>
                    <a:pt x="28575" y="838200"/>
                  </a:cubicBezTo>
                  <a:lnTo>
                    <a:pt x="28575" y="838200"/>
                  </a:lnTo>
                  <a:cubicBezTo>
                    <a:pt x="12793" y="838200"/>
                    <a:pt x="0" y="825407"/>
                    <a:pt x="0" y="8096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1055" y="4083368"/>
              <a:ext cx="18561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PER-PIXEL OPACITY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7245" y="4298632"/>
              <a:ext cx="55363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α_i(p) = o_i · exp(−½(p−μ'_i)ᵀ Σ'_i⁻¹(p−μ'_i))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055" y="4540568"/>
              <a:ext cx="49141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Learned opacity o_i × 2D Gaussian screen footprint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1500" y="4895850"/>
              <a:ext cx="66675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1500" y="4905375"/>
              <a:ext cx="57150" cy="857250"/>
            </a:xfrm>
            <a:custGeom>
              <a:avLst/>
              <a:gdLst/>
              <a:ahLst/>
              <a:cxnLst/>
              <a:rect l="l" t="t" r="r" b="b"/>
              <a:pathLst>
                <a:path w="57150" h="8572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828675"/>
                  </a:lnTo>
                  <a:cubicBezTo>
                    <a:pt x="57150" y="844457"/>
                    <a:pt x="44357" y="857250"/>
                    <a:pt x="28575" y="857250"/>
                  </a:cubicBezTo>
                  <a:lnTo>
                    <a:pt x="28575" y="857250"/>
                  </a:lnTo>
                  <a:cubicBezTo>
                    <a:pt x="12793" y="857250"/>
                    <a:pt x="0" y="844457"/>
                    <a:pt x="0" y="8286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1055" y="4978718"/>
              <a:ext cx="37918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ALPHA COMPOSITING (FRONT-TO-BACK)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198" y="5202079"/>
              <a:ext cx="3076385" cy="580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C(p) = Σ_i T_i · α_i · c_i(d)</a:t>
              </a:r>
            </a:p>
            <a:p>
              <a:pPr algn="l"/>
              <a:r>
                <a:rPr lang="en-US" sz="1575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T_i = Π_{j&lt;i} (1−α_j(p))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055" y="5645468"/>
              <a:ext cx="69450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Same image formation as NeRF — but via rasterization, not ray marching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486650" y="1314450"/>
            <a:ext cx="4568666" cy="4914900"/>
            <a:chOff x="7486650" y="1314450"/>
            <a:chExt cx="4568666" cy="4914900"/>
          </a:xfrm>
        </p:grpSpPr>
        <p:sp>
          <p:nvSpPr>
            <p:cNvPr id="32" name="Freeform 32"/>
            <p:cNvSpPr/>
            <p:nvPr/>
          </p:nvSpPr>
          <p:spPr>
            <a:xfrm>
              <a:off x="7486650" y="1314450"/>
              <a:ext cx="4324350" cy="4914900"/>
            </a:xfrm>
            <a:custGeom>
              <a:avLst/>
              <a:gdLst/>
              <a:ahLst/>
              <a:cxnLst/>
              <a:rect l="l" t="t" r="r" b="b"/>
              <a:pathLst>
                <a:path w="4324350" h="4914900">
                  <a:moveTo>
                    <a:pt x="76200" y="0"/>
                  </a:moveTo>
                  <a:lnTo>
                    <a:pt x="4248150" y="0"/>
                  </a:lnTo>
                  <a:cubicBezTo>
                    <a:pt x="4290234" y="0"/>
                    <a:pt x="4324350" y="34116"/>
                    <a:pt x="4324350" y="76200"/>
                  </a:cubicBezTo>
                  <a:lnTo>
                    <a:pt x="4324350" y="4838700"/>
                  </a:lnTo>
                  <a:cubicBezTo>
                    <a:pt x="4324350" y="4880784"/>
                    <a:pt x="4290234" y="4914900"/>
                    <a:pt x="4248150" y="4914900"/>
                  </a:cubicBezTo>
                  <a:lnTo>
                    <a:pt x="76200" y="4914900"/>
                  </a:lnTo>
                  <a:cubicBezTo>
                    <a:pt x="34116" y="4914900"/>
                    <a:pt x="0" y="4880784"/>
                    <a:pt x="0" y="4838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32395" y="1441132"/>
              <a:ext cx="24077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Why these choices?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753350" y="1733550"/>
              <a:ext cx="37909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776957" y="1909557"/>
              <a:ext cx="219486" cy="213391"/>
              <a:chOff x="7776957" y="1909557"/>
              <a:chExt cx="219486" cy="21339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783052" y="1915620"/>
                <a:ext cx="207297" cy="207328"/>
              </a:xfrm>
              <a:custGeom>
                <a:avLst/>
                <a:gdLst/>
                <a:ahLst/>
                <a:cxnLst/>
                <a:rect l="l" t="t" r="r" b="b"/>
                <a:pathLst>
                  <a:path w="207297" h="207328">
                    <a:moveTo>
                      <a:pt x="189347" y="189378"/>
                    </a:moveTo>
                    <a:cubicBezTo>
                      <a:pt x="171396" y="207328"/>
                      <a:pt x="118504" y="183513"/>
                      <a:pt x="71144" y="136184"/>
                    </a:cubicBezTo>
                    <a:cubicBezTo>
                      <a:pt x="23784" y="88855"/>
                      <a:pt x="0" y="35963"/>
                      <a:pt x="17950" y="17981"/>
                    </a:cubicBezTo>
                    <a:cubicBezTo>
                      <a:pt x="35900" y="0"/>
                      <a:pt x="88792" y="23847"/>
                      <a:pt x="136152" y="71176"/>
                    </a:cubicBezTo>
                    <a:cubicBezTo>
                      <a:pt x="183513" y="118504"/>
                      <a:pt x="207297" y="171396"/>
                      <a:pt x="189347" y="189378"/>
                    </a:cubicBezTo>
                    <a:close/>
                  </a:path>
                </a:pathLst>
              </a:custGeom>
              <a:solidFill>
                <a:srgbClr val="A855F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6957" y="1909557"/>
                <a:ext cx="219486" cy="209755"/>
              </a:xfrm>
              <a:custGeom>
                <a:avLst/>
                <a:gdLst/>
                <a:ahLst/>
                <a:cxnLst/>
                <a:rect l="l" t="t" r="r" b="b"/>
                <a:pathLst>
                  <a:path w="219486" h="209755">
                    <a:moveTo>
                      <a:pt x="180710" y="109743"/>
                    </a:moveTo>
                    <a:cubicBezTo>
                      <a:pt x="206390" y="73686"/>
                      <a:pt x="219486" y="36421"/>
                      <a:pt x="201275" y="18211"/>
                    </a:cubicBezTo>
                    <a:cubicBezTo>
                      <a:pt x="183065" y="0"/>
                      <a:pt x="145799" y="13095"/>
                      <a:pt x="109743" y="38776"/>
                    </a:cubicBezTo>
                    <a:cubicBezTo>
                      <a:pt x="73686" y="13095"/>
                      <a:pt x="36421" y="0"/>
                      <a:pt x="18211" y="18211"/>
                    </a:cubicBezTo>
                    <a:cubicBezTo>
                      <a:pt x="0" y="36421"/>
                      <a:pt x="13095" y="73686"/>
                      <a:pt x="38776" y="109743"/>
                    </a:cubicBezTo>
                    <a:cubicBezTo>
                      <a:pt x="13095" y="145799"/>
                      <a:pt x="0" y="183065"/>
                      <a:pt x="18211" y="201275"/>
                    </a:cubicBezTo>
                    <a:lnTo>
                      <a:pt x="18211" y="201275"/>
                    </a:lnTo>
                    <a:cubicBezTo>
                      <a:pt x="24076" y="207140"/>
                      <a:pt x="31910" y="209755"/>
                      <a:pt x="41036" y="209755"/>
                    </a:cubicBezTo>
                    <a:cubicBezTo>
                      <a:pt x="60289" y="209755"/>
                      <a:pt x="85292" y="198119"/>
                      <a:pt x="109795" y="180710"/>
                    </a:cubicBezTo>
                    <a:cubicBezTo>
                      <a:pt x="134194" y="198119"/>
                      <a:pt x="159197" y="209755"/>
                      <a:pt x="178501" y="209755"/>
                    </a:cubicBezTo>
                    <a:cubicBezTo>
                      <a:pt x="187628" y="209755"/>
                      <a:pt x="195472" y="207130"/>
                      <a:pt x="201327" y="201275"/>
                    </a:cubicBezTo>
                    <a:lnTo>
                      <a:pt x="201327" y="201275"/>
                    </a:lnTo>
                    <a:cubicBezTo>
                      <a:pt x="219486" y="183065"/>
                      <a:pt x="206390" y="145799"/>
                      <a:pt x="180710" y="109743"/>
                    </a:cubicBezTo>
                    <a:close/>
                    <a:moveTo>
                      <a:pt x="189492" y="29993"/>
                    </a:moveTo>
                    <a:cubicBezTo>
                      <a:pt x="197452" y="37953"/>
                      <a:pt x="192076" y="63748"/>
                      <a:pt x="170198" y="95918"/>
                    </a:cubicBezTo>
                    <a:cubicBezTo>
                      <a:pt x="163277" y="87350"/>
                      <a:pt x="155908" y="79154"/>
                      <a:pt x="148123" y="71363"/>
                    </a:cubicBezTo>
                    <a:cubicBezTo>
                      <a:pt x="140331" y="63588"/>
                      <a:pt x="132135" y="56230"/>
                      <a:pt x="123568" y="49319"/>
                    </a:cubicBezTo>
                    <a:cubicBezTo>
                      <a:pt x="155738" y="27441"/>
                      <a:pt x="181533" y="22024"/>
                      <a:pt x="189492" y="29993"/>
                    </a:cubicBezTo>
                    <a:close/>
                    <a:moveTo>
                      <a:pt x="160051" y="109743"/>
                    </a:moveTo>
                    <a:cubicBezTo>
                      <a:pt x="152679" y="119069"/>
                      <a:pt x="144762" y="127950"/>
                      <a:pt x="136340" y="136340"/>
                    </a:cubicBezTo>
                    <a:cubicBezTo>
                      <a:pt x="127950" y="144762"/>
                      <a:pt x="119069" y="152679"/>
                      <a:pt x="109743" y="160051"/>
                    </a:cubicBezTo>
                    <a:cubicBezTo>
                      <a:pt x="100417" y="152679"/>
                      <a:pt x="91536" y="144762"/>
                      <a:pt x="83146" y="136340"/>
                    </a:cubicBezTo>
                    <a:cubicBezTo>
                      <a:pt x="74724" y="127950"/>
                      <a:pt x="66807" y="119069"/>
                      <a:pt x="59435" y="109743"/>
                    </a:cubicBezTo>
                    <a:cubicBezTo>
                      <a:pt x="74225" y="91105"/>
                      <a:pt x="91105" y="74225"/>
                      <a:pt x="109743" y="59435"/>
                    </a:cubicBezTo>
                    <a:cubicBezTo>
                      <a:pt x="119069" y="66807"/>
                      <a:pt x="127950" y="74724"/>
                      <a:pt x="136340" y="83146"/>
                    </a:cubicBezTo>
                    <a:cubicBezTo>
                      <a:pt x="144762" y="91536"/>
                      <a:pt x="152679" y="100417"/>
                      <a:pt x="160051" y="109743"/>
                    </a:cubicBezTo>
                    <a:close/>
                    <a:moveTo>
                      <a:pt x="29993" y="29993"/>
                    </a:moveTo>
                    <a:cubicBezTo>
                      <a:pt x="32285" y="27691"/>
                      <a:pt x="36067" y="26503"/>
                      <a:pt x="41057" y="26503"/>
                    </a:cubicBezTo>
                    <a:cubicBezTo>
                      <a:pt x="53371" y="26503"/>
                      <a:pt x="73030" y="33692"/>
                      <a:pt x="95908" y="49319"/>
                    </a:cubicBezTo>
                    <a:cubicBezTo>
                      <a:pt x="87349" y="56235"/>
                      <a:pt x="79156" y="63594"/>
                      <a:pt x="71363" y="71363"/>
                    </a:cubicBezTo>
                    <a:cubicBezTo>
                      <a:pt x="63588" y="79155"/>
                      <a:pt x="56230" y="87351"/>
                      <a:pt x="49319" y="95918"/>
                    </a:cubicBezTo>
                    <a:cubicBezTo>
                      <a:pt x="27441" y="63748"/>
                      <a:pt x="22034" y="37953"/>
                      <a:pt x="29993" y="29993"/>
                    </a:cubicBezTo>
                    <a:close/>
                    <a:moveTo>
                      <a:pt x="29993" y="189492"/>
                    </a:moveTo>
                    <a:cubicBezTo>
                      <a:pt x="22034" y="181533"/>
                      <a:pt x="27441" y="155738"/>
                      <a:pt x="49319" y="123568"/>
                    </a:cubicBezTo>
                    <a:cubicBezTo>
                      <a:pt x="56240" y="132135"/>
                      <a:pt x="63609" y="140332"/>
                      <a:pt x="71394" y="148123"/>
                    </a:cubicBezTo>
                    <a:cubicBezTo>
                      <a:pt x="79181" y="155891"/>
                      <a:pt x="87367" y="163250"/>
                      <a:pt x="95918" y="170167"/>
                    </a:cubicBezTo>
                    <a:cubicBezTo>
                      <a:pt x="63748" y="192045"/>
                      <a:pt x="37953" y="197462"/>
                      <a:pt x="29993" y="189492"/>
                    </a:cubicBezTo>
                    <a:close/>
                    <a:moveTo>
                      <a:pt x="189492" y="189492"/>
                    </a:moveTo>
                    <a:cubicBezTo>
                      <a:pt x="181533" y="197462"/>
                      <a:pt x="155738" y="192076"/>
                      <a:pt x="123568" y="170198"/>
                    </a:cubicBezTo>
                    <a:cubicBezTo>
                      <a:pt x="132131" y="163272"/>
                      <a:pt x="140327" y="155903"/>
                      <a:pt x="148123" y="148123"/>
                    </a:cubicBezTo>
                    <a:cubicBezTo>
                      <a:pt x="155898" y="140331"/>
                      <a:pt x="163256" y="132135"/>
                      <a:pt x="170167" y="123568"/>
                    </a:cubicBezTo>
                    <a:cubicBezTo>
                      <a:pt x="192045" y="155738"/>
                      <a:pt x="197452" y="181533"/>
                      <a:pt x="189492" y="189492"/>
                    </a:cubicBezTo>
                    <a:close/>
                    <a:moveTo>
                      <a:pt x="122244" y="109743"/>
                    </a:moveTo>
                    <a:cubicBezTo>
                      <a:pt x="122244" y="116647"/>
                      <a:pt x="116647" y="122244"/>
                      <a:pt x="109743" y="122244"/>
                    </a:cubicBezTo>
                    <a:cubicBezTo>
                      <a:pt x="102838" y="122244"/>
                      <a:pt x="97241" y="116647"/>
                      <a:pt x="97241" y="109743"/>
                    </a:cubicBezTo>
                    <a:cubicBezTo>
                      <a:pt x="97241" y="102838"/>
                      <a:pt x="102838" y="97241"/>
                      <a:pt x="109743" y="97241"/>
                    </a:cubicBezTo>
                    <a:cubicBezTo>
                      <a:pt x="116647" y="97241"/>
                      <a:pt x="122244" y="102838"/>
                      <a:pt x="122244" y="109743"/>
                    </a:cubicBezTo>
                    <a:close/>
                  </a:path>
                </a:pathLst>
              </a:custGeom>
              <a:solidFill>
                <a:srgbClr val="A855F7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096250" y="1866900"/>
              <a:ext cx="26604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Anisotropic 3D Gaussian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34300" y="2066925"/>
              <a:ext cx="4321016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Can model elongated thin structures,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leafy plants, fine hair — unlike spheres.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753350" y="2571750"/>
              <a:ext cx="37909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777284" y="2709984"/>
              <a:ext cx="218862" cy="218862"/>
              <a:chOff x="7777284" y="2709984"/>
              <a:chExt cx="218862" cy="218862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786042" y="2718721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C084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7284" y="2709984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C084FC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096250" y="2667000"/>
              <a:ext cx="25799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q + s parameterization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34300" y="2867025"/>
              <a:ext cx="4145756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Ensures covariance stays positive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semidefinite throughout optimization.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753350" y="3371850"/>
              <a:ext cx="37909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794557" y="3493749"/>
              <a:ext cx="184228" cy="251503"/>
              <a:chOff x="7794557" y="3493749"/>
              <a:chExt cx="184228" cy="25150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803356" y="3502819"/>
                <a:ext cx="166688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33362">
                    <a:moveTo>
                      <a:pt x="50006" y="233362"/>
                    </a:moveTo>
                    <a:lnTo>
                      <a:pt x="66675" y="150019"/>
                    </a:lnTo>
                    <a:lnTo>
                      <a:pt x="0" y="125016"/>
                    </a:lnTo>
                    <a:lnTo>
                      <a:pt x="116681" y="0"/>
                    </a:lnTo>
                    <a:lnTo>
                      <a:pt x="100012" y="83344"/>
                    </a:lnTo>
                    <a:lnTo>
                      <a:pt x="166688" y="108347"/>
                    </a:ln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94557" y="3493749"/>
                <a:ext cx="184228" cy="251503"/>
              </a:xfrm>
              <a:custGeom>
                <a:avLst/>
                <a:gdLst/>
                <a:ahLst/>
                <a:cxnLst/>
                <a:rect l="l" t="t" r="r" b="b"/>
                <a:pathLst>
                  <a:path w="184228" h="251503">
                    <a:moveTo>
                      <a:pt x="183602" y="115511"/>
                    </a:moveTo>
                    <a:cubicBezTo>
                      <a:pt x="182961" y="112798"/>
                      <a:pt x="181006" y="110585"/>
                      <a:pt x="178393" y="109614"/>
                    </a:cubicBezTo>
                    <a:lnTo>
                      <a:pt x="118375" y="87101"/>
                    </a:lnTo>
                    <a:lnTo>
                      <a:pt x="133648" y="10706"/>
                    </a:lnTo>
                    <a:cubicBezTo>
                      <a:pt x="134358" y="7059"/>
                      <a:pt x="132569" y="3383"/>
                      <a:pt x="129262" y="1691"/>
                    </a:cubicBezTo>
                    <a:cubicBezTo>
                      <a:pt x="125954" y="0"/>
                      <a:pt x="121926" y="702"/>
                      <a:pt x="119386" y="3413"/>
                    </a:cubicBezTo>
                    <a:lnTo>
                      <a:pt x="2704" y="128429"/>
                    </a:lnTo>
                    <a:cubicBezTo>
                      <a:pt x="779" y="130457"/>
                      <a:pt x="0" y="133315"/>
                      <a:pt x="629" y="136040"/>
                    </a:cubicBezTo>
                    <a:cubicBezTo>
                      <a:pt x="1258" y="138765"/>
                      <a:pt x="3211" y="140993"/>
                      <a:pt x="5830" y="141972"/>
                    </a:cubicBezTo>
                    <a:lnTo>
                      <a:pt x="65869" y="164485"/>
                    </a:lnTo>
                    <a:lnTo>
                      <a:pt x="50637" y="240797"/>
                    </a:lnTo>
                    <a:cubicBezTo>
                      <a:pt x="49927" y="244444"/>
                      <a:pt x="51716" y="248120"/>
                      <a:pt x="55024" y="249812"/>
                    </a:cubicBezTo>
                    <a:cubicBezTo>
                      <a:pt x="58331" y="251503"/>
                      <a:pt x="62359" y="250801"/>
                      <a:pt x="64900" y="248090"/>
                    </a:cubicBezTo>
                    <a:lnTo>
                      <a:pt x="181581" y="123074"/>
                    </a:lnTo>
                    <a:cubicBezTo>
                      <a:pt x="183470" y="121046"/>
                      <a:pt x="184228" y="118211"/>
                      <a:pt x="183602" y="115511"/>
                    </a:cubicBezTo>
                    <a:close/>
                    <a:moveTo>
                      <a:pt x="72734" y="215346"/>
                    </a:moveTo>
                    <a:lnTo>
                      <a:pt x="83642" y="160777"/>
                    </a:lnTo>
                    <a:cubicBezTo>
                      <a:pt x="84448" y="156780"/>
                      <a:pt x="82244" y="152786"/>
                      <a:pt x="78433" y="151338"/>
                    </a:cubicBezTo>
                    <a:lnTo>
                      <a:pt x="23384" y="130658"/>
                    </a:lnTo>
                    <a:lnTo>
                      <a:pt x="111541" y="36209"/>
                    </a:lnTo>
                    <a:lnTo>
                      <a:pt x="100644" y="90778"/>
                    </a:lnTo>
                    <a:cubicBezTo>
                      <a:pt x="99837" y="94775"/>
                      <a:pt x="102041" y="98768"/>
                      <a:pt x="105853" y="100217"/>
                    </a:cubicBezTo>
                    <a:lnTo>
                      <a:pt x="160860" y="120845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096250" y="3467100"/>
              <a:ext cx="27869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Tile-based rasterization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34300" y="3667125"/>
              <a:ext cx="379523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Screen split into 16×16 tiles; each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Gaussian sorted by tile+depth key.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Early termination when opacity ≈ 1.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→ No ray marching needed.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753350" y="4552950"/>
              <a:ext cx="37909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34300" y="4676775"/>
              <a:ext cx="15677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Loss function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34300" y="4886325"/>
              <a:ext cx="26450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A855F7"/>
                  </a:solidFill>
                  <a:latin typeface="Consolas"/>
                  <a:ea typeface="Consolas"/>
                  <a:cs typeface="Consolas"/>
                </a:rPr>
                <a:t>L = (1−λ)L₁ + λ·L_D-SSIM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36205" y="5112068"/>
              <a:ext cx="3691747" cy="72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λ = 0.2; densification every ~100 iter</a:t>
              </a:r>
            </a:p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Colors encoded as spherical harmonics</a:t>
              </a:r>
            </a:p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for view-dependent appearance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5200630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3DGS Training Pipeline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1409700"/>
            <a:ext cx="1866900" cy="3048000"/>
            <a:chOff x="571500" y="1409700"/>
            <a:chExt cx="1866900" cy="3048000"/>
          </a:xfrm>
        </p:grpSpPr>
        <p:sp>
          <p:nvSpPr>
            <p:cNvPr id="6" name="Freeform 6"/>
            <p:cNvSpPr/>
            <p:nvPr/>
          </p:nvSpPr>
          <p:spPr>
            <a:xfrm>
              <a:off x="571500" y="1409700"/>
              <a:ext cx="1866900" cy="3048000"/>
            </a:xfrm>
            <a:custGeom>
              <a:avLst/>
              <a:gdLst/>
              <a:ahLst/>
              <a:cxnLst/>
              <a:rect l="l" t="t" r="r" b="b"/>
              <a:pathLst>
                <a:path w="1866900" h="3048000">
                  <a:moveTo>
                    <a:pt x="76200" y="0"/>
                  </a:moveTo>
                  <a:lnTo>
                    <a:pt x="1790700" y="0"/>
                  </a:lnTo>
                  <a:cubicBezTo>
                    <a:pt x="1832784" y="0"/>
                    <a:pt x="1866900" y="34116"/>
                    <a:pt x="1866900" y="76200"/>
                  </a:cubicBezTo>
                  <a:lnTo>
                    <a:pt x="1866900" y="2971800"/>
                  </a:lnTo>
                  <a:cubicBezTo>
                    <a:pt x="1866900" y="3013884"/>
                    <a:pt x="1832784" y="3048000"/>
                    <a:pt x="1790700" y="3048000"/>
                  </a:cubicBezTo>
                  <a:lnTo>
                    <a:pt x="76200" y="3048000"/>
                  </a:lnTo>
                  <a:cubicBezTo>
                    <a:pt x="34116" y="3048000"/>
                    <a:pt x="0" y="3013884"/>
                    <a:pt x="0" y="297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A855F7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09700"/>
              <a:ext cx="1866900" cy="38100"/>
            </a:xfrm>
            <a:custGeom>
              <a:avLst/>
              <a:gdLst/>
              <a:ahLst/>
              <a:cxnLst/>
              <a:rect l="l" t="t" r="r" b="b"/>
              <a:pathLst>
                <a:path w="1866900" h="38100">
                  <a:moveTo>
                    <a:pt x="19050" y="0"/>
                  </a:moveTo>
                  <a:lnTo>
                    <a:pt x="1847850" y="0"/>
                  </a:lnTo>
                  <a:cubicBezTo>
                    <a:pt x="1858371" y="0"/>
                    <a:pt x="1866900" y="8529"/>
                    <a:pt x="1866900" y="19050"/>
                  </a:cubicBezTo>
                  <a:lnTo>
                    <a:pt x="1866900" y="19050"/>
                  </a:lnTo>
                  <a:cubicBezTo>
                    <a:pt x="1866900" y="29571"/>
                    <a:pt x="1858371" y="38100"/>
                    <a:pt x="18478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4011" y="1549718"/>
              <a:ext cx="11418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① INITIALIZE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319212" y="1866900"/>
              <a:ext cx="371475" cy="328612"/>
              <a:chOff x="1319212" y="1866900"/>
              <a:chExt cx="371475" cy="3286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333500" y="1881188"/>
                <a:ext cx="342900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00038">
                    <a:moveTo>
                      <a:pt x="171450" y="128588"/>
                    </a:moveTo>
                    <a:cubicBezTo>
                      <a:pt x="135942" y="128588"/>
                      <a:pt x="107156" y="99802"/>
                      <a:pt x="107156" y="64294"/>
                    </a:cubicBezTo>
                    <a:cubicBezTo>
                      <a:pt x="107156" y="28785"/>
                      <a:pt x="135942" y="0"/>
                      <a:pt x="171450" y="0"/>
                    </a:cubicBezTo>
                    <a:cubicBezTo>
                      <a:pt x="206958" y="0"/>
                      <a:pt x="235744" y="28785"/>
                      <a:pt x="235744" y="64294"/>
                    </a:cubicBezTo>
                    <a:cubicBezTo>
                      <a:pt x="235744" y="99802"/>
                      <a:pt x="206958" y="128588"/>
                      <a:pt x="171450" y="128588"/>
                    </a:cubicBezTo>
                    <a:close/>
                    <a:moveTo>
                      <a:pt x="278606" y="171450"/>
                    </a:moveTo>
                    <a:cubicBezTo>
                      <a:pt x="243098" y="171450"/>
                      <a:pt x="214312" y="200235"/>
                      <a:pt x="214312" y="235744"/>
                    </a:cubicBezTo>
                    <a:cubicBezTo>
                      <a:pt x="214312" y="271252"/>
                      <a:pt x="243098" y="300038"/>
                      <a:pt x="278606" y="300038"/>
                    </a:cubicBezTo>
                    <a:cubicBezTo>
                      <a:pt x="314115" y="300038"/>
                      <a:pt x="342900" y="271252"/>
                      <a:pt x="342900" y="235744"/>
                    </a:cubicBezTo>
                    <a:cubicBezTo>
                      <a:pt x="342900" y="200235"/>
                      <a:pt x="314115" y="171450"/>
                      <a:pt x="278606" y="171450"/>
                    </a:cubicBezTo>
                    <a:close/>
                    <a:moveTo>
                      <a:pt x="64294" y="171450"/>
                    </a:moveTo>
                    <a:cubicBezTo>
                      <a:pt x="28785" y="171450"/>
                      <a:pt x="0" y="200235"/>
                      <a:pt x="0" y="235744"/>
                    </a:cubicBezTo>
                    <a:cubicBezTo>
                      <a:pt x="0" y="271252"/>
                      <a:pt x="28785" y="300038"/>
                      <a:pt x="64294" y="300038"/>
                    </a:cubicBezTo>
                    <a:cubicBezTo>
                      <a:pt x="99802" y="300038"/>
                      <a:pt x="128588" y="271252"/>
                      <a:pt x="128588" y="235744"/>
                    </a:cubicBezTo>
                    <a:cubicBezTo>
                      <a:pt x="128588" y="200235"/>
                      <a:pt x="99802" y="171450"/>
                      <a:pt x="64294" y="171450"/>
                    </a:cubicBezTo>
                    <a:close/>
                  </a:path>
                </a:pathLst>
              </a:custGeom>
              <a:solidFill>
                <a:srgbClr val="A855F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319212" y="1866900"/>
                <a:ext cx="371475" cy="328612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28612">
                    <a:moveTo>
                      <a:pt x="264319" y="78581"/>
                    </a:moveTo>
                    <a:cubicBezTo>
                      <a:pt x="264319" y="35182"/>
                      <a:pt x="229137" y="0"/>
                      <a:pt x="185738" y="0"/>
                    </a:cubicBezTo>
                    <a:cubicBezTo>
                      <a:pt x="142338" y="0"/>
                      <a:pt x="107156" y="35182"/>
                      <a:pt x="107156" y="78581"/>
                    </a:cubicBezTo>
                    <a:cubicBezTo>
                      <a:pt x="107156" y="121980"/>
                      <a:pt x="142338" y="157162"/>
                      <a:pt x="185738" y="157162"/>
                    </a:cubicBezTo>
                    <a:cubicBezTo>
                      <a:pt x="229116" y="157113"/>
                      <a:pt x="264270" y="121960"/>
                      <a:pt x="264319" y="78581"/>
                    </a:cubicBezTo>
                    <a:close/>
                    <a:moveTo>
                      <a:pt x="185738" y="128588"/>
                    </a:moveTo>
                    <a:cubicBezTo>
                      <a:pt x="158120" y="128588"/>
                      <a:pt x="135731" y="106199"/>
                      <a:pt x="135731" y="78581"/>
                    </a:cubicBezTo>
                    <a:cubicBezTo>
                      <a:pt x="135731" y="50964"/>
                      <a:pt x="158120" y="28575"/>
                      <a:pt x="185738" y="28575"/>
                    </a:cubicBezTo>
                    <a:cubicBezTo>
                      <a:pt x="213355" y="28575"/>
                      <a:pt x="235744" y="50964"/>
                      <a:pt x="235744" y="78581"/>
                    </a:cubicBezTo>
                    <a:cubicBezTo>
                      <a:pt x="235744" y="106199"/>
                      <a:pt x="213355" y="128588"/>
                      <a:pt x="185738" y="128588"/>
                    </a:cubicBezTo>
                    <a:close/>
                    <a:moveTo>
                      <a:pt x="292894" y="171450"/>
                    </a:moveTo>
                    <a:cubicBezTo>
                      <a:pt x="249495" y="171450"/>
                      <a:pt x="214312" y="206632"/>
                      <a:pt x="214312" y="250031"/>
                    </a:cubicBezTo>
                    <a:cubicBezTo>
                      <a:pt x="214312" y="293430"/>
                      <a:pt x="249495" y="328612"/>
                      <a:pt x="292894" y="328612"/>
                    </a:cubicBezTo>
                    <a:cubicBezTo>
                      <a:pt x="336293" y="328612"/>
                      <a:pt x="371475" y="293430"/>
                      <a:pt x="371475" y="250031"/>
                    </a:cubicBezTo>
                    <a:cubicBezTo>
                      <a:pt x="371426" y="206652"/>
                      <a:pt x="336273" y="171499"/>
                      <a:pt x="292894" y="171450"/>
                    </a:cubicBezTo>
                    <a:close/>
                    <a:moveTo>
                      <a:pt x="292894" y="300038"/>
                    </a:moveTo>
                    <a:cubicBezTo>
                      <a:pt x="265276" y="300038"/>
                      <a:pt x="242888" y="277649"/>
                      <a:pt x="242888" y="250031"/>
                    </a:cubicBezTo>
                    <a:cubicBezTo>
                      <a:pt x="242888" y="222414"/>
                      <a:pt x="265276" y="200025"/>
                      <a:pt x="292894" y="200025"/>
                    </a:cubicBezTo>
                    <a:cubicBezTo>
                      <a:pt x="320511" y="200025"/>
                      <a:pt x="342900" y="222414"/>
                      <a:pt x="342900" y="250031"/>
                    </a:cubicBezTo>
                    <a:cubicBezTo>
                      <a:pt x="342900" y="277649"/>
                      <a:pt x="320511" y="300038"/>
                      <a:pt x="292894" y="300038"/>
                    </a:cubicBezTo>
                    <a:close/>
                    <a:moveTo>
                      <a:pt x="78581" y="171450"/>
                    </a:moveTo>
                    <a:cubicBezTo>
                      <a:pt x="35182" y="171450"/>
                      <a:pt x="0" y="206632"/>
                      <a:pt x="0" y="250031"/>
                    </a:cubicBezTo>
                    <a:cubicBezTo>
                      <a:pt x="0" y="293430"/>
                      <a:pt x="35182" y="328612"/>
                      <a:pt x="78581" y="328612"/>
                    </a:cubicBezTo>
                    <a:cubicBezTo>
                      <a:pt x="121980" y="328612"/>
                      <a:pt x="157162" y="293430"/>
                      <a:pt x="157162" y="250031"/>
                    </a:cubicBezTo>
                    <a:cubicBezTo>
                      <a:pt x="157113" y="206652"/>
                      <a:pt x="121960" y="171499"/>
                      <a:pt x="78581" y="171450"/>
                    </a:cubicBezTo>
                    <a:close/>
                    <a:moveTo>
                      <a:pt x="78581" y="300038"/>
                    </a:moveTo>
                    <a:cubicBezTo>
                      <a:pt x="50964" y="300038"/>
                      <a:pt x="28575" y="277649"/>
                      <a:pt x="28575" y="250031"/>
                    </a:cubicBezTo>
                    <a:cubicBezTo>
                      <a:pt x="28575" y="222414"/>
                      <a:pt x="50964" y="200025"/>
                      <a:pt x="78581" y="200025"/>
                    </a:cubicBezTo>
                    <a:cubicBezTo>
                      <a:pt x="106199" y="200025"/>
                      <a:pt x="128588" y="222414"/>
                      <a:pt x="128588" y="250031"/>
                    </a:cubicBezTo>
                    <a:cubicBezTo>
                      <a:pt x="128588" y="277649"/>
                      <a:pt x="106199" y="300038"/>
                      <a:pt x="78581" y="300038"/>
                    </a:cubicBezTo>
                    <a:close/>
                  </a:path>
                </a:pathLst>
              </a:custGeom>
              <a:solidFill>
                <a:srgbClr val="A855F7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585248" y="2306479"/>
              <a:ext cx="183940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SfM Point Cloud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356" y="2559368"/>
              <a:ext cx="1503188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COLMAP sparse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reconstruction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9500" y="3040856"/>
              <a:ext cx="1490901" cy="600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Each point →</a:t>
              </a:r>
            </a:p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isotropic Gaussian</a:t>
              </a:r>
            </a:p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μ, q, s, o, SH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5081" y="4183856"/>
              <a:ext cx="7597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A855F7"/>
                  </a:solidFill>
                  <a:latin typeface="Consolas"/>
                  <a:ea typeface="Consolas"/>
                  <a:cs typeface="Consolas"/>
                </a:rPr>
                <a:t>~100K pts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476500" y="2876550"/>
            <a:ext cx="457200" cy="114300"/>
            <a:chOff x="2476500" y="2876550"/>
            <a:chExt cx="457200" cy="114300"/>
          </a:xfrm>
        </p:grpSpPr>
        <p:sp>
          <p:nvSpPr>
            <p:cNvPr id="17" name="Line 17"/>
            <p:cNvSpPr/>
            <p:nvPr/>
          </p:nvSpPr>
          <p:spPr>
            <a:xfrm>
              <a:off x="2476500" y="29337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A855F7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2819400" y="28765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2902268" y="1409700"/>
            <a:ext cx="2005965" cy="3048000"/>
            <a:chOff x="2902268" y="1409700"/>
            <a:chExt cx="2005965" cy="3048000"/>
          </a:xfrm>
        </p:grpSpPr>
        <p:sp>
          <p:nvSpPr>
            <p:cNvPr id="20" name="Freeform 20"/>
            <p:cNvSpPr/>
            <p:nvPr/>
          </p:nvSpPr>
          <p:spPr>
            <a:xfrm>
              <a:off x="2971800" y="1409700"/>
              <a:ext cx="1866900" cy="3048000"/>
            </a:xfrm>
            <a:custGeom>
              <a:avLst/>
              <a:gdLst/>
              <a:ahLst/>
              <a:cxnLst/>
              <a:rect l="l" t="t" r="r" b="b"/>
              <a:pathLst>
                <a:path w="1866900" h="3048000">
                  <a:moveTo>
                    <a:pt x="76200" y="0"/>
                  </a:moveTo>
                  <a:lnTo>
                    <a:pt x="1790700" y="0"/>
                  </a:lnTo>
                  <a:cubicBezTo>
                    <a:pt x="1832784" y="0"/>
                    <a:pt x="1866900" y="34116"/>
                    <a:pt x="1866900" y="76200"/>
                  </a:cubicBezTo>
                  <a:lnTo>
                    <a:pt x="1866900" y="2971800"/>
                  </a:lnTo>
                  <a:cubicBezTo>
                    <a:pt x="1866900" y="3013884"/>
                    <a:pt x="1832784" y="3048000"/>
                    <a:pt x="1790700" y="3048000"/>
                  </a:cubicBezTo>
                  <a:lnTo>
                    <a:pt x="76200" y="3048000"/>
                  </a:lnTo>
                  <a:cubicBezTo>
                    <a:pt x="34116" y="3048000"/>
                    <a:pt x="0" y="3013884"/>
                    <a:pt x="0" y="297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C084F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971800" y="1409700"/>
              <a:ext cx="1866900" cy="38100"/>
            </a:xfrm>
            <a:custGeom>
              <a:avLst/>
              <a:gdLst/>
              <a:ahLst/>
              <a:cxnLst/>
              <a:rect l="l" t="t" r="r" b="b"/>
              <a:pathLst>
                <a:path w="1866900" h="38100">
                  <a:moveTo>
                    <a:pt x="19050" y="0"/>
                  </a:moveTo>
                  <a:lnTo>
                    <a:pt x="1847850" y="0"/>
                  </a:lnTo>
                  <a:cubicBezTo>
                    <a:pt x="1858371" y="0"/>
                    <a:pt x="1866900" y="8529"/>
                    <a:pt x="1866900" y="19050"/>
                  </a:cubicBezTo>
                  <a:lnTo>
                    <a:pt x="1866900" y="19050"/>
                  </a:lnTo>
                  <a:cubicBezTo>
                    <a:pt x="1866900" y="29571"/>
                    <a:pt x="1858371" y="38100"/>
                    <a:pt x="18478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58526" y="1549718"/>
              <a:ext cx="8934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084FC"/>
                  </a:solidFill>
                  <a:latin typeface="Poppins"/>
                  <a:ea typeface="Poppins"/>
                  <a:cs typeface="Poppins"/>
                </a:rPr>
                <a:t>② RENDER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3719512" y="1866900"/>
              <a:ext cx="371475" cy="328612"/>
              <a:chOff x="3719512" y="1866900"/>
              <a:chExt cx="371475" cy="32861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733800" y="1881188"/>
                <a:ext cx="342900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00038">
                    <a:moveTo>
                      <a:pt x="314325" y="42862"/>
                    </a:moveTo>
                    <a:lnTo>
                      <a:pt x="257175" y="42862"/>
                    </a:lnTo>
                    <a:lnTo>
                      <a:pt x="228600" y="0"/>
                    </a:lnTo>
                    <a:lnTo>
                      <a:pt x="114300" y="0"/>
                    </a:lnTo>
                    <a:lnTo>
                      <a:pt x="85725" y="42862"/>
                    </a:lnTo>
                    <a:lnTo>
                      <a:pt x="28575" y="42862"/>
                    </a:lnTo>
                    <a:cubicBezTo>
                      <a:pt x="12793" y="42862"/>
                      <a:pt x="0" y="55656"/>
                      <a:pt x="0" y="71438"/>
                    </a:cubicBezTo>
                    <a:lnTo>
                      <a:pt x="0" y="271462"/>
                    </a:lnTo>
                    <a:cubicBezTo>
                      <a:pt x="0" y="287244"/>
                      <a:pt x="12793" y="300038"/>
                      <a:pt x="28575" y="300038"/>
                    </a:cubicBezTo>
                    <a:lnTo>
                      <a:pt x="314325" y="300038"/>
                    </a:lnTo>
                    <a:cubicBezTo>
                      <a:pt x="330107" y="300038"/>
                      <a:pt x="342900" y="287244"/>
                      <a:pt x="342900" y="271462"/>
                    </a:cubicBezTo>
                    <a:lnTo>
                      <a:pt x="342900" y="71438"/>
                    </a:lnTo>
                    <a:cubicBezTo>
                      <a:pt x="342900" y="55656"/>
                      <a:pt x="330107" y="42862"/>
                      <a:pt x="314325" y="42862"/>
                    </a:cubicBezTo>
                    <a:close/>
                    <a:moveTo>
                      <a:pt x="171450" y="228600"/>
                    </a:moveTo>
                    <a:cubicBezTo>
                      <a:pt x="135942" y="228600"/>
                      <a:pt x="107156" y="199815"/>
                      <a:pt x="107156" y="164306"/>
                    </a:cubicBezTo>
                    <a:cubicBezTo>
                      <a:pt x="107156" y="128798"/>
                      <a:pt x="135942" y="100012"/>
                      <a:pt x="171450" y="100012"/>
                    </a:cubicBezTo>
                    <a:cubicBezTo>
                      <a:pt x="206958" y="100012"/>
                      <a:pt x="235744" y="128798"/>
                      <a:pt x="235744" y="164306"/>
                    </a:cubicBezTo>
                    <a:cubicBezTo>
                      <a:pt x="235744" y="199815"/>
                      <a:pt x="206958" y="228600"/>
                      <a:pt x="171450" y="228600"/>
                    </a:cubicBezTo>
                    <a:close/>
                  </a:path>
                </a:pathLst>
              </a:custGeom>
              <a:solidFill>
                <a:srgbClr val="C084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19512" y="1866900"/>
                <a:ext cx="371475" cy="328612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28612">
                    <a:moveTo>
                      <a:pt x="328612" y="42862"/>
                    </a:moveTo>
                    <a:lnTo>
                      <a:pt x="279106" y="42862"/>
                    </a:lnTo>
                    <a:lnTo>
                      <a:pt x="254764" y="6358"/>
                    </a:lnTo>
                    <a:cubicBezTo>
                      <a:pt x="252115" y="2388"/>
                      <a:pt x="247660" y="3"/>
                      <a:pt x="242888" y="0"/>
                    </a:cubicBezTo>
                    <a:lnTo>
                      <a:pt x="128588" y="0"/>
                    </a:lnTo>
                    <a:cubicBezTo>
                      <a:pt x="123815" y="3"/>
                      <a:pt x="119360" y="2388"/>
                      <a:pt x="116711" y="6358"/>
                    </a:cubicBezTo>
                    <a:lnTo>
                      <a:pt x="92351" y="42862"/>
                    </a:lnTo>
                    <a:lnTo>
                      <a:pt x="42862" y="42862"/>
                    </a:lnTo>
                    <a:cubicBezTo>
                      <a:pt x="19190" y="42862"/>
                      <a:pt x="0" y="62053"/>
                      <a:pt x="0" y="85725"/>
                    </a:cubicBezTo>
                    <a:lnTo>
                      <a:pt x="0" y="285750"/>
                    </a:lnTo>
                    <a:cubicBezTo>
                      <a:pt x="0" y="309422"/>
                      <a:pt x="19190" y="328612"/>
                      <a:pt x="42862" y="328612"/>
                    </a:cubicBezTo>
                    <a:lnTo>
                      <a:pt x="328612" y="328612"/>
                    </a:lnTo>
                    <a:cubicBezTo>
                      <a:pt x="352285" y="328612"/>
                      <a:pt x="371475" y="309422"/>
                      <a:pt x="371475" y="285750"/>
                    </a:cubicBezTo>
                    <a:lnTo>
                      <a:pt x="371475" y="85725"/>
                    </a:lnTo>
                    <a:cubicBezTo>
                      <a:pt x="371475" y="62053"/>
                      <a:pt x="352285" y="42862"/>
                      <a:pt x="328612" y="42862"/>
                    </a:cubicBezTo>
                    <a:close/>
                    <a:moveTo>
                      <a:pt x="342900" y="285750"/>
                    </a:moveTo>
                    <a:cubicBezTo>
                      <a:pt x="342900" y="293641"/>
                      <a:pt x="336503" y="300038"/>
                      <a:pt x="328612" y="300038"/>
                    </a:cubicBezTo>
                    <a:lnTo>
                      <a:pt x="42862" y="300038"/>
                    </a:lnTo>
                    <a:cubicBezTo>
                      <a:pt x="34972" y="300038"/>
                      <a:pt x="28575" y="293641"/>
                      <a:pt x="28575" y="285750"/>
                    </a:cubicBezTo>
                    <a:lnTo>
                      <a:pt x="28575" y="85725"/>
                    </a:lnTo>
                    <a:cubicBezTo>
                      <a:pt x="28575" y="77834"/>
                      <a:pt x="34972" y="71438"/>
                      <a:pt x="42862" y="71438"/>
                    </a:cubicBezTo>
                    <a:lnTo>
                      <a:pt x="100012" y="71438"/>
                    </a:lnTo>
                    <a:cubicBezTo>
                      <a:pt x="104791" y="71441"/>
                      <a:pt x="109255" y="69055"/>
                      <a:pt x="111907" y="65080"/>
                    </a:cubicBezTo>
                    <a:lnTo>
                      <a:pt x="136231" y="28575"/>
                    </a:lnTo>
                    <a:lnTo>
                      <a:pt x="235226" y="28575"/>
                    </a:lnTo>
                    <a:lnTo>
                      <a:pt x="259568" y="65080"/>
                    </a:lnTo>
                    <a:cubicBezTo>
                      <a:pt x="262220" y="69055"/>
                      <a:pt x="266684" y="71441"/>
                      <a:pt x="271462" y="71438"/>
                    </a:cubicBezTo>
                    <a:lnTo>
                      <a:pt x="328612" y="71438"/>
                    </a:lnTo>
                    <a:cubicBezTo>
                      <a:pt x="336503" y="71438"/>
                      <a:pt x="342900" y="77834"/>
                      <a:pt x="342900" y="85725"/>
                    </a:cubicBezTo>
                    <a:close/>
                    <a:moveTo>
                      <a:pt x="185738" y="100012"/>
                    </a:moveTo>
                    <a:cubicBezTo>
                      <a:pt x="142338" y="100012"/>
                      <a:pt x="107156" y="135195"/>
                      <a:pt x="107156" y="178594"/>
                    </a:cubicBezTo>
                    <a:cubicBezTo>
                      <a:pt x="107156" y="221993"/>
                      <a:pt x="142338" y="257175"/>
                      <a:pt x="185738" y="257175"/>
                    </a:cubicBezTo>
                    <a:cubicBezTo>
                      <a:pt x="229137" y="257175"/>
                      <a:pt x="264319" y="221993"/>
                      <a:pt x="264319" y="178594"/>
                    </a:cubicBezTo>
                    <a:cubicBezTo>
                      <a:pt x="264270" y="135215"/>
                      <a:pt x="229116" y="100062"/>
                      <a:pt x="185737" y="100012"/>
                    </a:cubicBezTo>
                    <a:close/>
                    <a:moveTo>
                      <a:pt x="185738" y="228600"/>
                    </a:moveTo>
                    <a:cubicBezTo>
                      <a:pt x="158120" y="228600"/>
                      <a:pt x="135731" y="206211"/>
                      <a:pt x="135731" y="178594"/>
                    </a:cubicBezTo>
                    <a:cubicBezTo>
                      <a:pt x="135731" y="150976"/>
                      <a:pt x="158120" y="128588"/>
                      <a:pt x="185738" y="128588"/>
                    </a:cubicBezTo>
                    <a:cubicBezTo>
                      <a:pt x="213355" y="128588"/>
                      <a:pt x="235744" y="150976"/>
                      <a:pt x="235744" y="178594"/>
                    </a:cubicBezTo>
                    <a:cubicBezTo>
                      <a:pt x="235744" y="206211"/>
                      <a:pt x="213355" y="228600"/>
                      <a:pt x="185738" y="228600"/>
                    </a:cubicBezTo>
                    <a:close/>
                  </a:path>
                </a:pathLst>
              </a:custGeom>
              <a:solidFill>
                <a:srgbClr val="C084FC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045930" y="2306479"/>
              <a:ext cx="1718640" cy="580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Differentiable</a:t>
              </a:r>
            </a:p>
            <a:p>
              <a:pPr algn="ctr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Rasterizer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02268" y="2768918"/>
              <a:ext cx="2005965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Project 3D Gaussians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to screen-space 2D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80338" y="3250406"/>
              <a:ext cx="1449824" cy="600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Tile sort by depth</a:t>
              </a:r>
            </a:p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Alpha composite</a:t>
              </a:r>
            </a:p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front-to-back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876800" y="2876550"/>
            <a:ext cx="457200" cy="114300"/>
            <a:chOff x="4876800" y="2876550"/>
            <a:chExt cx="457200" cy="114300"/>
          </a:xfrm>
        </p:grpSpPr>
        <p:sp>
          <p:nvSpPr>
            <p:cNvPr id="30" name="Line 30"/>
            <p:cNvSpPr/>
            <p:nvPr/>
          </p:nvSpPr>
          <p:spPr>
            <a:xfrm>
              <a:off x="4876800" y="29337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C084FC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5219700" y="28765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5265082" y="1409700"/>
            <a:ext cx="2080935" cy="3048000"/>
            <a:chOff x="5265082" y="1409700"/>
            <a:chExt cx="2080935" cy="3048000"/>
          </a:xfrm>
        </p:grpSpPr>
        <p:sp>
          <p:nvSpPr>
            <p:cNvPr id="33" name="Freeform 33"/>
            <p:cNvSpPr/>
            <p:nvPr/>
          </p:nvSpPr>
          <p:spPr>
            <a:xfrm>
              <a:off x="5372100" y="1409700"/>
              <a:ext cx="1866900" cy="3048000"/>
            </a:xfrm>
            <a:custGeom>
              <a:avLst/>
              <a:gdLst/>
              <a:ahLst/>
              <a:cxnLst/>
              <a:rect l="l" t="t" r="r" b="b"/>
              <a:pathLst>
                <a:path w="1866900" h="3048000">
                  <a:moveTo>
                    <a:pt x="76200" y="0"/>
                  </a:moveTo>
                  <a:lnTo>
                    <a:pt x="1790700" y="0"/>
                  </a:lnTo>
                  <a:cubicBezTo>
                    <a:pt x="1832784" y="0"/>
                    <a:pt x="1866900" y="34116"/>
                    <a:pt x="1866900" y="76200"/>
                  </a:cubicBezTo>
                  <a:lnTo>
                    <a:pt x="1866900" y="2971800"/>
                  </a:lnTo>
                  <a:cubicBezTo>
                    <a:pt x="1866900" y="3013884"/>
                    <a:pt x="1832784" y="3048000"/>
                    <a:pt x="1790700" y="3048000"/>
                  </a:cubicBezTo>
                  <a:lnTo>
                    <a:pt x="76200" y="3048000"/>
                  </a:lnTo>
                  <a:cubicBezTo>
                    <a:pt x="34116" y="3048000"/>
                    <a:pt x="0" y="3013884"/>
                    <a:pt x="0" y="297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7C3AED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372100" y="1409700"/>
              <a:ext cx="1866900" cy="38100"/>
            </a:xfrm>
            <a:custGeom>
              <a:avLst/>
              <a:gdLst/>
              <a:ahLst/>
              <a:cxnLst/>
              <a:rect l="l" t="t" r="r" b="b"/>
              <a:pathLst>
                <a:path w="1866900" h="38100">
                  <a:moveTo>
                    <a:pt x="19050" y="0"/>
                  </a:moveTo>
                  <a:lnTo>
                    <a:pt x="1847850" y="0"/>
                  </a:lnTo>
                  <a:cubicBezTo>
                    <a:pt x="1858371" y="0"/>
                    <a:pt x="1866900" y="8529"/>
                    <a:pt x="1866900" y="19050"/>
                  </a:cubicBezTo>
                  <a:lnTo>
                    <a:pt x="1866900" y="19050"/>
                  </a:lnTo>
                  <a:cubicBezTo>
                    <a:pt x="1866900" y="29571"/>
                    <a:pt x="1858371" y="38100"/>
                    <a:pt x="18478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51988" y="1549718"/>
              <a:ext cx="7071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C3AED"/>
                  </a:solidFill>
                  <a:latin typeface="Poppins"/>
                  <a:ea typeface="Poppins"/>
                  <a:cs typeface="Poppins"/>
                </a:rPr>
                <a:t>③ LOSS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100009" y="1835336"/>
              <a:ext cx="414251" cy="411384"/>
              <a:chOff x="6100009" y="1835336"/>
              <a:chExt cx="414251" cy="41138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219825" y="19526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rgbClr val="7C3AE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00009" y="1835336"/>
                <a:ext cx="414251" cy="411384"/>
              </a:xfrm>
              <a:custGeom>
                <a:avLst/>
                <a:gdLst/>
                <a:ahLst/>
                <a:cxnLst/>
                <a:rect l="l" t="t" r="r" b="b"/>
                <a:pathLst>
                  <a:path w="414251" h="411384">
                    <a:moveTo>
                      <a:pt x="373187" y="122933"/>
                    </a:moveTo>
                    <a:cubicBezTo>
                      <a:pt x="414251" y="208817"/>
                      <a:pt x="383806" y="311845"/>
                      <a:pt x="302656" y="361614"/>
                    </a:cubicBezTo>
                    <a:cubicBezTo>
                      <a:pt x="221505" y="411384"/>
                      <a:pt x="115871" y="391814"/>
                      <a:pt x="57936" y="316276"/>
                    </a:cubicBezTo>
                    <a:cubicBezTo>
                      <a:pt x="0" y="240739"/>
                      <a:pt x="8484" y="133643"/>
                      <a:pt x="77589" y="68169"/>
                    </a:cubicBezTo>
                    <a:cubicBezTo>
                      <a:pt x="146695" y="2695"/>
                      <a:pt x="254093" y="0"/>
                      <a:pt x="326395" y="61925"/>
                    </a:cubicBezTo>
                    <a:lnTo>
                      <a:pt x="366883" y="21420"/>
                    </a:lnTo>
                    <a:cubicBezTo>
                      <a:pt x="372465" y="15837"/>
                      <a:pt x="381517" y="15837"/>
                      <a:pt x="387099" y="21420"/>
                    </a:cubicBezTo>
                    <a:cubicBezTo>
                      <a:pt x="392682" y="27003"/>
                      <a:pt x="392682" y="36054"/>
                      <a:pt x="387099" y="41637"/>
                    </a:cubicBezTo>
                    <a:lnTo>
                      <a:pt x="215649" y="213087"/>
                    </a:lnTo>
                    <a:cubicBezTo>
                      <a:pt x="210067" y="218670"/>
                      <a:pt x="201015" y="218670"/>
                      <a:pt x="195433" y="213087"/>
                    </a:cubicBezTo>
                    <a:cubicBezTo>
                      <a:pt x="189850" y="207504"/>
                      <a:pt x="189850" y="198453"/>
                      <a:pt x="195433" y="192870"/>
                    </a:cubicBezTo>
                    <a:lnTo>
                      <a:pt x="244939" y="143364"/>
                    </a:lnTo>
                    <a:cubicBezTo>
                      <a:pt x="217318" y="125096"/>
                      <a:pt x="180763" y="128206"/>
                      <a:pt x="156624" y="150878"/>
                    </a:cubicBezTo>
                    <a:cubicBezTo>
                      <a:pt x="132486" y="173549"/>
                      <a:pt x="127094" y="209838"/>
                      <a:pt x="143596" y="238548"/>
                    </a:cubicBezTo>
                    <a:cubicBezTo>
                      <a:pt x="160099" y="267259"/>
                      <a:pt x="194169" y="280865"/>
                      <a:pt x="225909" y="271418"/>
                    </a:cubicBezTo>
                    <a:cubicBezTo>
                      <a:pt x="257649" y="261972"/>
                      <a:pt x="278736" y="231951"/>
                      <a:pt x="276854" y="198889"/>
                    </a:cubicBezTo>
                    <a:cubicBezTo>
                      <a:pt x="276410" y="190998"/>
                      <a:pt x="282447" y="184241"/>
                      <a:pt x="290337" y="183798"/>
                    </a:cubicBezTo>
                    <a:cubicBezTo>
                      <a:pt x="298228" y="183354"/>
                      <a:pt x="304985" y="189391"/>
                      <a:pt x="305429" y="197281"/>
                    </a:cubicBezTo>
                    <a:cubicBezTo>
                      <a:pt x="308112" y="244109"/>
                      <a:pt x="277892" y="286510"/>
                      <a:pt x="232753" y="299253"/>
                    </a:cubicBezTo>
                    <a:cubicBezTo>
                      <a:pt x="187613" y="311997"/>
                      <a:pt x="139681" y="291659"/>
                      <a:pt x="117480" y="250342"/>
                    </a:cubicBezTo>
                    <a:cubicBezTo>
                      <a:pt x="95279" y="209025"/>
                      <a:pt x="104774" y="157830"/>
                      <a:pt x="140314" y="127221"/>
                    </a:cubicBezTo>
                    <a:cubicBezTo>
                      <a:pt x="175854" y="96613"/>
                      <a:pt x="227891" y="94815"/>
                      <a:pt x="265459" y="122897"/>
                    </a:cubicBezTo>
                    <a:lnTo>
                      <a:pt x="306089" y="82267"/>
                    </a:lnTo>
                    <a:cubicBezTo>
                      <a:pt x="244430" y="31074"/>
                      <a:pt x="154106" y="34558"/>
                      <a:pt x="96574" y="90348"/>
                    </a:cubicBezTo>
                    <a:cubicBezTo>
                      <a:pt x="39041" y="146138"/>
                      <a:pt x="32781" y="236312"/>
                      <a:pt x="82053" y="299516"/>
                    </a:cubicBezTo>
                    <a:cubicBezTo>
                      <a:pt x="131326" y="362720"/>
                      <a:pt x="220302" y="378651"/>
                      <a:pt x="288443" y="336468"/>
                    </a:cubicBezTo>
                    <a:cubicBezTo>
                      <a:pt x="356584" y="294286"/>
                      <a:pt x="382000" y="207542"/>
                      <a:pt x="347398" y="135256"/>
                    </a:cubicBezTo>
                    <a:cubicBezTo>
                      <a:pt x="343995" y="128134"/>
                      <a:pt x="347010" y="119603"/>
                      <a:pt x="354131" y="116200"/>
                    </a:cubicBezTo>
                    <a:cubicBezTo>
                      <a:pt x="361252" y="112797"/>
                      <a:pt x="369784" y="115811"/>
                      <a:pt x="373187" y="122933"/>
                    </a:cubicBezTo>
                    <a:close/>
                  </a:path>
                </a:pathLst>
              </a:custGeom>
              <a:solidFill>
                <a:srgbClr val="7C3AED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265082" y="2306479"/>
              <a:ext cx="20809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Image Comparison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82115" y="2578418"/>
              <a:ext cx="1246870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A855F7"/>
                  </a:solidFill>
                  <a:latin typeface="Consolas"/>
                  <a:ea typeface="Consolas"/>
                  <a:cs typeface="Consolas"/>
                </a:rPr>
                <a:t>L = (1-λ)L₁ +</a:t>
              </a:r>
            </a:p>
            <a:p>
              <a:pPr algn="ctr"/>
              <a:r>
                <a:rPr lang="en-US" sz="1350" dirty="0">
                  <a:solidFill>
                    <a:srgbClr val="A855F7"/>
                  </a:solidFill>
                  <a:latin typeface="Consolas"/>
                  <a:ea typeface="Consolas"/>
                  <a:cs typeface="Consolas"/>
                </a:rPr>
                <a:t>λ·L_D-SSIM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25797" y="3054668"/>
              <a:ext cx="1759506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Compare rendered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vs ground truth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6050" y="3440906"/>
              <a:ext cx="5790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λ = 0.2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77100" y="2876550"/>
            <a:ext cx="457200" cy="114300"/>
            <a:chOff x="7277100" y="2876550"/>
            <a:chExt cx="457200" cy="114300"/>
          </a:xfrm>
        </p:grpSpPr>
        <p:sp>
          <p:nvSpPr>
            <p:cNvPr id="44" name="Line 44"/>
            <p:cNvSpPr/>
            <p:nvPr/>
          </p:nvSpPr>
          <p:spPr>
            <a:xfrm>
              <a:off x="7277100" y="29337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7C3AED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7620000" y="28765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7772400" y="1409700"/>
            <a:ext cx="1866900" cy="3048000"/>
            <a:chOff x="7772400" y="1409700"/>
            <a:chExt cx="1866900" cy="3048000"/>
          </a:xfrm>
        </p:grpSpPr>
        <p:sp>
          <p:nvSpPr>
            <p:cNvPr id="47" name="Freeform 47"/>
            <p:cNvSpPr/>
            <p:nvPr/>
          </p:nvSpPr>
          <p:spPr>
            <a:xfrm>
              <a:off x="7772400" y="1409700"/>
              <a:ext cx="1866900" cy="3048000"/>
            </a:xfrm>
            <a:custGeom>
              <a:avLst/>
              <a:gdLst/>
              <a:ahLst/>
              <a:cxnLst/>
              <a:rect l="l" t="t" r="r" b="b"/>
              <a:pathLst>
                <a:path w="1866900" h="3048000">
                  <a:moveTo>
                    <a:pt x="76200" y="0"/>
                  </a:moveTo>
                  <a:lnTo>
                    <a:pt x="1790700" y="0"/>
                  </a:lnTo>
                  <a:cubicBezTo>
                    <a:pt x="1832784" y="0"/>
                    <a:pt x="1866900" y="34116"/>
                    <a:pt x="1866900" y="76200"/>
                  </a:cubicBezTo>
                  <a:lnTo>
                    <a:pt x="1866900" y="2971800"/>
                  </a:lnTo>
                  <a:cubicBezTo>
                    <a:pt x="1866900" y="3013884"/>
                    <a:pt x="1832784" y="3048000"/>
                    <a:pt x="1790700" y="3048000"/>
                  </a:cubicBezTo>
                  <a:lnTo>
                    <a:pt x="76200" y="3048000"/>
                  </a:lnTo>
                  <a:cubicBezTo>
                    <a:pt x="34116" y="3048000"/>
                    <a:pt x="0" y="3013884"/>
                    <a:pt x="0" y="297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A855F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772400" y="1409700"/>
              <a:ext cx="1866900" cy="38100"/>
            </a:xfrm>
            <a:custGeom>
              <a:avLst/>
              <a:gdLst/>
              <a:ahLst/>
              <a:cxnLst/>
              <a:rect l="l" t="t" r="r" b="b"/>
              <a:pathLst>
                <a:path w="1866900" h="38100">
                  <a:moveTo>
                    <a:pt x="19050" y="0"/>
                  </a:moveTo>
                  <a:lnTo>
                    <a:pt x="1847850" y="0"/>
                  </a:lnTo>
                  <a:cubicBezTo>
                    <a:pt x="1858371" y="0"/>
                    <a:pt x="1866900" y="8529"/>
                    <a:pt x="1866900" y="19050"/>
                  </a:cubicBezTo>
                  <a:lnTo>
                    <a:pt x="1866900" y="19050"/>
                  </a:lnTo>
                  <a:cubicBezTo>
                    <a:pt x="1866900" y="29571"/>
                    <a:pt x="1858371" y="38100"/>
                    <a:pt x="18478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55613" y="154971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④ OPTIMIZE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8518280" y="1850780"/>
              <a:ext cx="375193" cy="375193"/>
              <a:chOff x="8518280" y="1850780"/>
              <a:chExt cx="375193" cy="37519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533293" y="1865757"/>
                <a:ext cx="345275" cy="345293"/>
              </a:xfrm>
              <a:custGeom>
                <a:avLst/>
                <a:gdLst/>
                <a:ahLst/>
                <a:cxnLst/>
                <a:rect l="l" t="t" r="r" b="b"/>
                <a:pathLst>
                  <a:path w="345275" h="345293">
                    <a:moveTo>
                      <a:pt x="315182" y="163985"/>
                    </a:moveTo>
                    <a:lnTo>
                      <a:pt x="345150" y="126480"/>
                    </a:lnTo>
                    <a:cubicBezTo>
                      <a:pt x="341108" y="111286"/>
                      <a:pt x="335060" y="96697"/>
                      <a:pt x="327166" y="83100"/>
                    </a:cubicBezTo>
                    <a:lnTo>
                      <a:pt x="279481" y="77742"/>
                    </a:lnTo>
                    <a:cubicBezTo>
                      <a:pt x="275672" y="73450"/>
                      <a:pt x="271611" y="69389"/>
                      <a:pt x="267319" y="65580"/>
                    </a:cubicBezTo>
                    <a:lnTo>
                      <a:pt x="261961" y="17877"/>
                    </a:lnTo>
                    <a:cubicBezTo>
                      <a:pt x="248349" y="10030"/>
                      <a:pt x="233756" y="4025"/>
                      <a:pt x="218563" y="18"/>
                    </a:cubicBezTo>
                    <a:lnTo>
                      <a:pt x="181058" y="29968"/>
                    </a:lnTo>
                    <a:cubicBezTo>
                      <a:pt x="175325" y="29629"/>
                      <a:pt x="169576" y="29629"/>
                      <a:pt x="163842" y="29968"/>
                    </a:cubicBezTo>
                    <a:lnTo>
                      <a:pt x="126337" y="0"/>
                    </a:lnTo>
                    <a:cubicBezTo>
                      <a:pt x="111192" y="4054"/>
                      <a:pt x="96652" y="10102"/>
                      <a:pt x="83100" y="17984"/>
                    </a:cubicBezTo>
                    <a:lnTo>
                      <a:pt x="77742" y="65669"/>
                    </a:lnTo>
                    <a:cubicBezTo>
                      <a:pt x="73450" y="69478"/>
                      <a:pt x="69389" y="73539"/>
                      <a:pt x="65580" y="77831"/>
                    </a:cubicBezTo>
                    <a:lnTo>
                      <a:pt x="17877" y="83189"/>
                    </a:lnTo>
                    <a:cubicBezTo>
                      <a:pt x="10030" y="96801"/>
                      <a:pt x="4025" y="111395"/>
                      <a:pt x="18" y="126587"/>
                    </a:cubicBezTo>
                    <a:lnTo>
                      <a:pt x="29968" y="164092"/>
                    </a:lnTo>
                    <a:cubicBezTo>
                      <a:pt x="29629" y="169826"/>
                      <a:pt x="29629" y="175575"/>
                      <a:pt x="29968" y="181308"/>
                    </a:cubicBezTo>
                    <a:lnTo>
                      <a:pt x="0" y="218813"/>
                    </a:lnTo>
                    <a:cubicBezTo>
                      <a:pt x="4042" y="234008"/>
                      <a:pt x="10090" y="248596"/>
                      <a:pt x="17984" y="262193"/>
                    </a:cubicBezTo>
                    <a:lnTo>
                      <a:pt x="65669" y="267551"/>
                    </a:lnTo>
                    <a:cubicBezTo>
                      <a:pt x="69478" y="271843"/>
                      <a:pt x="73539" y="275904"/>
                      <a:pt x="77831" y="279714"/>
                    </a:cubicBezTo>
                    <a:lnTo>
                      <a:pt x="83189" y="327416"/>
                    </a:lnTo>
                    <a:cubicBezTo>
                      <a:pt x="96801" y="335263"/>
                      <a:pt x="111395" y="341268"/>
                      <a:pt x="126587" y="345275"/>
                    </a:cubicBezTo>
                    <a:lnTo>
                      <a:pt x="164092" y="315325"/>
                    </a:lnTo>
                    <a:cubicBezTo>
                      <a:pt x="169826" y="315664"/>
                      <a:pt x="175575" y="315664"/>
                      <a:pt x="181308" y="315325"/>
                    </a:cubicBezTo>
                    <a:lnTo>
                      <a:pt x="218813" y="345293"/>
                    </a:lnTo>
                    <a:cubicBezTo>
                      <a:pt x="234008" y="341251"/>
                      <a:pt x="248596" y="335203"/>
                      <a:pt x="262193" y="327309"/>
                    </a:cubicBezTo>
                    <a:lnTo>
                      <a:pt x="267551" y="279624"/>
                    </a:lnTo>
                    <a:cubicBezTo>
                      <a:pt x="271843" y="275815"/>
                      <a:pt x="275904" y="271754"/>
                      <a:pt x="279714" y="267462"/>
                    </a:cubicBezTo>
                    <a:lnTo>
                      <a:pt x="327416" y="262104"/>
                    </a:lnTo>
                    <a:cubicBezTo>
                      <a:pt x="335263" y="248492"/>
                      <a:pt x="341268" y="233898"/>
                      <a:pt x="345275" y="218706"/>
                    </a:cubicBezTo>
                    <a:lnTo>
                      <a:pt x="315325" y="181201"/>
                    </a:lnTo>
                    <a:cubicBezTo>
                      <a:pt x="315617" y="175465"/>
                      <a:pt x="315569" y="169716"/>
                      <a:pt x="315182" y="163985"/>
                    </a:cubicBezTo>
                    <a:close/>
                    <a:moveTo>
                      <a:pt x="172557" y="244031"/>
                    </a:moveTo>
                    <a:cubicBezTo>
                      <a:pt x="133103" y="244031"/>
                      <a:pt x="101120" y="212047"/>
                      <a:pt x="101120" y="172593"/>
                    </a:cubicBezTo>
                    <a:cubicBezTo>
                      <a:pt x="101120" y="133139"/>
                      <a:pt x="133103" y="101156"/>
                      <a:pt x="172557" y="101156"/>
                    </a:cubicBezTo>
                    <a:cubicBezTo>
                      <a:pt x="212011" y="101156"/>
                      <a:pt x="243995" y="133139"/>
                      <a:pt x="243995" y="172593"/>
                    </a:cubicBezTo>
                    <a:cubicBezTo>
                      <a:pt x="243995" y="212047"/>
                      <a:pt x="212011" y="244031"/>
                      <a:pt x="172557" y="244031"/>
                    </a:cubicBezTo>
                    <a:close/>
                  </a:path>
                </a:pathLst>
              </a:custGeom>
              <a:solidFill>
                <a:srgbClr val="A855F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518280" y="1850780"/>
                <a:ext cx="375193" cy="375193"/>
              </a:xfrm>
              <a:custGeom>
                <a:avLst/>
                <a:gdLst/>
                <a:ahLst/>
                <a:cxnLst/>
                <a:rect l="l" t="t" r="r" b="b"/>
                <a:pathLst>
                  <a:path w="375193" h="375193">
                    <a:moveTo>
                      <a:pt x="187570" y="101845"/>
                    </a:moveTo>
                    <a:cubicBezTo>
                      <a:pt x="140225" y="101845"/>
                      <a:pt x="101845" y="140225"/>
                      <a:pt x="101845" y="187570"/>
                    </a:cubicBezTo>
                    <a:cubicBezTo>
                      <a:pt x="101845" y="234914"/>
                      <a:pt x="140225" y="273295"/>
                      <a:pt x="187570" y="273295"/>
                    </a:cubicBezTo>
                    <a:cubicBezTo>
                      <a:pt x="234914" y="273295"/>
                      <a:pt x="273295" y="234914"/>
                      <a:pt x="273295" y="187570"/>
                    </a:cubicBezTo>
                    <a:cubicBezTo>
                      <a:pt x="273245" y="140245"/>
                      <a:pt x="234894" y="101894"/>
                      <a:pt x="187570" y="101845"/>
                    </a:cubicBezTo>
                    <a:close/>
                    <a:moveTo>
                      <a:pt x="187570" y="244720"/>
                    </a:moveTo>
                    <a:cubicBezTo>
                      <a:pt x="156007" y="244720"/>
                      <a:pt x="130420" y="219133"/>
                      <a:pt x="130420" y="187570"/>
                    </a:cubicBezTo>
                    <a:cubicBezTo>
                      <a:pt x="130420" y="156007"/>
                      <a:pt x="156007" y="130420"/>
                      <a:pt x="187570" y="130420"/>
                    </a:cubicBezTo>
                    <a:cubicBezTo>
                      <a:pt x="219133" y="130420"/>
                      <a:pt x="244720" y="156007"/>
                      <a:pt x="244720" y="187570"/>
                    </a:cubicBezTo>
                    <a:cubicBezTo>
                      <a:pt x="244720" y="219133"/>
                      <a:pt x="219133" y="244720"/>
                      <a:pt x="187570" y="244720"/>
                    </a:cubicBezTo>
                    <a:close/>
                    <a:moveTo>
                      <a:pt x="344732" y="191427"/>
                    </a:moveTo>
                    <a:cubicBezTo>
                      <a:pt x="344804" y="188855"/>
                      <a:pt x="344804" y="186284"/>
                      <a:pt x="344732" y="183712"/>
                    </a:cubicBezTo>
                    <a:lnTo>
                      <a:pt x="371378" y="150422"/>
                    </a:lnTo>
                    <a:cubicBezTo>
                      <a:pt x="374212" y="146877"/>
                      <a:pt x="375193" y="142198"/>
                      <a:pt x="374021" y="137813"/>
                    </a:cubicBezTo>
                    <a:cubicBezTo>
                      <a:pt x="369645" y="121396"/>
                      <a:pt x="363111" y="105632"/>
                      <a:pt x="354590" y="90933"/>
                    </a:cubicBezTo>
                    <a:cubicBezTo>
                      <a:pt x="352326" y="87033"/>
                      <a:pt x="348354" y="84431"/>
                      <a:pt x="343875" y="83914"/>
                    </a:cubicBezTo>
                    <a:lnTo>
                      <a:pt x="301512" y="79199"/>
                    </a:lnTo>
                    <a:cubicBezTo>
                      <a:pt x="299750" y="77342"/>
                      <a:pt x="297964" y="75556"/>
                      <a:pt x="296155" y="73841"/>
                    </a:cubicBezTo>
                    <a:lnTo>
                      <a:pt x="291154" y="31372"/>
                    </a:lnTo>
                    <a:cubicBezTo>
                      <a:pt x="290632" y="26889"/>
                      <a:pt x="288024" y="22916"/>
                      <a:pt x="284117" y="20656"/>
                    </a:cubicBezTo>
                    <a:cubicBezTo>
                      <a:pt x="269419" y="12141"/>
                      <a:pt x="253654" y="5619"/>
                      <a:pt x="237237" y="1261"/>
                    </a:cubicBezTo>
                    <a:cubicBezTo>
                      <a:pt x="232852" y="89"/>
                      <a:pt x="228172" y="1070"/>
                      <a:pt x="224628" y="3904"/>
                    </a:cubicBezTo>
                    <a:lnTo>
                      <a:pt x="191427" y="30407"/>
                    </a:lnTo>
                    <a:cubicBezTo>
                      <a:pt x="188855" y="30407"/>
                      <a:pt x="186284" y="30407"/>
                      <a:pt x="183712" y="30407"/>
                    </a:cubicBezTo>
                    <a:lnTo>
                      <a:pt x="150422" y="3814"/>
                    </a:lnTo>
                    <a:cubicBezTo>
                      <a:pt x="146877" y="981"/>
                      <a:pt x="142198" y="0"/>
                      <a:pt x="137813" y="1171"/>
                    </a:cubicBezTo>
                    <a:cubicBezTo>
                      <a:pt x="121396" y="5547"/>
                      <a:pt x="105632" y="12081"/>
                      <a:pt x="90933" y="20602"/>
                    </a:cubicBezTo>
                    <a:cubicBezTo>
                      <a:pt x="87033" y="22867"/>
                      <a:pt x="84431" y="26839"/>
                      <a:pt x="83914" y="31318"/>
                    </a:cubicBezTo>
                    <a:lnTo>
                      <a:pt x="79199" y="73752"/>
                    </a:lnTo>
                    <a:cubicBezTo>
                      <a:pt x="77342" y="75526"/>
                      <a:pt x="75556" y="77312"/>
                      <a:pt x="73841" y="79110"/>
                    </a:cubicBezTo>
                    <a:lnTo>
                      <a:pt x="31372" y="83985"/>
                    </a:lnTo>
                    <a:cubicBezTo>
                      <a:pt x="26889" y="84507"/>
                      <a:pt x="22916" y="87116"/>
                      <a:pt x="20656" y="91022"/>
                    </a:cubicBezTo>
                    <a:cubicBezTo>
                      <a:pt x="12143" y="105723"/>
                      <a:pt x="5615" y="121487"/>
                      <a:pt x="1243" y="137903"/>
                    </a:cubicBezTo>
                    <a:cubicBezTo>
                      <a:pt x="76" y="142290"/>
                      <a:pt x="1064" y="146970"/>
                      <a:pt x="3904" y="150511"/>
                    </a:cubicBezTo>
                    <a:lnTo>
                      <a:pt x="30407" y="183712"/>
                    </a:lnTo>
                    <a:cubicBezTo>
                      <a:pt x="30407" y="186284"/>
                      <a:pt x="30407" y="188855"/>
                      <a:pt x="30407" y="191427"/>
                    </a:cubicBezTo>
                    <a:lnTo>
                      <a:pt x="3814" y="224717"/>
                    </a:lnTo>
                    <a:cubicBezTo>
                      <a:pt x="981" y="228262"/>
                      <a:pt x="0" y="232942"/>
                      <a:pt x="1171" y="237326"/>
                    </a:cubicBezTo>
                    <a:cubicBezTo>
                      <a:pt x="5547" y="253743"/>
                      <a:pt x="12081" y="269507"/>
                      <a:pt x="20602" y="284207"/>
                    </a:cubicBezTo>
                    <a:cubicBezTo>
                      <a:pt x="22867" y="288106"/>
                      <a:pt x="26839" y="290708"/>
                      <a:pt x="31318" y="291225"/>
                    </a:cubicBezTo>
                    <a:lnTo>
                      <a:pt x="73680" y="295940"/>
                    </a:lnTo>
                    <a:cubicBezTo>
                      <a:pt x="75454" y="297798"/>
                      <a:pt x="77240" y="299584"/>
                      <a:pt x="79038" y="301298"/>
                    </a:cubicBezTo>
                    <a:lnTo>
                      <a:pt x="83985" y="343768"/>
                    </a:lnTo>
                    <a:cubicBezTo>
                      <a:pt x="84507" y="348250"/>
                      <a:pt x="87116" y="352223"/>
                      <a:pt x="91022" y="354483"/>
                    </a:cubicBezTo>
                    <a:cubicBezTo>
                      <a:pt x="105723" y="362996"/>
                      <a:pt x="121487" y="369524"/>
                      <a:pt x="137903" y="373896"/>
                    </a:cubicBezTo>
                    <a:cubicBezTo>
                      <a:pt x="142290" y="375063"/>
                      <a:pt x="146970" y="374075"/>
                      <a:pt x="150511" y="371235"/>
                    </a:cubicBezTo>
                    <a:lnTo>
                      <a:pt x="183712" y="344732"/>
                    </a:lnTo>
                    <a:cubicBezTo>
                      <a:pt x="186284" y="344804"/>
                      <a:pt x="188855" y="344804"/>
                      <a:pt x="191427" y="344732"/>
                    </a:cubicBezTo>
                    <a:lnTo>
                      <a:pt x="224717" y="371378"/>
                    </a:lnTo>
                    <a:cubicBezTo>
                      <a:pt x="228262" y="374212"/>
                      <a:pt x="232942" y="375193"/>
                      <a:pt x="237326" y="374021"/>
                    </a:cubicBezTo>
                    <a:cubicBezTo>
                      <a:pt x="253746" y="369653"/>
                      <a:pt x="269511" y="363119"/>
                      <a:pt x="284207" y="354590"/>
                    </a:cubicBezTo>
                    <a:cubicBezTo>
                      <a:pt x="288106" y="352326"/>
                      <a:pt x="290708" y="348354"/>
                      <a:pt x="291225" y="343875"/>
                    </a:cubicBezTo>
                    <a:lnTo>
                      <a:pt x="295940" y="301512"/>
                    </a:lnTo>
                    <a:cubicBezTo>
                      <a:pt x="297798" y="299750"/>
                      <a:pt x="299584" y="297964"/>
                      <a:pt x="301298" y="296155"/>
                    </a:cubicBezTo>
                    <a:lnTo>
                      <a:pt x="343768" y="291154"/>
                    </a:lnTo>
                    <a:cubicBezTo>
                      <a:pt x="348250" y="290632"/>
                      <a:pt x="352223" y="288024"/>
                      <a:pt x="354483" y="284117"/>
                    </a:cubicBezTo>
                    <a:cubicBezTo>
                      <a:pt x="362996" y="269416"/>
                      <a:pt x="369524" y="253652"/>
                      <a:pt x="373896" y="237237"/>
                    </a:cubicBezTo>
                    <a:cubicBezTo>
                      <a:pt x="375063" y="232850"/>
                      <a:pt x="374075" y="228169"/>
                      <a:pt x="371235" y="224628"/>
                    </a:cubicBezTo>
                    <a:close/>
                    <a:moveTo>
                      <a:pt x="315979" y="179819"/>
                    </a:moveTo>
                    <a:cubicBezTo>
                      <a:pt x="316282" y="184981"/>
                      <a:pt x="316282" y="190158"/>
                      <a:pt x="315979" y="195321"/>
                    </a:cubicBezTo>
                    <a:cubicBezTo>
                      <a:pt x="315766" y="198855"/>
                      <a:pt x="316873" y="202343"/>
                      <a:pt x="319086" y="205108"/>
                    </a:cubicBezTo>
                    <a:lnTo>
                      <a:pt x="344428" y="236772"/>
                    </a:lnTo>
                    <a:cubicBezTo>
                      <a:pt x="341521" y="246014"/>
                      <a:pt x="337797" y="254979"/>
                      <a:pt x="333302" y="263561"/>
                    </a:cubicBezTo>
                    <a:lnTo>
                      <a:pt x="292940" y="268133"/>
                    </a:lnTo>
                    <a:cubicBezTo>
                      <a:pt x="289425" y="268523"/>
                      <a:pt x="286180" y="270203"/>
                      <a:pt x="283832" y="272848"/>
                    </a:cubicBezTo>
                    <a:cubicBezTo>
                      <a:pt x="280394" y="276715"/>
                      <a:pt x="276732" y="280376"/>
                      <a:pt x="272866" y="283814"/>
                    </a:cubicBezTo>
                    <a:cubicBezTo>
                      <a:pt x="270221" y="286162"/>
                      <a:pt x="268541" y="289407"/>
                      <a:pt x="268151" y="292922"/>
                    </a:cubicBezTo>
                    <a:lnTo>
                      <a:pt x="263668" y="333249"/>
                    </a:lnTo>
                    <a:cubicBezTo>
                      <a:pt x="255087" y="337746"/>
                      <a:pt x="246122" y="341469"/>
                      <a:pt x="236879" y="344375"/>
                    </a:cubicBezTo>
                    <a:lnTo>
                      <a:pt x="205197" y="319032"/>
                    </a:lnTo>
                    <a:cubicBezTo>
                      <a:pt x="202662" y="317007"/>
                      <a:pt x="199512" y="315905"/>
                      <a:pt x="196267" y="315907"/>
                    </a:cubicBezTo>
                    <a:lnTo>
                      <a:pt x="195410" y="315907"/>
                    </a:lnTo>
                    <a:cubicBezTo>
                      <a:pt x="190247" y="316211"/>
                      <a:pt x="185071" y="316211"/>
                      <a:pt x="179908" y="315907"/>
                    </a:cubicBezTo>
                    <a:cubicBezTo>
                      <a:pt x="176375" y="315705"/>
                      <a:pt x="172890" y="316811"/>
                      <a:pt x="170121" y="319015"/>
                    </a:cubicBezTo>
                    <a:lnTo>
                      <a:pt x="138367" y="344375"/>
                    </a:lnTo>
                    <a:cubicBezTo>
                      <a:pt x="129125" y="341467"/>
                      <a:pt x="120160" y="337744"/>
                      <a:pt x="111578" y="333249"/>
                    </a:cubicBezTo>
                    <a:lnTo>
                      <a:pt x="107006" y="292940"/>
                    </a:lnTo>
                    <a:cubicBezTo>
                      <a:pt x="106616" y="289425"/>
                      <a:pt x="104936" y="286180"/>
                      <a:pt x="102291" y="283832"/>
                    </a:cubicBezTo>
                    <a:cubicBezTo>
                      <a:pt x="98425" y="280394"/>
                      <a:pt x="94763" y="276732"/>
                      <a:pt x="91325" y="272866"/>
                    </a:cubicBezTo>
                    <a:cubicBezTo>
                      <a:pt x="88978" y="270221"/>
                      <a:pt x="85732" y="268541"/>
                      <a:pt x="82217" y="268151"/>
                    </a:cubicBezTo>
                    <a:lnTo>
                      <a:pt x="41891" y="263651"/>
                    </a:lnTo>
                    <a:cubicBezTo>
                      <a:pt x="37394" y="255069"/>
                      <a:pt x="33670" y="246104"/>
                      <a:pt x="30764" y="236861"/>
                    </a:cubicBezTo>
                    <a:lnTo>
                      <a:pt x="56107" y="205179"/>
                    </a:lnTo>
                    <a:cubicBezTo>
                      <a:pt x="58320" y="202414"/>
                      <a:pt x="59427" y="198927"/>
                      <a:pt x="59214" y="195392"/>
                    </a:cubicBezTo>
                    <a:cubicBezTo>
                      <a:pt x="58911" y="190229"/>
                      <a:pt x="58911" y="185053"/>
                      <a:pt x="59214" y="179890"/>
                    </a:cubicBezTo>
                    <a:cubicBezTo>
                      <a:pt x="59427" y="176355"/>
                      <a:pt x="58320" y="172868"/>
                      <a:pt x="56107" y="170103"/>
                    </a:cubicBezTo>
                    <a:lnTo>
                      <a:pt x="30764" y="138367"/>
                    </a:lnTo>
                    <a:cubicBezTo>
                      <a:pt x="33672" y="129125"/>
                      <a:pt x="37396" y="120160"/>
                      <a:pt x="41891" y="111578"/>
                    </a:cubicBezTo>
                    <a:lnTo>
                      <a:pt x="82199" y="107006"/>
                    </a:lnTo>
                    <a:cubicBezTo>
                      <a:pt x="85714" y="106616"/>
                      <a:pt x="88960" y="104936"/>
                      <a:pt x="91308" y="102291"/>
                    </a:cubicBezTo>
                    <a:cubicBezTo>
                      <a:pt x="94745" y="98425"/>
                      <a:pt x="98407" y="94763"/>
                      <a:pt x="102273" y="91325"/>
                    </a:cubicBezTo>
                    <a:cubicBezTo>
                      <a:pt x="104928" y="88976"/>
                      <a:pt x="106615" y="85723"/>
                      <a:pt x="107006" y="82199"/>
                    </a:cubicBezTo>
                    <a:lnTo>
                      <a:pt x="111489" y="41891"/>
                    </a:lnTo>
                    <a:cubicBezTo>
                      <a:pt x="120070" y="37394"/>
                      <a:pt x="129035" y="33670"/>
                      <a:pt x="138278" y="30764"/>
                    </a:cubicBezTo>
                    <a:lnTo>
                      <a:pt x="169960" y="56107"/>
                    </a:lnTo>
                    <a:cubicBezTo>
                      <a:pt x="172725" y="58320"/>
                      <a:pt x="176213" y="59427"/>
                      <a:pt x="179747" y="59214"/>
                    </a:cubicBezTo>
                    <a:cubicBezTo>
                      <a:pt x="184910" y="58911"/>
                      <a:pt x="190086" y="58911"/>
                      <a:pt x="195249" y="59214"/>
                    </a:cubicBezTo>
                    <a:cubicBezTo>
                      <a:pt x="198783" y="59417"/>
                      <a:pt x="202267" y="58311"/>
                      <a:pt x="205036" y="56107"/>
                    </a:cubicBezTo>
                    <a:lnTo>
                      <a:pt x="236772" y="30764"/>
                    </a:lnTo>
                    <a:cubicBezTo>
                      <a:pt x="246014" y="33672"/>
                      <a:pt x="254979" y="37396"/>
                      <a:pt x="263561" y="41891"/>
                    </a:cubicBezTo>
                    <a:lnTo>
                      <a:pt x="268133" y="82199"/>
                    </a:lnTo>
                    <a:cubicBezTo>
                      <a:pt x="268523" y="85714"/>
                      <a:pt x="270203" y="88960"/>
                      <a:pt x="272848" y="91308"/>
                    </a:cubicBezTo>
                    <a:cubicBezTo>
                      <a:pt x="276715" y="94745"/>
                      <a:pt x="280376" y="98407"/>
                      <a:pt x="283814" y="102273"/>
                    </a:cubicBezTo>
                    <a:cubicBezTo>
                      <a:pt x="286162" y="104918"/>
                      <a:pt x="289407" y="106598"/>
                      <a:pt x="292922" y="106988"/>
                    </a:cubicBezTo>
                    <a:lnTo>
                      <a:pt x="333249" y="111471"/>
                    </a:lnTo>
                    <a:cubicBezTo>
                      <a:pt x="337746" y="120052"/>
                      <a:pt x="341469" y="129017"/>
                      <a:pt x="344375" y="138260"/>
                    </a:cubicBezTo>
                    <a:lnTo>
                      <a:pt x="319032" y="169942"/>
                    </a:lnTo>
                    <a:cubicBezTo>
                      <a:pt x="316798" y="172730"/>
                      <a:pt x="315690" y="176254"/>
                      <a:pt x="315925" y="179819"/>
                    </a:cubicBezTo>
                    <a:close/>
                  </a:path>
                </a:pathLst>
              </a:custGeom>
              <a:solidFill>
                <a:srgbClr val="A855F7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774071" y="2306479"/>
              <a:ext cx="186355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Adam Optimizer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11310" y="2578418"/>
              <a:ext cx="1789081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Update: μ, q, s,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o, SH coefficients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35754" y="3059906"/>
              <a:ext cx="1540192" cy="600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Separate LR per</a:t>
              </a:r>
            </a:p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attribute type</a:t>
              </a:r>
            </a:p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exp activation on 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677400" y="2876550"/>
            <a:ext cx="457200" cy="114300"/>
            <a:chOff x="9677400" y="2876550"/>
            <a:chExt cx="457200" cy="114300"/>
          </a:xfrm>
        </p:grpSpPr>
        <p:sp>
          <p:nvSpPr>
            <p:cNvPr id="57" name="Line 57"/>
            <p:cNvSpPr/>
            <p:nvPr/>
          </p:nvSpPr>
          <p:spPr>
            <a:xfrm>
              <a:off x="9677400" y="29337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22C55E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10020300" y="28765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10113988" y="1409700"/>
            <a:ext cx="1984323" cy="3048000"/>
            <a:chOff x="10113988" y="1409700"/>
            <a:chExt cx="1984323" cy="3048000"/>
          </a:xfrm>
        </p:grpSpPr>
        <p:sp>
          <p:nvSpPr>
            <p:cNvPr id="60" name="Freeform 60"/>
            <p:cNvSpPr/>
            <p:nvPr/>
          </p:nvSpPr>
          <p:spPr>
            <a:xfrm>
              <a:off x="10172700" y="1409700"/>
              <a:ext cx="1866900" cy="3048000"/>
            </a:xfrm>
            <a:custGeom>
              <a:avLst/>
              <a:gdLst/>
              <a:ahLst/>
              <a:cxnLst/>
              <a:rect l="l" t="t" r="r" b="b"/>
              <a:pathLst>
                <a:path w="1866900" h="3048000">
                  <a:moveTo>
                    <a:pt x="76200" y="0"/>
                  </a:moveTo>
                  <a:lnTo>
                    <a:pt x="1790700" y="0"/>
                  </a:lnTo>
                  <a:cubicBezTo>
                    <a:pt x="1832784" y="0"/>
                    <a:pt x="1866900" y="34116"/>
                    <a:pt x="1866900" y="76200"/>
                  </a:cubicBezTo>
                  <a:lnTo>
                    <a:pt x="1866900" y="2971800"/>
                  </a:lnTo>
                  <a:cubicBezTo>
                    <a:pt x="1866900" y="3013884"/>
                    <a:pt x="1832784" y="3048000"/>
                    <a:pt x="1790700" y="3048000"/>
                  </a:cubicBezTo>
                  <a:lnTo>
                    <a:pt x="76200" y="3048000"/>
                  </a:lnTo>
                  <a:cubicBezTo>
                    <a:pt x="34116" y="3048000"/>
                    <a:pt x="0" y="3013884"/>
                    <a:pt x="0" y="297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22C55E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0172700" y="1409700"/>
              <a:ext cx="1866900" cy="38100"/>
            </a:xfrm>
            <a:custGeom>
              <a:avLst/>
              <a:gdLst/>
              <a:ahLst/>
              <a:cxnLst/>
              <a:rect l="l" t="t" r="r" b="b"/>
              <a:pathLst>
                <a:path w="1866900" h="38100">
                  <a:moveTo>
                    <a:pt x="19050" y="0"/>
                  </a:moveTo>
                  <a:lnTo>
                    <a:pt x="1847850" y="0"/>
                  </a:lnTo>
                  <a:cubicBezTo>
                    <a:pt x="1858371" y="0"/>
                    <a:pt x="1866900" y="8529"/>
                    <a:pt x="1866900" y="19050"/>
                  </a:cubicBezTo>
                  <a:lnTo>
                    <a:pt x="1866900" y="19050"/>
                  </a:lnTo>
                  <a:cubicBezTo>
                    <a:pt x="1866900" y="29571"/>
                    <a:pt x="1858371" y="38100"/>
                    <a:pt x="18478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224672" y="1549718"/>
              <a:ext cx="17629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⑤ DENSIFY / PRUNE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10906125" y="1866900"/>
              <a:ext cx="385762" cy="342900"/>
              <a:chOff x="10906125" y="1866900"/>
              <a:chExt cx="385762" cy="3429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10920412" y="1881188"/>
                <a:ext cx="357188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57188" h="314325">
                    <a:moveTo>
                      <a:pt x="85725" y="128588"/>
                    </a:moveTo>
                    <a:lnTo>
                      <a:pt x="85725" y="185738"/>
                    </a:lnTo>
                    <a:cubicBezTo>
                      <a:pt x="85725" y="193628"/>
                      <a:pt x="79328" y="200025"/>
                      <a:pt x="71438" y="200025"/>
                    </a:cubicBezTo>
                    <a:lnTo>
                      <a:pt x="14288" y="200025"/>
                    </a:lnTo>
                    <a:cubicBezTo>
                      <a:pt x="6397" y="200025"/>
                      <a:pt x="0" y="193628"/>
                      <a:pt x="0" y="185738"/>
                    </a:cubicBezTo>
                    <a:lnTo>
                      <a:pt x="0" y="128588"/>
                    </a:lnTo>
                    <a:cubicBezTo>
                      <a:pt x="0" y="120697"/>
                      <a:pt x="6397" y="114300"/>
                      <a:pt x="14288" y="114300"/>
                    </a:cubicBezTo>
                    <a:lnTo>
                      <a:pt x="71438" y="114300"/>
                    </a:lnTo>
                    <a:cubicBezTo>
                      <a:pt x="79328" y="114300"/>
                      <a:pt x="85725" y="120697"/>
                      <a:pt x="85725" y="128588"/>
                    </a:cubicBezTo>
                    <a:close/>
                    <a:moveTo>
                      <a:pt x="342900" y="0"/>
                    </a:moveTo>
                    <a:lnTo>
                      <a:pt x="257175" y="0"/>
                    </a:lnTo>
                    <a:cubicBezTo>
                      <a:pt x="249284" y="0"/>
                      <a:pt x="242888" y="6397"/>
                      <a:pt x="242888" y="14288"/>
                    </a:cubicBezTo>
                    <a:lnTo>
                      <a:pt x="242888" y="100012"/>
                    </a:lnTo>
                    <a:cubicBezTo>
                      <a:pt x="242888" y="107903"/>
                      <a:pt x="249284" y="114300"/>
                      <a:pt x="257175" y="114300"/>
                    </a:cubicBezTo>
                    <a:lnTo>
                      <a:pt x="342900" y="114300"/>
                    </a:lnTo>
                    <a:cubicBezTo>
                      <a:pt x="350791" y="114300"/>
                      <a:pt x="357188" y="107903"/>
                      <a:pt x="357188" y="100012"/>
                    </a:cubicBezTo>
                    <a:lnTo>
                      <a:pt x="357188" y="14288"/>
                    </a:lnTo>
                    <a:cubicBezTo>
                      <a:pt x="357188" y="6397"/>
                      <a:pt x="350791" y="0"/>
                      <a:pt x="342900" y="0"/>
                    </a:cubicBezTo>
                    <a:close/>
                    <a:moveTo>
                      <a:pt x="342900" y="200025"/>
                    </a:moveTo>
                    <a:lnTo>
                      <a:pt x="257175" y="200025"/>
                    </a:lnTo>
                    <a:cubicBezTo>
                      <a:pt x="249284" y="200025"/>
                      <a:pt x="242888" y="206422"/>
                      <a:pt x="242888" y="214312"/>
                    </a:cubicBezTo>
                    <a:lnTo>
                      <a:pt x="242888" y="300038"/>
                    </a:lnTo>
                    <a:cubicBezTo>
                      <a:pt x="242888" y="307928"/>
                      <a:pt x="249284" y="314325"/>
                      <a:pt x="257175" y="314325"/>
                    </a:cubicBezTo>
                    <a:lnTo>
                      <a:pt x="342900" y="314325"/>
                    </a:lnTo>
                    <a:cubicBezTo>
                      <a:pt x="350791" y="314325"/>
                      <a:pt x="357188" y="307928"/>
                      <a:pt x="357188" y="300038"/>
                    </a:cubicBezTo>
                    <a:lnTo>
                      <a:pt x="357188" y="214312"/>
                    </a:lnTo>
                    <a:cubicBezTo>
                      <a:pt x="357188" y="206422"/>
                      <a:pt x="350791" y="200025"/>
                      <a:pt x="342900" y="200025"/>
                    </a:cubicBezTo>
                    <a:close/>
                  </a:path>
                </a:pathLst>
              </a:custGeom>
              <a:solidFill>
                <a:srgbClr val="22C55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0906125" y="1866900"/>
                <a:ext cx="385762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85762" h="342900">
                    <a:moveTo>
                      <a:pt x="271462" y="142875"/>
                    </a:moveTo>
                    <a:lnTo>
                      <a:pt x="357188" y="142875"/>
                    </a:lnTo>
                    <a:cubicBezTo>
                      <a:pt x="372969" y="142875"/>
                      <a:pt x="385762" y="130082"/>
                      <a:pt x="385762" y="114300"/>
                    </a:cubicBezTo>
                    <a:lnTo>
                      <a:pt x="385762" y="28575"/>
                    </a:lnTo>
                    <a:cubicBezTo>
                      <a:pt x="385762" y="12793"/>
                      <a:pt x="372969" y="0"/>
                      <a:pt x="357188" y="0"/>
                    </a:cubicBezTo>
                    <a:lnTo>
                      <a:pt x="271462" y="0"/>
                    </a:lnTo>
                    <a:cubicBezTo>
                      <a:pt x="255681" y="0"/>
                      <a:pt x="242888" y="12793"/>
                      <a:pt x="242888" y="28575"/>
                    </a:cubicBezTo>
                    <a:lnTo>
                      <a:pt x="242888" y="57150"/>
                    </a:lnTo>
                    <a:lnTo>
                      <a:pt x="228600" y="57150"/>
                    </a:lnTo>
                    <a:cubicBezTo>
                      <a:pt x="197037" y="57150"/>
                      <a:pt x="171450" y="82737"/>
                      <a:pt x="171450" y="114300"/>
                    </a:cubicBezTo>
                    <a:lnTo>
                      <a:pt x="171450" y="157162"/>
                    </a:lnTo>
                    <a:lnTo>
                      <a:pt x="114300" y="157162"/>
                    </a:lnTo>
                    <a:lnTo>
                      <a:pt x="114300" y="142875"/>
                    </a:lnTo>
                    <a:cubicBezTo>
                      <a:pt x="114300" y="127093"/>
                      <a:pt x="101507" y="114300"/>
                      <a:pt x="85725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27093"/>
                      <a:pt x="0" y="1428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85725" y="228600"/>
                    </a:lnTo>
                    <a:cubicBezTo>
                      <a:pt x="101507" y="228600"/>
                      <a:pt x="114300" y="215807"/>
                      <a:pt x="114300" y="200025"/>
                    </a:cubicBezTo>
                    <a:lnTo>
                      <a:pt x="114300" y="185738"/>
                    </a:lnTo>
                    <a:lnTo>
                      <a:pt x="171450" y="185738"/>
                    </a:lnTo>
                    <a:lnTo>
                      <a:pt x="171450" y="228600"/>
                    </a:lnTo>
                    <a:cubicBezTo>
                      <a:pt x="171450" y="260163"/>
                      <a:pt x="197037" y="285750"/>
                      <a:pt x="228600" y="285750"/>
                    </a:cubicBezTo>
                    <a:lnTo>
                      <a:pt x="242888" y="285750"/>
                    </a:lnTo>
                    <a:lnTo>
                      <a:pt x="242888" y="314325"/>
                    </a:lnTo>
                    <a:cubicBezTo>
                      <a:pt x="242888" y="330107"/>
                      <a:pt x="255681" y="342900"/>
                      <a:pt x="271462" y="342900"/>
                    </a:cubicBezTo>
                    <a:lnTo>
                      <a:pt x="357188" y="342900"/>
                    </a:lnTo>
                    <a:cubicBezTo>
                      <a:pt x="372969" y="342900"/>
                      <a:pt x="385762" y="330107"/>
                      <a:pt x="385762" y="314325"/>
                    </a:cubicBezTo>
                    <a:lnTo>
                      <a:pt x="385762" y="228600"/>
                    </a:lnTo>
                    <a:cubicBezTo>
                      <a:pt x="385762" y="212818"/>
                      <a:pt x="372969" y="200025"/>
                      <a:pt x="357188" y="200025"/>
                    </a:cubicBezTo>
                    <a:lnTo>
                      <a:pt x="271462" y="200025"/>
                    </a:lnTo>
                    <a:cubicBezTo>
                      <a:pt x="255681" y="200025"/>
                      <a:pt x="242888" y="212818"/>
                      <a:pt x="242888" y="228600"/>
                    </a:cubicBezTo>
                    <a:lnTo>
                      <a:pt x="242888" y="257175"/>
                    </a:lnTo>
                    <a:lnTo>
                      <a:pt x="228600" y="257175"/>
                    </a:lnTo>
                    <a:cubicBezTo>
                      <a:pt x="212818" y="257175"/>
                      <a:pt x="200025" y="244382"/>
                      <a:pt x="200025" y="228600"/>
                    </a:cubicBezTo>
                    <a:lnTo>
                      <a:pt x="200025" y="114300"/>
                    </a:lnTo>
                    <a:cubicBezTo>
                      <a:pt x="200025" y="98518"/>
                      <a:pt x="212818" y="85725"/>
                      <a:pt x="228600" y="85725"/>
                    </a:cubicBezTo>
                    <a:lnTo>
                      <a:pt x="242888" y="85725"/>
                    </a:lnTo>
                    <a:lnTo>
                      <a:pt x="242888" y="114300"/>
                    </a:lnTo>
                    <a:cubicBezTo>
                      <a:pt x="242888" y="130082"/>
                      <a:pt x="255681" y="142875"/>
                      <a:pt x="271462" y="142875"/>
                    </a:cubicBezTo>
                    <a:close/>
                    <a:moveTo>
                      <a:pt x="85725" y="200025"/>
                    </a:moveTo>
                    <a:lnTo>
                      <a:pt x="28575" y="200025"/>
                    </a:lnTo>
                    <a:lnTo>
                      <a:pt x="28575" y="142875"/>
                    </a:lnTo>
                    <a:lnTo>
                      <a:pt x="85725" y="142875"/>
                    </a:lnTo>
                    <a:lnTo>
                      <a:pt x="85725" y="200025"/>
                    </a:lnTo>
                    <a:close/>
                    <a:moveTo>
                      <a:pt x="271462" y="228600"/>
                    </a:moveTo>
                    <a:lnTo>
                      <a:pt x="357188" y="228600"/>
                    </a:lnTo>
                    <a:lnTo>
                      <a:pt x="357188" y="314325"/>
                    </a:lnTo>
                    <a:lnTo>
                      <a:pt x="271462" y="314325"/>
                    </a:lnTo>
                    <a:close/>
                    <a:moveTo>
                      <a:pt x="271462" y="28575"/>
                    </a:moveTo>
                    <a:lnTo>
                      <a:pt x="357188" y="28575"/>
                    </a:lnTo>
                    <a:lnTo>
                      <a:pt x="357188" y="114300"/>
                    </a:lnTo>
                    <a:lnTo>
                      <a:pt x="271462" y="11430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113988" y="2306479"/>
              <a:ext cx="198432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Adaptive Control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37672" y="2559368"/>
              <a:ext cx="1936956" cy="72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Clone: under-recon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Split: over-large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Prune: transparent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451068" y="3193256"/>
              <a:ext cx="1310164" cy="4143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Every ~100 iters</a:t>
              </a:r>
            </a:p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o &lt; ε → remove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848100" y="4381500"/>
            <a:ext cx="7258050" cy="604838"/>
            <a:chOff x="3848100" y="4381500"/>
            <a:chExt cx="7258050" cy="604838"/>
          </a:xfrm>
        </p:grpSpPr>
        <p:sp>
          <p:nvSpPr>
            <p:cNvPr id="70" name="Freeform 70"/>
            <p:cNvSpPr/>
            <p:nvPr/>
          </p:nvSpPr>
          <p:spPr>
            <a:xfrm>
              <a:off x="3905250" y="4457700"/>
              <a:ext cx="7200900" cy="495300"/>
            </a:xfrm>
            <a:custGeom>
              <a:avLst/>
              <a:gdLst/>
              <a:ahLst/>
              <a:cxnLst/>
              <a:rect l="l" t="t" r="r" b="b"/>
              <a:pathLst>
                <a:path w="7200900" h="495300">
                  <a:moveTo>
                    <a:pt x="7200900" y="0"/>
                  </a:moveTo>
                  <a:lnTo>
                    <a:pt x="7200900" y="495300"/>
                  </a:lnTo>
                  <a:lnTo>
                    <a:pt x="0" y="495300"/>
                  </a:lnTo>
                  <a:lnTo>
                    <a:pt x="0" y="38100"/>
                  </a:lnTo>
                </a:path>
              </a:pathLst>
            </a:custGeom>
            <a:noFill/>
            <a:ln w="14288">
              <a:solidFill>
                <a:srgbClr val="A855F7"/>
              </a:solidFill>
              <a:custDash>
                <a:ds d="400000" sp="266666"/>
              </a:custDash>
            </a:ln>
          </p:spPr>
        </p:sp>
        <p:sp>
          <p:nvSpPr>
            <p:cNvPr id="71" name="Polygon 71"/>
            <p:cNvSpPr/>
            <p:nvPr/>
          </p:nvSpPr>
          <p:spPr>
            <a:xfrm>
              <a:off x="3848100" y="43815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114300"/>
                  </a:moveTo>
                  <a:lnTo>
                    <a:pt x="57150" y="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408438" y="4712018"/>
              <a:ext cx="41945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A855F7">
                      <a:alpha val="70000"/>
                    </a:srgbClr>
                  </a:solidFill>
                  <a:latin typeface="Lato"/>
                  <a:ea typeface="Lato"/>
                  <a:cs typeface="Lato"/>
                </a:rPr>
                <a:t>repeat until convergence (~30K iterations)</a:t>
              </a:r>
            </a:p>
          </p:txBody>
        </p:sp>
      </p:grpSp>
      <p:sp>
        <p:nvSpPr>
          <p:cNvPr id="74" name="Freeform 74"/>
          <p:cNvSpPr/>
          <p:nvPr/>
        </p:nvSpPr>
        <p:spPr>
          <a:xfrm>
            <a:off x="571500" y="531495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D0D14"/>
          </a:solidFill>
          <a:ln w="9525">
            <a:solidFill>
              <a:srgbClr val="1E1E2E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953685" y="5372100"/>
            <a:ext cx="82846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Result: 3–6M Gaussians per scene · ~40 min training · 134–160 FPS at 1080p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150293" y="5607368"/>
            <a:ext cx="78914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Spherical harmonics (deg 3, 48 coeff.) encode view-dependent color per Gaussian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6634859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3DGS: Quantitative Results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71500" y="1314450"/>
            <a:ext cx="9678590" cy="1916906"/>
            <a:chOff x="571500" y="1314450"/>
            <a:chExt cx="9678590" cy="1916906"/>
          </a:xfrm>
        </p:grpSpPr>
        <p:sp>
          <p:nvSpPr>
            <p:cNvPr id="6" name="Freeform 6"/>
            <p:cNvSpPr/>
            <p:nvPr/>
          </p:nvSpPr>
          <p:spPr>
            <a:xfrm>
              <a:off x="571500" y="1314450"/>
              <a:ext cx="7239000" cy="419100"/>
            </a:xfrm>
            <a:custGeom>
              <a:avLst/>
              <a:gdLst/>
              <a:ahLst/>
              <a:cxnLst/>
              <a:rect l="l" t="t" r="r" b="b"/>
              <a:pathLst>
                <a:path w="7239000" h="419100">
                  <a:moveTo>
                    <a:pt x="38100" y="0"/>
                  </a:moveTo>
                  <a:lnTo>
                    <a:pt x="7200900" y="0"/>
                  </a:lnTo>
                  <a:cubicBezTo>
                    <a:pt x="7221942" y="0"/>
                    <a:pt x="7239000" y="17058"/>
                    <a:pt x="7239000" y="38100"/>
                  </a:cubicBezTo>
                  <a:lnTo>
                    <a:pt x="7239000" y="381000"/>
                  </a:lnTo>
                  <a:cubicBezTo>
                    <a:pt x="7239000" y="402042"/>
                    <a:pt x="7221942" y="419100"/>
                    <a:pt x="7200900" y="419100"/>
                  </a:cubicBezTo>
                  <a:lnTo>
                    <a:pt x="38100" y="419100"/>
                  </a:lnTo>
                  <a:cubicBezTo>
                    <a:pt x="17058" y="419100"/>
                    <a:pt x="0" y="402042"/>
                    <a:pt x="0" y="3810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A0D2E"/>
            </a:solidFill>
            <a:ln w="9525">
              <a:solidFill>
                <a:srgbClr val="A855F7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5355" y="1425892"/>
              <a:ext cx="8002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METHOD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43641" y="1425892"/>
              <a:ext cx="665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PSNR 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01316" y="142589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SSIM 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17587" y="1425892"/>
              <a:ext cx="7278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LPIPS 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94966" y="1425892"/>
              <a:ext cx="1059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Train Time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74809" y="1425892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FPS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733550"/>
              <a:ext cx="7239000" cy="381000"/>
            </a:xfrm>
            <a:prstGeom prst="rect">
              <a:avLst/>
            </a:pr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450" y="18097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Mip-NeRF 360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56222" y="1809750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27.69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08722" y="1809750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0.792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61222" y="1809750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0.237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1115" y="1809750"/>
              <a:ext cx="8267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~48 hrs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2718" y="1809750"/>
              <a:ext cx="5200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0.06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2114550"/>
              <a:ext cx="7239000" cy="381000"/>
            </a:xfrm>
            <a:prstGeom prst="rect">
              <a:avLst/>
            </a:prstGeom>
            <a:solidFill>
              <a:srgbClr val="0A0A11"/>
            </a:solidFill>
            <a:ln w="9525">
              <a:solidFill>
                <a:srgbClr val="1E1E2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450" y="2190750"/>
              <a:ext cx="13087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Instant-NGP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56222" y="2190750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25.59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08722" y="2190750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0.699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8606" y="2190750"/>
              <a:ext cx="5857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0.331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6838" y="2190750"/>
              <a:ext cx="695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~7 min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23209" y="2190750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~5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2495550"/>
              <a:ext cx="7239000" cy="419100"/>
            </a:xfrm>
            <a:prstGeom prst="rect">
              <a:avLst/>
            </a:prstGeom>
            <a:solidFill>
              <a:srgbClr val="1A0D2E"/>
            </a:solidFill>
            <a:ln w="9525">
              <a:solidFill>
                <a:srgbClr val="A855F7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1500" y="2495550"/>
              <a:ext cx="38100" cy="4191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3450" y="2590800"/>
              <a:ext cx="2016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3DGS (Kerbl 2023)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83606" y="2590800"/>
              <a:ext cx="5857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27.21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36106" y="2590800"/>
              <a:ext cx="5857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0.815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8606" y="2590800"/>
              <a:ext cx="5857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0.214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16592" y="2590800"/>
              <a:ext cx="8158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~40 min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90348" y="2590800"/>
              <a:ext cx="3448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160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8212" y="3002756"/>
              <a:ext cx="93118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Evaluated on Mip-NeRF 360 outdoor scenes (bicycle, flowers, garden, stump, treehill) — averaged across all scenes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04492" y="3314700"/>
            <a:ext cx="7306008" cy="952500"/>
            <a:chOff x="504492" y="3314700"/>
            <a:chExt cx="7306008" cy="952500"/>
          </a:xfrm>
        </p:grpSpPr>
        <p:sp>
          <p:nvSpPr>
            <p:cNvPr id="37" name="Freeform 37"/>
            <p:cNvSpPr/>
            <p:nvPr/>
          </p:nvSpPr>
          <p:spPr>
            <a:xfrm>
              <a:off x="571500" y="3314700"/>
              <a:ext cx="2286000" cy="952500"/>
            </a:xfrm>
            <a:custGeom>
              <a:avLst/>
              <a:gdLst/>
              <a:ahLst/>
              <a:cxnLst/>
              <a:rect l="l" t="t" r="r" b="b"/>
              <a:pathLst>
                <a:path w="2286000" h="952500">
                  <a:moveTo>
                    <a:pt x="76200" y="0"/>
                  </a:move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876300"/>
                  </a:lnTo>
                  <a:cubicBezTo>
                    <a:pt x="2286000" y="918384"/>
                    <a:pt x="2251884" y="952500"/>
                    <a:pt x="220980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76510" y="3385185"/>
              <a:ext cx="8759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160×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4492" y="3778568"/>
              <a:ext cx="24200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faster than Mip-NeRF360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9418" y="3993356"/>
              <a:ext cx="1310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FPS: 160 vs 0.06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048000" y="3314700"/>
              <a:ext cx="2286000" cy="952500"/>
            </a:xfrm>
            <a:custGeom>
              <a:avLst/>
              <a:gdLst/>
              <a:ahLst/>
              <a:cxnLst/>
              <a:rect l="l" t="t" r="r" b="b"/>
              <a:pathLst>
                <a:path w="2286000" h="952500">
                  <a:moveTo>
                    <a:pt x="76200" y="0"/>
                  </a:move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876300"/>
                  </a:lnTo>
                  <a:cubicBezTo>
                    <a:pt x="2286000" y="918384"/>
                    <a:pt x="2251884" y="952500"/>
                    <a:pt x="220980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22C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15117" y="3385185"/>
              <a:ext cx="7517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72×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80256" y="3778568"/>
              <a:ext cx="1621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shorter training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49657" y="3993356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40 min vs 48 hours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524500" y="3314700"/>
              <a:ext cx="2286000" cy="952500"/>
            </a:xfrm>
            <a:custGeom>
              <a:avLst/>
              <a:gdLst/>
              <a:ahLst/>
              <a:cxnLst/>
              <a:rect l="l" t="t" r="r" b="b"/>
              <a:pathLst>
                <a:path w="2286000" h="952500">
                  <a:moveTo>
                    <a:pt x="76200" y="0"/>
                  </a:move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876300"/>
                  </a:lnTo>
                  <a:cubicBezTo>
                    <a:pt x="2286000" y="918384"/>
                    <a:pt x="2251884" y="952500"/>
                    <a:pt x="220980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A855F7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19346" y="338518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53243" y="3778568"/>
              <a:ext cx="18285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comparable quality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31681" y="39933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PSNR: 27.21 vs 27.69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115300" y="1314450"/>
            <a:ext cx="3695700" cy="3524250"/>
            <a:chOff x="8115300" y="1314450"/>
            <a:chExt cx="3695700" cy="3524250"/>
          </a:xfrm>
        </p:grpSpPr>
        <p:sp>
          <p:nvSpPr>
            <p:cNvPr id="50" name="Freeform 50"/>
            <p:cNvSpPr/>
            <p:nvPr/>
          </p:nvSpPr>
          <p:spPr>
            <a:xfrm>
              <a:off x="8115300" y="1314450"/>
              <a:ext cx="3695700" cy="3524250"/>
            </a:xfrm>
            <a:custGeom>
              <a:avLst/>
              <a:gdLst/>
              <a:ahLst/>
              <a:cxnLst/>
              <a:rect l="l" t="t" r="r" b="b"/>
              <a:pathLst>
                <a:path w="3695700" h="3524250">
                  <a:moveTo>
                    <a:pt x="76200" y="0"/>
                  </a:moveTo>
                  <a:lnTo>
                    <a:pt x="3619500" y="0"/>
                  </a:lnTo>
                  <a:cubicBezTo>
                    <a:pt x="3661584" y="0"/>
                    <a:pt x="3695700" y="34116"/>
                    <a:pt x="3695700" y="76200"/>
                  </a:cubicBezTo>
                  <a:lnTo>
                    <a:pt x="3695700" y="3448050"/>
                  </a:lnTo>
                  <a:cubicBezTo>
                    <a:pt x="3695700" y="3490134"/>
                    <a:pt x="3661584" y="3524250"/>
                    <a:pt x="3619500" y="3524250"/>
                  </a:cubicBezTo>
                  <a:lnTo>
                    <a:pt x="76200" y="3524250"/>
                  </a:lnTo>
                  <a:cubicBezTo>
                    <a:pt x="34116" y="3524250"/>
                    <a:pt x="0" y="3490134"/>
                    <a:pt x="0" y="3448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  <a:prstDash val="lgDash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887063" y="2657475"/>
              <a:ext cx="21521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[Image Placeholder]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97504" y="2883218"/>
              <a:ext cx="23312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3DGS render vs GT photo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26056" y="3098006"/>
              <a:ext cx="2074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(to be inserted manually)</a:t>
              </a:r>
            </a:p>
          </p:txBody>
        </p:sp>
      </p:grpSp>
      <p:sp>
        <p:nvSpPr>
          <p:cNvPr id="55" name="Freeform 55"/>
          <p:cNvSpPr/>
          <p:nvPr/>
        </p:nvSpPr>
        <p:spPr>
          <a:xfrm>
            <a:off x="571500" y="4533900"/>
            <a:ext cx="7239000" cy="419100"/>
          </a:xfrm>
          <a:custGeom>
            <a:avLst/>
            <a:gdLst/>
            <a:ahLst/>
            <a:cxnLst/>
            <a:rect l="l" t="t" r="r" b="b"/>
            <a:pathLst>
              <a:path w="7239000" h="419100">
                <a:moveTo>
                  <a:pt x="76200" y="0"/>
                </a:moveTo>
                <a:lnTo>
                  <a:pt x="7162800" y="0"/>
                </a:lnTo>
                <a:cubicBezTo>
                  <a:pt x="7204884" y="0"/>
                  <a:pt x="7239000" y="34116"/>
                  <a:pt x="7239000" y="76200"/>
                </a:cubicBezTo>
                <a:lnTo>
                  <a:pt x="7239000" y="342900"/>
                </a:lnTo>
                <a:cubicBezTo>
                  <a:pt x="7239000" y="384984"/>
                  <a:pt x="7204884" y="419100"/>
                  <a:pt x="7162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D0D14"/>
          </a:solidFill>
          <a:ln w="9525">
            <a:solidFill>
              <a:srgbClr val="1E1E2E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247414" y="4569142"/>
            <a:ext cx="18871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Memory trade-off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-89892" y="4750118"/>
            <a:ext cx="85617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~750 MB GPU RAM per scene (vs ~200 MB for Instant-NGP) — quality wins at a memory cost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4038409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3DGS Limitations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" y="1409700"/>
            <a:ext cx="13765578" cy="1333500"/>
            <a:chOff x="571500" y="1409700"/>
            <a:chExt cx="13765578" cy="1333500"/>
          </a:xfrm>
        </p:grpSpPr>
        <p:sp>
          <p:nvSpPr>
            <p:cNvPr id="6" name="Freeform 6"/>
            <p:cNvSpPr/>
            <p:nvPr/>
          </p:nvSpPr>
          <p:spPr>
            <a:xfrm>
              <a:off x="571500" y="1409700"/>
              <a:ext cx="11049000" cy="1333500"/>
            </a:xfrm>
            <a:custGeom>
              <a:avLst/>
              <a:gdLst/>
              <a:ahLst/>
              <a:cxnLst/>
              <a:rect l="l" t="t" r="r" b="b"/>
              <a:pathLst>
                <a:path w="11049000" h="13335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1257300"/>
                  </a:lnTo>
                  <a:cubicBezTo>
                    <a:pt x="11049000" y="1299384"/>
                    <a:pt x="11014884" y="1333500"/>
                    <a:pt x="109728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0970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77233" y="1632346"/>
              <a:ext cx="302925" cy="268014"/>
              <a:chOff x="877233" y="1632346"/>
              <a:chExt cx="302925" cy="26801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4039" y="1639339"/>
                <a:ext cx="289322" cy="250183"/>
              </a:xfrm>
              <a:custGeom>
                <a:avLst/>
                <a:gdLst/>
                <a:ahLst/>
                <a:cxnLst/>
                <a:rect l="l" t="t" r="r" b="b"/>
                <a:pathLst>
                  <a:path w="289322" h="250183">
                    <a:moveTo>
                      <a:pt x="261810" y="250183"/>
                    </a:moveTo>
                    <a:lnTo>
                      <a:pt x="27512" y="250183"/>
                    </a:lnTo>
                    <a:cubicBezTo>
                      <a:pt x="10608" y="250183"/>
                      <a:pt x="0" y="232489"/>
                      <a:pt x="8211" y="218157"/>
                    </a:cubicBezTo>
                    <a:lnTo>
                      <a:pt x="125359" y="14734"/>
                    </a:lnTo>
                    <a:cubicBezTo>
                      <a:pt x="133798" y="0"/>
                      <a:pt x="155524" y="0"/>
                      <a:pt x="163962" y="14734"/>
                    </a:cubicBezTo>
                    <a:lnTo>
                      <a:pt x="281111" y="218157"/>
                    </a:lnTo>
                    <a:cubicBezTo>
                      <a:pt x="289322" y="232489"/>
                      <a:pt x="278713" y="250183"/>
                      <a:pt x="261810" y="250183"/>
                    </a:cubicBezTo>
                    <a:close/>
                  </a:path>
                </a:pathLst>
              </a:custGeom>
              <a:solidFill>
                <a:srgbClr val="EF444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77233" y="1632346"/>
                <a:ext cx="302925" cy="268014"/>
              </a:xfrm>
              <a:custGeom>
                <a:avLst/>
                <a:gdLst/>
                <a:ahLst/>
                <a:cxnLst/>
                <a:rect l="l" t="t" r="r" b="b"/>
                <a:pathLst>
                  <a:path w="302925" h="268014">
                    <a:moveTo>
                      <a:pt x="297199" y="219792"/>
                    </a:moveTo>
                    <a:lnTo>
                      <a:pt x="180064" y="16369"/>
                    </a:lnTo>
                    <a:lnTo>
                      <a:pt x="180064" y="16369"/>
                    </a:lnTo>
                    <a:cubicBezTo>
                      <a:pt x="174108" y="6228"/>
                      <a:pt x="163227" y="0"/>
                      <a:pt x="151467" y="0"/>
                    </a:cubicBezTo>
                    <a:cubicBezTo>
                      <a:pt x="139706" y="0"/>
                      <a:pt x="128825" y="6228"/>
                      <a:pt x="122869" y="16369"/>
                    </a:cubicBezTo>
                    <a:lnTo>
                      <a:pt x="5734" y="219792"/>
                    </a:lnTo>
                    <a:cubicBezTo>
                      <a:pt x="0" y="229606"/>
                      <a:pt x="0" y="241749"/>
                      <a:pt x="5734" y="251564"/>
                    </a:cubicBezTo>
                    <a:cubicBezTo>
                      <a:pt x="11618" y="261772"/>
                      <a:pt x="22550" y="268014"/>
                      <a:pt x="34331" y="267892"/>
                    </a:cubicBezTo>
                    <a:lnTo>
                      <a:pt x="268602" y="267892"/>
                    </a:lnTo>
                    <a:cubicBezTo>
                      <a:pt x="280374" y="268004"/>
                      <a:pt x="291294" y="261764"/>
                      <a:pt x="297172" y="251564"/>
                    </a:cubicBezTo>
                    <a:cubicBezTo>
                      <a:pt x="302915" y="241754"/>
                      <a:pt x="302925" y="229611"/>
                      <a:pt x="297199" y="219792"/>
                    </a:cubicBezTo>
                    <a:close/>
                    <a:moveTo>
                      <a:pt x="278621" y="240835"/>
                    </a:moveTo>
                    <a:cubicBezTo>
                      <a:pt x="276542" y="244381"/>
                      <a:pt x="272712" y="246531"/>
                      <a:pt x="268602" y="246460"/>
                    </a:cubicBezTo>
                    <a:lnTo>
                      <a:pt x="34331" y="246460"/>
                    </a:lnTo>
                    <a:cubicBezTo>
                      <a:pt x="30221" y="246531"/>
                      <a:pt x="26391" y="244381"/>
                      <a:pt x="24312" y="240835"/>
                    </a:cubicBezTo>
                    <a:cubicBezTo>
                      <a:pt x="22429" y="237645"/>
                      <a:pt x="22429" y="233683"/>
                      <a:pt x="24312" y="230494"/>
                    </a:cubicBezTo>
                    <a:lnTo>
                      <a:pt x="141448" y="27071"/>
                    </a:lnTo>
                    <a:cubicBezTo>
                      <a:pt x="143567" y="23545"/>
                      <a:pt x="147379" y="21388"/>
                      <a:pt x="151493" y="21388"/>
                    </a:cubicBezTo>
                    <a:cubicBezTo>
                      <a:pt x="155607" y="21388"/>
                      <a:pt x="159420" y="23545"/>
                      <a:pt x="161539" y="27071"/>
                    </a:cubicBezTo>
                    <a:lnTo>
                      <a:pt x="278675" y="230494"/>
                    </a:lnTo>
                    <a:cubicBezTo>
                      <a:pt x="280542" y="233693"/>
                      <a:pt x="280521" y="237655"/>
                      <a:pt x="278621" y="240835"/>
                    </a:cubicBezTo>
                    <a:close/>
                    <a:moveTo>
                      <a:pt x="140751" y="160735"/>
                    </a:moveTo>
                    <a:lnTo>
                      <a:pt x="140751" y="107157"/>
                    </a:lnTo>
                    <a:cubicBezTo>
                      <a:pt x="140751" y="101239"/>
                      <a:pt x="145549" y="96442"/>
                      <a:pt x="151467" y="96442"/>
                    </a:cubicBezTo>
                    <a:cubicBezTo>
                      <a:pt x="157385" y="96442"/>
                      <a:pt x="162182" y="101239"/>
                      <a:pt x="162182" y="107157"/>
                    </a:cubicBezTo>
                    <a:lnTo>
                      <a:pt x="162182" y="160735"/>
                    </a:lnTo>
                    <a:cubicBezTo>
                      <a:pt x="162182" y="166653"/>
                      <a:pt x="157385" y="171451"/>
                      <a:pt x="151467" y="171451"/>
                    </a:cubicBezTo>
                    <a:cubicBezTo>
                      <a:pt x="145549" y="171451"/>
                      <a:pt x="140751" y="166653"/>
                      <a:pt x="140751" y="160735"/>
                    </a:cubicBezTo>
                    <a:close/>
                    <a:moveTo>
                      <a:pt x="167540" y="208956"/>
                    </a:moveTo>
                    <a:cubicBezTo>
                      <a:pt x="167540" y="217833"/>
                      <a:pt x="160344" y="225029"/>
                      <a:pt x="151467" y="225029"/>
                    </a:cubicBezTo>
                    <a:cubicBezTo>
                      <a:pt x="142590" y="225029"/>
                      <a:pt x="135393" y="217833"/>
                      <a:pt x="135393" y="208956"/>
                    </a:cubicBezTo>
                    <a:cubicBezTo>
                      <a:pt x="135393" y="200078"/>
                      <a:pt x="142590" y="192882"/>
                      <a:pt x="151467" y="192882"/>
                    </a:cubicBezTo>
                    <a:cubicBezTo>
                      <a:pt x="160344" y="192882"/>
                      <a:pt x="167540" y="200078"/>
                      <a:pt x="167540" y="208956"/>
                    </a:cubicBezTo>
                    <a:close/>
                  </a:path>
                </a:pathLst>
              </a:custGeom>
              <a:solidFill>
                <a:srgbClr val="EF4444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51598" y="1649254"/>
              <a:ext cx="389241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Per-Scene Optimization Required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6295" y="1936432"/>
              <a:ext cx="13500783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Training a separate model for every scene from scratch — no knowledge transfer across scenes.</a:t>
              </a:r>
            </a:p>
            <a:p>
              <a:pPr algn="l"/>
              <a:r>
                <a:rPr lang="en-US" sz="16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Consequence: 40-minute overhead per new environment; not viable for large-scale or real-time capture pipelines.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8200" y="2428875"/>
              <a:ext cx="103784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→ Feed-forward 3DGS methods (Chapter 04) address this with a single network that generalizes.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2933700"/>
            <a:ext cx="12138946" cy="1266825"/>
            <a:chOff x="571500" y="2933700"/>
            <a:chExt cx="12138946" cy="1266825"/>
          </a:xfrm>
        </p:grpSpPr>
        <p:sp>
          <p:nvSpPr>
            <p:cNvPr id="15" name="Freeform 15"/>
            <p:cNvSpPr/>
            <p:nvPr/>
          </p:nvSpPr>
          <p:spPr>
            <a:xfrm>
              <a:off x="571500" y="2933700"/>
              <a:ext cx="11049000" cy="1238250"/>
            </a:xfrm>
            <a:custGeom>
              <a:avLst/>
              <a:gdLst/>
              <a:ahLst/>
              <a:cxnLst/>
              <a:rect l="l" t="t" r="r" b="b"/>
              <a:pathLst>
                <a:path w="11049000" h="12382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1162050"/>
                  </a:lnTo>
                  <a:cubicBezTo>
                    <a:pt x="11049000" y="1204134"/>
                    <a:pt x="11014884" y="1238250"/>
                    <a:pt x="10972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71500" y="2933700"/>
              <a:ext cx="57150" cy="1238250"/>
            </a:xfrm>
            <a:custGeom>
              <a:avLst/>
              <a:gdLst/>
              <a:ahLst/>
              <a:cxnLst/>
              <a:rect l="l" t="t" r="r" b="b"/>
              <a:pathLst>
                <a:path w="57150" h="12382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209675"/>
                  </a:lnTo>
                  <a:cubicBezTo>
                    <a:pt x="57150" y="1225457"/>
                    <a:pt x="44357" y="1238250"/>
                    <a:pt x="28575" y="1238250"/>
                  </a:cubicBezTo>
                  <a:lnTo>
                    <a:pt x="28575" y="1238250"/>
                  </a:lnTo>
                  <a:cubicBezTo>
                    <a:pt x="12793" y="1238250"/>
                    <a:pt x="0" y="1225457"/>
                    <a:pt x="0" y="12096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89397" y="3167062"/>
              <a:ext cx="278606" cy="246459"/>
              <a:chOff x="889397" y="3167062"/>
              <a:chExt cx="278606" cy="24645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900112" y="3177778"/>
                <a:ext cx="257175" cy="22502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5028">
                    <a:moveTo>
                      <a:pt x="235744" y="32147"/>
                    </a:moveTo>
                    <a:lnTo>
                      <a:pt x="192881" y="32147"/>
                    </a:lnTo>
                    <a:lnTo>
                      <a:pt x="171450" y="0"/>
                    </a:lnTo>
                    <a:lnTo>
                      <a:pt x="85725" y="0"/>
                    </a:lnTo>
                    <a:lnTo>
                      <a:pt x="64294" y="32147"/>
                    </a:lnTo>
                    <a:lnTo>
                      <a:pt x="21431" y="32147"/>
                    </a:lnTo>
                    <a:cubicBezTo>
                      <a:pt x="9595" y="32147"/>
                      <a:pt x="0" y="41742"/>
                      <a:pt x="0" y="53578"/>
                    </a:cubicBezTo>
                    <a:lnTo>
                      <a:pt x="0" y="203597"/>
                    </a:lnTo>
                    <a:cubicBezTo>
                      <a:pt x="0" y="215433"/>
                      <a:pt x="9595" y="225028"/>
                      <a:pt x="21431" y="225028"/>
                    </a:cubicBezTo>
                    <a:lnTo>
                      <a:pt x="235744" y="225028"/>
                    </a:lnTo>
                    <a:cubicBezTo>
                      <a:pt x="247580" y="225028"/>
                      <a:pt x="257175" y="215433"/>
                      <a:pt x="257175" y="203597"/>
                    </a:cubicBezTo>
                    <a:lnTo>
                      <a:pt x="257175" y="53578"/>
                    </a:lnTo>
                    <a:cubicBezTo>
                      <a:pt x="257175" y="41742"/>
                      <a:pt x="247580" y="32147"/>
                      <a:pt x="235744" y="32147"/>
                    </a:cubicBezTo>
                    <a:close/>
                    <a:moveTo>
                      <a:pt x="128588" y="171450"/>
                    </a:moveTo>
                    <a:cubicBezTo>
                      <a:pt x="101956" y="171450"/>
                      <a:pt x="80367" y="149861"/>
                      <a:pt x="80367" y="123230"/>
                    </a:cubicBezTo>
                    <a:cubicBezTo>
                      <a:pt x="80367" y="96598"/>
                      <a:pt x="101956" y="75009"/>
                      <a:pt x="128588" y="75009"/>
                    </a:cubicBezTo>
                    <a:cubicBezTo>
                      <a:pt x="155219" y="75009"/>
                      <a:pt x="176808" y="96598"/>
                      <a:pt x="176808" y="123230"/>
                    </a:cubicBezTo>
                    <a:cubicBezTo>
                      <a:pt x="176808" y="149861"/>
                      <a:pt x="155219" y="171450"/>
                      <a:pt x="128588" y="171450"/>
                    </a:cubicBezTo>
                    <a:close/>
                  </a:path>
                </a:pathLst>
              </a:custGeom>
              <a:solidFill>
                <a:srgbClr val="EF444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89397" y="3167062"/>
                <a:ext cx="278606" cy="246459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46459">
                    <a:moveTo>
                      <a:pt x="246459" y="32147"/>
                    </a:moveTo>
                    <a:lnTo>
                      <a:pt x="209330" y="32147"/>
                    </a:lnTo>
                    <a:lnTo>
                      <a:pt x="191073" y="4768"/>
                    </a:lnTo>
                    <a:cubicBezTo>
                      <a:pt x="189087" y="1791"/>
                      <a:pt x="185745" y="2"/>
                      <a:pt x="182166" y="0"/>
                    </a:cubicBezTo>
                    <a:lnTo>
                      <a:pt x="96441" y="0"/>
                    </a:lnTo>
                    <a:cubicBezTo>
                      <a:pt x="92861" y="2"/>
                      <a:pt x="89520" y="1791"/>
                      <a:pt x="87533" y="4768"/>
                    </a:cubicBezTo>
                    <a:lnTo>
                      <a:pt x="69263" y="32147"/>
                    </a:lnTo>
                    <a:lnTo>
                      <a:pt x="32147" y="32147"/>
                    </a:lnTo>
                    <a:cubicBezTo>
                      <a:pt x="14393" y="32147"/>
                      <a:pt x="0" y="46540"/>
                      <a:pt x="0" y="64294"/>
                    </a:cubicBezTo>
                    <a:lnTo>
                      <a:pt x="0" y="214312"/>
                    </a:lnTo>
                    <a:cubicBezTo>
                      <a:pt x="0" y="232067"/>
                      <a:pt x="14393" y="246459"/>
                      <a:pt x="32147" y="246459"/>
                    </a:cubicBezTo>
                    <a:lnTo>
                      <a:pt x="246459" y="246459"/>
                    </a:lnTo>
                    <a:cubicBezTo>
                      <a:pt x="264214" y="246459"/>
                      <a:pt x="278606" y="232067"/>
                      <a:pt x="278606" y="214312"/>
                    </a:cubicBezTo>
                    <a:lnTo>
                      <a:pt x="278606" y="64294"/>
                    </a:lnTo>
                    <a:cubicBezTo>
                      <a:pt x="278606" y="46540"/>
                      <a:pt x="264214" y="32147"/>
                      <a:pt x="246459" y="32147"/>
                    </a:cubicBezTo>
                    <a:close/>
                    <a:moveTo>
                      <a:pt x="257175" y="214312"/>
                    </a:moveTo>
                    <a:cubicBezTo>
                      <a:pt x="257175" y="220231"/>
                      <a:pt x="252377" y="225028"/>
                      <a:pt x="246459" y="225028"/>
                    </a:cubicBezTo>
                    <a:lnTo>
                      <a:pt x="32147" y="225028"/>
                    </a:lnTo>
                    <a:cubicBezTo>
                      <a:pt x="26229" y="225028"/>
                      <a:pt x="21431" y="220231"/>
                      <a:pt x="21431" y="214312"/>
                    </a:cubicBezTo>
                    <a:lnTo>
                      <a:pt x="21431" y="64294"/>
                    </a:lnTo>
                    <a:cubicBezTo>
                      <a:pt x="21431" y="58376"/>
                      <a:pt x="26229" y="53578"/>
                      <a:pt x="32147" y="53578"/>
                    </a:cubicBezTo>
                    <a:lnTo>
                      <a:pt x="75009" y="53578"/>
                    </a:lnTo>
                    <a:cubicBezTo>
                      <a:pt x="78593" y="53580"/>
                      <a:pt x="81941" y="51791"/>
                      <a:pt x="83930" y="48810"/>
                    </a:cubicBezTo>
                    <a:lnTo>
                      <a:pt x="102173" y="21431"/>
                    </a:lnTo>
                    <a:lnTo>
                      <a:pt x="176419" y="21431"/>
                    </a:lnTo>
                    <a:lnTo>
                      <a:pt x="194676" y="48810"/>
                    </a:lnTo>
                    <a:cubicBezTo>
                      <a:pt x="196665" y="51791"/>
                      <a:pt x="200013" y="53580"/>
                      <a:pt x="203597" y="53578"/>
                    </a:cubicBezTo>
                    <a:lnTo>
                      <a:pt x="246459" y="53578"/>
                    </a:lnTo>
                    <a:cubicBezTo>
                      <a:pt x="252377" y="53578"/>
                      <a:pt x="257175" y="58376"/>
                      <a:pt x="257175" y="64294"/>
                    </a:cubicBezTo>
                    <a:close/>
                    <a:moveTo>
                      <a:pt x="139303" y="75009"/>
                    </a:moveTo>
                    <a:cubicBezTo>
                      <a:pt x="106754" y="75009"/>
                      <a:pt x="80367" y="101396"/>
                      <a:pt x="80367" y="133945"/>
                    </a:cubicBezTo>
                    <a:cubicBezTo>
                      <a:pt x="80367" y="166495"/>
                      <a:pt x="106754" y="192881"/>
                      <a:pt x="139303" y="192881"/>
                    </a:cubicBezTo>
                    <a:cubicBezTo>
                      <a:pt x="171853" y="192881"/>
                      <a:pt x="198239" y="166495"/>
                      <a:pt x="198239" y="133945"/>
                    </a:cubicBezTo>
                    <a:cubicBezTo>
                      <a:pt x="198202" y="101411"/>
                      <a:pt x="171837" y="75046"/>
                      <a:pt x="139303" y="75009"/>
                    </a:cubicBezTo>
                    <a:close/>
                    <a:moveTo>
                      <a:pt x="139303" y="171450"/>
                    </a:moveTo>
                    <a:cubicBezTo>
                      <a:pt x="118590" y="171450"/>
                      <a:pt x="101798" y="154659"/>
                      <a:pt x="101798" y="133945"/>
                    </a:cubicBezTo>
                    <a:cubicBezTo>
                      <a:pt x="101798" y="113232"/>
                      <a:pt x="118590" y="96441"/>
                      <a:pt x="139303" y="96441"/>
                    </a:cubicBezTo>
                    <a:cubicBezTo>
                      <a:pt x="160016" y="96441"/>
                      <a:pt x="176808" y="113232"/>
                      <a:pt x="176808" y="133945"/>
                    </a:cubicBezTo>
                    <a:cubicBezTo>
                      <a:pt x="176808" y="154659"/>
                      <a:pt x="160016" y="171450"/>
                      <a:pt x="139303" y="171450"/>
                    </a:cubicBezTo>
                    <a:close/>
                  </a:path>
                </a:pathLst>
              </a:custGeom>
              <a:solidFill>
                <a:srgbClr val="EF4444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351598" y="3173254"/>
              <a:ext cx="441170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Requires Pre-computed Camera Poses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6295" y="3441382"/>
              <a:ext cx="11874151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Depends on COLMAP Structure-from-Motion to produce initial point cloud + calibrated camera poses.</a:t>
              </a:r>
            </a:p>
            <a:p>
              <a:pPr algn="l"/>
              <a:r>
                <a:rPr lang="en-US" sz="16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COLMAP can fail on low-texture / reflective scenes and adds significant pre-processing cost.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8200" y="3895725"/>
              <a:ext cx="74099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→ Pose-free methods (NoPoSplat, AnySplat) remove this dependency.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362450"/>
            <a:ext cx="13717381" cy="1266825"/>
            <a:chOff x="571500" y="4362450"/>
            <a:chExt cx="13717381" cy="1266825"/>
          </a:xfrm>
        </p:grpSpPr>
        <p:sp>
          <p:nvSpPr>
            <p:cNvPr id="24" name="Freeform 24"/>
            <p:cNvSpPr/>
            <p:nvPr/>
          </p:nvSpPr>
          <p:spPr>
            <a:xfrm>
              <a:off x="571500" y="4362450"/>
              <a:ext cx="11049000" cy="1238250"/>
            </a:xfrm>
            <a:custGeom>
              <a:avLst/>
              <a:gdLst/>
              <a:ahLst/>
              <a:cxnLst/>
              <a:rect l="l" t="t" r="r" b="b"/>
              <a:pathLst>
                <a:path w="11049000" h="12382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1162050"/>
                  </a:lnTo>
                  <a:cubicBezTo>
                    <a:pt x="11049000" y="1204134"/>
                    <a:pt x="11014884" y="1238250"/>
                    <a:pt x="10972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71500" y="4362450"/>
              <a:ext cx="57150" cy="1238250"/>
            </a:xfrm>
            <a:custGeom>
              <a:avLst/>
              <a:gdLst/>
              <a:ahLst/>
              <a:cxnLst/>
              <a:rect l="l" t="t" r="r" b="b"/>
              <a:pathLst>
                <a:path w="57150" h="12382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209675"/>
                  </a:lnTo>
                  <a:cubicBezTo>
                    <a:pt x="57150" y="1225457"/>
                    <a:pt x="44357" y="1238250"/>
                    <a:pt x="28575" y="1238250"/>
                  </a:cubicBezTo>
                  <a:lnTo>
                    <a:pt x="28575" y="1238250"/>
                  </a:lnTo>
                  <a:cubicBezTo>
                    <a:pt x="12793" y="1238250"/>
                    <a:pt x="0" y="1225457"/>
                    <a:pt x="0" y="12096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00112" y="4595812"/>
              <a:ext cx="257175" cy="257175"/>
              <a:chOff x="900112" y="4595812"/>
              <a:chExt cx="257175" cy="25717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964406" y="4660106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128588" y="10716"/>
                    </a:moveTo>
                    <a:lnTo>
                      <a:pt x="128588" y="117872"/>
                    </a:lnTo>
                    <a:cubicBezTo>
                      <a:pt x="128588" y="123790"/>
                      <a:pt x="123790" y="128588"/>
                      <a:pt x="117872" y="128588"/>
                    </a:cubicBezTo>
                    <a:lnTo>
                      <a:pt x="10716" y="128588"/>
                    </a:lnTo>
                    <a:cubicBezTo>
                      <a:pt x="4798" y="128588"/>
                      <a:pt x="0" y="123790"/>
                      <a:pt x="0" y="117872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lnTo>
                      <a:pt x="117872" y="0"/>
                    </a:lnTo>
                    <a:cubicBezTo>
                      <a:pt x="123790" y="0"/>
                      <a:pt x="128588" y="4798"/>
                      <a:pt x="128588" y="10716"/>
                    </a:cubicBezTo>
                    <a:close/>
                  </a:path>
                </a:pathLst>
              </a:custGeom>
              <a:solidFill>
                <a:srgbClr val="EF444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00112" y="45958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257175" y="10716"/>
                    </a:moveTo>
                    <a:lnTo>
                      <a:pt x="257175" y="64294"/>
                    </a:lnTo>
                    <a:cubicBezTo>
                      <a:pt x="257175" y="70212"/>
                      <a:pt x="252377" y="75009"/>
                      <a:pt x="246459" y="75009"/>
                    </a:cubicBezTo>
                    <a:cubicBezTo>
                      <a:pt x="240541" y="75009"/>
                      <a:pt x="235744" y="70212"/>
                      <a:pt x="235744" y="64294"/>
                    </a:cubicBezTo>
                    <a:lnTo>
                      <a:pt x="235744" y="21431"/>
                    </a:lnTo>
                    <a:lnTo>
                      <a:pt x="192881" y="21431"/>
                    </a:lnTo>
                    <a:cubicBezTo>
                      <a:pt x="186963" y="21431"/>
                      <a:pt x="182166" y="16634"/>
                      <a:pt x="182166" y="10716"/>
                    </a:cubicBezTo>
                    <a:cubicBezTo>
                      <a:pt x="182166" y="4798"/>
                      <a:pt x="186963" y="0"/>
                      <a:pt x="192881" y="0"/>
                    </a:cubicBezTo>
                    <a:lnTo>
                      <a:pt x="246459" y="0"/>
                    </a:lnTo>
                    <a:cubicBezTo>
                      <a:pt x="252377" y="0"/>
                      <a:pt x="257175" y="4798"/>
                      <a:pt x="257175" y="10716"/>
                    </a:cubicBezTo>
                    <a:close/>
                    <a:moveTo>
                      <a:pt x="64294" y="235744"/>
                    </a:moveTo>
                    <a:lnTo>
                      <a:pt x="21431" y="235744"/>
                    </a:lnTo>
                    <a:lnTo>
                      <a:pt x="21431" y="192881"/>
                    </a:lnTo>
                    <a:cubicBezTo>
                      <a:pt x="21431" y="186963"/>
                      <a:pt x="16634" y="182166"/>
                      <a:pt x="10716" y="182166"/>
                    </a:cubicBezTo>
                    <a:cubicBezTo>
                      <a:pt x="4798" y="182166"/>
                      <a:pt x="0" y="186963"/>
                      <a:pt x="0" y="192881"/>
                    </a:cubicBezTo>
                    <a:lnTo>
                      <a:pt x="0" y="246459"/>
                    </a:lnTo>
                    <a:cubicBezTo>
                      <a:pt x="0" y="252377"/>
                      <a:pt x="4798" y="257175"/>
                      <a:pt x="10716" y="257175"/>
                    </a:cubicBezTo>
                    <a:lnTo>
                      <a:pt x="64294" y="257175"/>
                    </a:lnTo>
                    <a:cubicBezTo>
                      <a:pt x="70212" y="257175"/>
                      <a:pt x="75009" y="252377"/>
                      <a:pt x="75009" y="246459"/>
                    </a:cubicBezTo>
                    <a:cubicBezTo>
                      <a:pt x="75009" y="240541"/>
                      <a:pt x="70212" y="235744"/>
                      <a:pt x="64294" y="235744"/>
                    </a:cubicBezTo>
                    <a:close/>
                    <a:moveTo>
                      <a:pt x="246459" y="182166"/>
                    </a:moveTo>
                    <a:cubicBezTo>
                      <a:pt x="240541" y="182166"/>
                      <a:pt x="235744" y="186963"/>
                      <a:pt x="235744" y="192881"/>
                    </a:cubicBezTo>
                    <a:lnTo>
                      <a:pt x="235744" y="235744"/>
                    </a:lnTo>
                    <a:lnTo>
                      <a:pt x="192881" y="235744"/>
                    </a:lnTo>
                    <a:cubicBezTo>
                      <a:pt x="186963" y="235744"/>
                      <a:pt x="182166" y="240541"/>
                      <a:pt x="182166" y="246459"/>
                    </a:cubicBezTo>
                    <a:cubicBezTo>
                      <a:pt x="182166" y="252377"/>
                      <a:pt x="186963" y="257175"/>
                      <a:pt x="192881" y="257175"/>
                    </a:cubicBezTo>
                    <a:lnTo>
                      <a:pt x="246459" y="257175"/>
                    </a:lnTo>
                    <a:cubicBezTo>
                      <a:pt x="252377" y="257175"/>
                      <a:pt x="257175" y="252377"/>
                      <a:pt x="257175" y="246459"/>
                    </a:cubicBezTo>
                    <a:lnTo>
                      <a:pt x="257175" y="192881"/>
                    </a:lnTo>
                    <a:cubicBezTo>
                      <a:pt x="257175" y="186963"/>
                      <a:pt x="252377" y="182166"/>
                      <a:pt x="246459" y="182166"/>
                    </a:cubicBezTo>
                    <a:close/>
                    <a:moveTo>
                      <a:pt x="10716" y="75009"/>
                    </a:moveTo>
                    <a:cubicBezTo>
                      <a:pt x="16634" y="75009"/>
                      <a:pt x="21431" y="70212"/>
                      <a:pt x="21431" y="64294"/>
                    </a:cubicBezTo>
                    <a:lnTo>
                      <a:pt x="21431" y="21431"/>
                    </a:lnTo>
                    <a:lnTo>
                      <a:pt x="64294" y="21431"/>
                    </a:lnTo>
                    <a:cubicBezTo>
                      <a:pt x="70212" y="21431"/>
                      <a:pt x="75009" y="16634"/>
                      <a:pt x="75009" y="10716"/>
                    </a:cubicBezTo>
                    <a:cubicBezTo>
                      <a:pt x="75009" y="4798"/>
                      <a:pt x="70212" y="0"/>
                      <a:pt x="64294" y="0"/>
                    </a:cubicBezTo>
                    <a:lnTo>
                      <a:pt x="10716" y="0"/>
                    </a:lnTo>
                    <a:cubicBezTo>
                      <a:pt x="4798" y="0"/>
                      <a:pt x="0" y="4798"/>
                      <a:pt x="0" y="10716"/>
                    </a:cubicBezTo>
                    <a:lnTo>
                      <a:pt x="0" y="64294"/>
                    </a:lnTo>
                    <a:cubicBezTo>
                      <a:pt x="0" y="70212"/>
                      <a:pt x="4798" y="75009"/>
                      <a:pt x="10716" y="75009"/>
                    </a:cubicBezTo>
                    <a:close/>
                    <a:moveTo>
                      <a:pt x="182166" y="203597"/>
                    </a:moveTo>
                    <a:lnTo>
                      <a:pt x="75009" y="203597"/>
                    </a:lnTo>
                    <a:cubicBezTo>
                      <a:pt x="63173" y="203597"/>
                      <a:pt x="53578" y="194002"/>
                      <a:pt x="53578" y="182166"/>
                    </a:cubicBezTo>
                    <a:lnTo>
                      <a:pt x="53578" y="75009"/>
                    </a:lnTo>
                    <a:cubicBezTo>
                      <a:pt x="53578" y="63173"/>
                      <a:pt x="63173" y="53578"/>
                      <a:pt x="75009" y="53578"/>
                    </a:cubicBezTo>
                    <a:lnTo>
                      <a:pt x="182166" y="53578"/>
                    </a:lnTo>
                    <a:cubicBezTo>
                      <a:pt x="194002" y="53578"/>
                      <a:pt x="203597" y="63173"/>
                      <a:pt x="203597" y="75009"/>
                    </a:cubicBezTo>
                    <a:lnTo>
                      <a:pt x="203597" y="182166"/>
                    </a:lnTo>
                    <a:cubicBezTo>
                      <a:pt x="203597" y="194002"/>
                      <a:pt x="194002" y="203597"/>
                      <a:pt x="182166" y="203597"/>
                    </a:cubicBezTo>
                    <a:close/>
                    <a:moveTo>
                      <a:pt x="75009" y="182166"/>
                    </a:moveTo>
                    <a:lnTo>
                      <a:pt x="182166" y="182166"/>
                    </a:lnTo>
                    <a:lnTo>
                      <a:pt x="182166" y="75009"/>
                    </a:lnTo>
                    <a:lnTo>
                      <a:pt x="75009" y="75009"/>
                    </a:lnTo>
                    <a:close/>
                  </a:path>
                </a:pathLst>
              </a:custGeom>
              <a:solidFill>
                <a:srgbClr val="EF4444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351598" y="4602004"/>
              <a:ext cx="373541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Coverage &amp; Artifact Sensitivity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6295" y="4870132"/>
              <a:ext cx="13452586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Under-observed regions (few input views) produce needle-like or floater Gaussians; no geometric regularization.</a:t>
              </a:r>
            </a:p>
            <a:p>
              <a:pPr algn="l"/>
              <a:r>
                <a:rPr lang="en-US" sz="16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Generalization beyond training view distribution degrades rapidly compared to implicit methods.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8200" y="5324475"/>
              <a:ext cx="101374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→ Depth priors and regularization losses (e.g., SuGaR, Gaussian Opacity Fields) mitigate this.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48549" y="2167890"/>
            <a:ext cx="1494901" cy="365760"/>
            <a:chOff x="5348549" y="2167890"/>
            <a:chExt cx="1494901" cy="365760"/>
          </a:xfrm>
        </p:grpSpPr>
        <p:sp>
          <p:nvSpPr>
            <p:cNvPr id="2" name="TextBox 2"/>
            <p:cNvSpPr txBox="1"/>
            <p:nvPr/>
          </p:nvSpPr>
          <p:spPr>
            <a:xfrm>
              <a:off x="5348549" y="2167890"/>
              <a:ext cx="149490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CHAPTER 03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0" y="2514600"/>
              <a:ext cx="1143000" cy="9525"/>
            </a:xfrm>
            <a:prstGeom prst="rect">
              <a:avLst/>
            </a:prstGeom>
            <a:solidFill>
              <a:srgbClr val="A855F7">
                <a:alpha val="55000"/>
              </a:srgbClr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938817" y="2864168"/>
            <a:ext cx="6314365" cy="883920"/>
            <a:chOff x="2938817" y="2864168"/>
            <a:chExt cx="6314365" cy="883920"/>
          </a:xfrm>
        </p:grpSpPr>
        <p:sp>
          <p:nvSpPr>
            <p:cNvPr id="5" name="TextBox 5"/>
            <p:cNvSpPr txBox="1"/>
            <p:nvPr/>
          </p:nvSpPr>
          <p:spPr>
            <a:xfrm>
              <a:off x="2938817" y="2864168"/>
              <a:ext cx="631436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Feed-Forward 3DGS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7836" y="3599498"/>
            <a:ext cx="9476327" cy="396240"/>
            <a:chOff x="1357836" y="3599498"/>
            <a:chExt cx="9476327" cy="396240"/>
          </a:xfrm>
        </p:grpSpPr>
        <p:sp>
          <p:nvSpPr>
            <p:cNvPr id="7" name="TextBox 7"/>
            <p:cNvSpPr txBox="1"/>
            <p:nvPr/>
          </p:nvSpPr>
          <p:spPr>
            <a:xfrm>
              <a:off x="1357836" y="3599498"/>
              <a:ext cx="947632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Generalizable Scene Reconstruction without Per-Scene Optimization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9701142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Amortized Inference: One Forward Pass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71500" y="1409700"/>
            <a:ext cx="5238750" cy="4381500"/>
            <a:chOff x="571500" y="1409700"/>
            <a:chExt cx="5238750" cy="4381500"/>
          </a:xfrm>
        </p:grpSpPr>
        <p:sp>
          <p:nvSpPr>
            <p:cNvPr id="6" name="Freeform 6"/>
            <p:cNvSpPr/>
            <p:nvPr/>
          </p:nvSpPr>
          <p:spPr>
            <a:xfrm>
              <a:off x="571500" y="1409700"/>
              <a:ext cx="5238750" cy="4381500"/>
            </a:xfrm>
            <a:custGeom>
              <a:avLst/>
              <a:gdLst/>
              <a:ahLst/>
              <a:cxnLst/>
              <a:rect l="l" t="t" r="r" b="b"/>
              <a:pathLst>
                <a:path w="5238750" h="4381500">
                  <a:moveTo>
                    <a:pt x="76200" y="0"/>
                  </a:moveTo>
                  <a:lnTo>
                    <a:pt x="5162550" y="0"/>
                  </a:lnTo>
                  <a:cubicBezTo>
                    <a:pt x="5204634" y="0"/>
                    <a:pt x="5238750" y="34116"/>
                    <a:pt x="5238750" y="76200"/>
                  </a:cubicBezTo>
                  <a:lnTo>
                    <a:pt x="5238750" y="4305300"/>
                  </a:lnTo>
                  <a:cubicBezTo>
                    <a:pt x="5238750" y="4347384"/>
                    <a:pt x="5204634" y="4381500"/>
                    <a:pt x="5162550" y="4381500"/>
                  </a:cubicBezTo>
                  <a:lnTo>
                    <a:pt x="76200" y="4381500"/>
                  </a:lnTo>
                  <a:cubicBezTo>
                    <a:pt x="34116" y="4381500"/>
                    <a:pt x="0" y="4347384"/>
                    <a:pt x="0" y="430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EF444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09700"/>
              <a:ext cx="5238750" cy="38100"/>
            </a:xfrm>
            <a:custGeom>
              <a:avLst/>
              <a:gdLst/>
              <a:ahLst/>
              <a:cxnLst/>
              <a:rect l="l" t="t" r="r" b="b"/>
              <a:pathLst>
                <a:path w="5238750" h="38100">
                  <a:moveTo>
                    <a:pt x="19050" y="0"/>
                  </a:moveTo>
                  <a:lnTo>
                    <a:pt x="5219700" y="0"/>
                  </a:lnTo>
                  <a:cubicBezTo>
                    <a:pt x="5230221" y="0"/>
                    <a:pt x="5238750" y="8529"/>
                    <a:pt x="5238750" y="19050"/>
                  </a:cubicBezTo>
                  <a:lnTo>
                    <a:pt x="5238750" y="19050"/>
                  </a:lnTo>
                  <a:cubicBezTo>
                    <a:pt x="5238750" y="29571"/>
                    <a:pt x="5230221" y="38100"/>
                    <a:pt x="52197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62629" y="1606868"/>
              <a:ext cx="2456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PER-SCENE OPTIMIZATION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238250" y="2000250"/>
              <a:ext cx="2667000" cy="495300"/>
            </a:xfrm>
            <a:custGeom>
              <a:avLst/>
              <a:gdLst/>
              <a:ahLst/>
              <a:cxnLst/>
              <a:rect l="l" t="t" r="r" b="b"/>
              <a:pathLst>
                <a:path w="2667000" h="495300">
                  <a:moveTo>
                    <a:pt x="57150" y="0"/>
                  </a:moveTo>
                  <a:lnTo>
                    <a:pt x="2609850" y="0"/>
                  </a:lnTo>
                  <a:cubicBezTo>
                    <a:pt x="2641413" y="0"/>
                    <a:pt x="2667000" y="25587"/>
                    <a:pt x="2667000" y="57150"/>
                  </a:cubicBezTo>
                  <a:lnTo>
                    <a:pt x="2667000" y="438150"/>
                  </a:lnTo>
                  <a:cubicBezTo>
                    <a:pt x="2667000" y="469713"/>
                    <a:pt x="2641413" y="495300"/>
                    <a:pt x="2609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A0A0A"/>
            </a:solidFill>
            <a:ln w="9525">
              <a:solidFill>
                <a:srgbClr val="EF4444">
                  <a:alpha val="5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30347" y="2047875"/>
              <a:ext cx="16828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Scene A images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0581" y="2254568"/>
              <a:ext cx="15623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 training views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571750" y="24955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4288">
              <a:solidFill>
                <a:srgbClr val="EF4444"/>
              </a:solidFill>
              <a:custDash>
                <a:ds d="266666" sp="200000"/>
              </a:custDash>
            </a:ln>
          </p:spPr>
        </p:sp>
        <p:sp>
          <p:nvSpPr>
            <p:cNvPr id="13" name="Polygon 13"/>
            <p:cNvSpPr/>
            <p:nvPr/>
          </p:nvSpPr>
          <p:spPr>
            <a:xfrm>
              <a:off x="2514600" y="2724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238250" y="2838450"/>
              <a:ext cx="2667000" cy="495300"/>
            </a:xfrm>
            <a:custGeom>
              <a:avLst/>
              <a:gdLst/>
              <a:ahLst/>
              <a:cxnLst/>
              <a:rect l="l" t="t" r="r" b="b"/>
              <a:pathLst>
                <a:path w="2667000" h="495300">
                  <a:moveTo>
                    <a:pt x="57150" y="0"/>
                  </a:moveTo>
                  <a:lnTo>
                    <a:pt x="2609850" y="0"/>
                  </a:lnTo>
                  <a:cubicBezTo>
                    <a:pt x="2641413" y="0"/>
                    <a:pt x="2667000" y="25587"/>
                    <a:pt x="2667000" y="57150"/>
                  </a:cubicBezTo>
                  <a:lnTo>
                    <a:pt x="2667000" y="438150"/>
                  </a:lnTo>
                  <a:cubicBezTo>
                    <a:pt x="2667000" y="469713"/>
                    <a:pt x="2641413" y="495300"/>
                    <a:pt x="2609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A0A0A"/>
            </a:solidFill>
            <a:ln w="9525">
              <a:solidFill>
                <a:srgbClr val="EF4444">
                  <a:alpha val="5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39298" y="2886075"/>
              <a:ext cx="246490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Gradient descent loop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52564" y="3092768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30,000+ iterations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571750" y="33337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4288">
              <a:solidFill>
                <a:srgbClr val="EF4444"/>
              </a:solidFill>
              <a:custDash>
                <a:ds d="266666" sp="200000"/>
              </a:custDash>
            </a:ln>
          </p:spPr>
        </p:sp>
        <p:sp>
          <p:nvSpPr>
            <p:cNvPr id="18" name="Polygon 18"/>
            <p:cNvSpPr/>
            <p:nvPr/>
          </p:nvSpPr>
          <p:spPr>
            <a:xfrm>
              <a:off x="2514600" y="35623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238250" y="3676650"/>
              <a:ext cx="2667000" cy="495300"/>
            </a:xfrm>
            <a:custGeom>
              <a:avLst/>
              <a:gdLst/>
              <a:ahLst/>
              <a:cxnLst/>
              <a:rect l="l" t="t" r="r" b="b"/>
              <a:pathLst>
                <a:path w="2667000" h="495300">
                  <a:moveTo>
                    <a:pt x="57150" y="0"/>
                  </a:moveTo>
                  <a:lnTo>
                    <a:pt x="2609850" y="0"/>
                  </a:lnTo>
                  <a:cubicBezTo>
                    <a:pt x="2641413" y="0"/>
                    <a:pt x="2667000" y="25587"/>
                    <a:pt x="2667000" y="57150"/>
                  </a:cubicBezTo>
                  <a:lnTo>
                    <a:pt x="2667000" y="438150"/>
                  </a:lnTo>
                  <a:cubicBezTo>
                    <a:pt x="2667000" y="469713"/>
                    <a:pt x="2641413" y="495300"/>
                    <a:pt x="2609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A0A0A"/>
            </a:solidFill>
            <a:ln w="9525">
              <a:solidFill>
                <a:srgbClr val="EF4444">
                  <a:alpha val="5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26834" y="3724275"/>
              <a:ext cx="18898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3DGS for Scene 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11714" y="3930968"/>
              <a:ext cx="17200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~40 min per scene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25079" y="4344829"/>
              <a:ext cx="313159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75" b="1" dirty="0">
                  <a:solidFill>
                    <a:srgbClr val="EF4444"/>
                  </a:solidFill>
                  <a:latin typeface="Lato"/>
                  <a:ea typeface="Lato"/>
                  <a:cs typeface="Lato"/>
                </a:rPr>
                <a:t>Repeat for Scene B, C, D 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98734" y="4600575"/>
              <a:ext cx="3784282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Cost = O(N scenes × 40 min)</a:t>
              </a:r>
            </a:p>
            <a:p>
              <a:pPr algn="ctr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No shared knowledge across scenes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42889" y="5243036"/>
              <a:ext cx="349597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5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Not scalable for products.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0" y="1409700"/>
            <a:ext cx="5715000" cy="4381500"/>
            <a:chOff x="6096000" y="1409700"/>
            <a:chExt cx="5715000" cy="4381500"/>
          </a:xfrm>
        </p:grpSpPr>
        <p:sp>
          <p:nvSpPr>
            <p:cNvPr id="26" name="Freeform 26"/>
            <p:cNvSpPr/>
            <p:nvPr/>
          </p:nvSpPr>
          <p:spPr>
            <a:xfrm>
              <a:off x="6096000" y="1409700"/>
              <a:ext cx="5715000" cy="4381500"/>
            </a:xfrm>
            <a:custGeom>
              <a:avLst/>
              <a:gdLst/>
              <a:ahLst/>
              <a:cxnLst/>
              <a:rect l="l" t="t" r="r" b="b"/>
              <a:pathLst>
                <a:path w="5715000" h="4381500">
                  <a:moveTo>
                    <a:pt x="76200" y="0"/>
                  </a:moveTo>
                  <a:lnTo>
                    <a:pt x="5638800" y="0"/>
                  </a:lnTo>
                  <a:cubicBezTo>
                    <a:pt x="5680884" y="0"/>
                    <a:pt x="5715000" y="34116"/>
                    <a:pt x="5715000" y="76200"/>
                  </a:cubicBezTo>
                  <a:lnTo>
                    <a:pt x="5715000" y="4305300"/>
                  </a:lnTo>
                  <a:cubicBezTo>
                    <a:pt x="5715000" y="4347384"/>
                    <a:pt x="5680884" y="4381500"/>
                    <a:pt x="5638800" y="4381500"/>
                  </a:cubicBezTo>
                  <a:lnTo>
                    <a:pt x="76200" y="4381500"/>
                  </a:lnTo>
                  <a:cubicBezTo>
                    <a:pt x="34116" y="4381500"/>
                    <a:pt x="0" y="4347384"/>
                    <a:pt x="0" y="430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A855F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096000" y="1409700"/>
              <a:ext cx="5715000" cy="38100"/>
            </a:xfrm>
            <a:custGeom>
              <a:avLst/>
              <a:gdLst/>
              <a:ahLst/>
              <a:cxnLst/>
              <a:rect l="l" t="t" r="r" b="b"/>
              <a:pathLst>
                <a:path w="5715000" h="38100">
                  <a:moveTo>
                    <a:pt x="19050" y="0"/>
                  </a:moveTo>
                  <a:lnTo>
                    <a:pt x="5695950" y="0"/>
                  </a:lnTo>
                  <a:cubicBezTo>
                    <a:pt x="5706471" y="0"/>
                    <a:pt x="5715000" y="8529"/>
                    <a:pt x="5715000" y="19050"/>
                  </a:cubicBezTo>
                  <a:lnTo>
                    <a:pt x="5715000" y="19050"/>
                  </a:lnTo>
                  <a:cubicBezTo>
                    <a:pt x="5715000" y="29571"/>
                    <a:pt x="5706471" y="38100"/>
                    <a:pt x="5695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94200" y="1606868"/>
              <a:ext cx="25186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FEED-FORWARD INFERENCE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25254" y="1987868"/>
              <a:ext cx="2456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TRAINING (once, offline)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667500" y="2247900"/>
              <a:ext cx="4572000" cy="495300"/>
            </a:xfrm>
            <a:custGeom>
              <a:avLst/>
              <a:gdLst/>
              <a:ahLst/>
              <a:cxnLst/>
              <a:rect l="l" t="t" r="r" b="b"/>
              <a:pathLst>
                <a:path w="4572000" h="495300">
                  <a:moveTo>
                    <a:pt x="57150" y="0"/>
                  </a:moveTo>
                  <a:lnTo>
                    <a:pt x="4514850" y="0"/>
                  </a:lnTo>
                  <a:cubicBezTo>
                    <a:pt x="4546413" y="0"/>
                    <a:pt x="4572000" y="25587"/>
                    <a:pt x="4572000" y="57150"/>
                  </a:cubicBezTo>
                  <a:lnTo>
                    <a:pt x="4572000" y="438150"/>
                  </a:lnTo>
                  <a:cubicBezTo>
                    <a:pt x="4572000" y="469713"/>
                    <a:pt x="4546413" y="495300"/>
                    <a:pt x="4514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A0A14"/>
            </a:solidFill>
            <a:ln w="9525">
              <a:solidFill>
                <a:srgbClr val="6474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90057" y="2295525"/>
              <a:ext cx="23268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Large scene dataset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6041" y="2502218"/>
              <a:ext cx="27749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RealEstate10K, ACID, DL3DV …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953500" y="2743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4288">
              <a:solidFill>
                <a:srgbClr val="64748B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8896350" y="2971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667500" y="3086100"/>
              <a:ext cx="4572000" cy="495300"/>
            </a:xfrm>
            <a:custGeom>
              <a:avLst/>
              <a:gdLst/>
              <a:ahLst/>
              <a:cxnLst/>
              <a:rect l="l" t="t" r="r" b="b"/>
              <a:pathLst>
                <a:path w="4572000" h="495300">
                  <a:moveTo>
                    <a:pt x="57150" y="0"/>
                  </a:moveTo>
                  <a:lnTo>
                    <a:pt x="4514850" y="0"/>
                  </a:lnTo>
                  <a:cubicBezTo>
                    <a:pt x="4546413" y="0"/>
                    <a:pt x="4572000" y="25587"/>
                    <a:pt x="4572000" y="57150"/>
                  </a:cubicBezTo>
                  <a:lnTo>
                    <a:pt x="4572000" y="438150"/>
                  </a:lnTo>
                  <a:cubicBezTo>
                    <a:pt x="4572000" y="469713"/>
                    <a:pt x="4546413" y="495300"/>
                    <a:pt x="4514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A0A14"/>
            </a:solidFill>
            <a:ln w="9525">
              <a:solidFill>
                <a:srgbClr val="6474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33200" y="3133725"/>
              <a:ext cx="4040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Encoder network learns scene prior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17485" y="3340418"/>
              <a:ext cx="36720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Epipolar / cost-volume / transformer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67500" y="3752850"/>
              <a:ext cx="45720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40593" y="3835718"/>
              <a:ext cx="30258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INFERENCE (per scene, online)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667500" y="4095750"/>
              <a:ext cx="4572000" cy="495300"/>
            </a:xfrm>
            <a:custGeom>
              <a:avLst/>
              <a:gdLst/>
              <a:ahLst/>
              <a:cxnLst/>
              <a:rect l="l" t="t" r="r" b="b"/>
              <a:pathLst>
                <a:path w="4572000" h="495300">
                  <a:moveTo>
                    <a:pt x="57150" y="0"/>
                  </a:moveTo>
                  <a:lnTo>
                    <a:pt x="4514850" y="0"/>
                  </a:lnTo>
                  <a:cubicBezTo>
                    <a:pt x="4546413" y="0"/>
                    <a:pt x="4572000" y="25587"/>
                    <a:pt x="4572000" y="57150"/>
                  </a:cubicBezTo>
                  <a:lnTo>
                    <a:pt x="4572000" y="438150"/>
                  </a:lnTo>
                  <a:cubicBezTo>
                    <a:pt x="4572000" y="469713"/>
                    <a:pt x="4546413" y="495300"/>
                    <a:pt x="4514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A1A0A"/>
            </a:solidFill>
            <a:ln w="9525">
              <a:solidFill>
                <a:srgbClr val="22C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3089" y="4143375"/>
              <a:ext cx="18208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1–N input images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85077" y="4350068"/>
              <a:ext cx="3336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No poses required (some methods)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953500" y="45910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22C55E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8896350" y="48196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667500" y="4933950"/>
              <a:ext cx="4572000" cy="495300"/>
            </a:xfrm>
            <a:custGeom>
              <a:avLst/>
              <a:gdLst/>
              <a:ahLst/>
              <a:cxnLst/>
              <a:rect l="l" t="t" r="r" b="b"/>
              <a:pathLst>
                <a:path w="4572000" h="495300">
                  <a:moveTo>
                    <a:pt x="57150" y="0"/>
                  </a:moveTo>
                  <a:lnTo>
                    <a:pt x="4514850" y="0"/>
                  </a:lnTo>
                  <a:cubicBezTo>
                    <a:pt x="4546413" y="0"/>
                    <a:pt x="4572000" y="25587"/>
                    <a:pt x="4572000" y="57150"/>
                  </a:cubicBezTo>
                  <a:lnTo>
                    <a:pt x="4572000" y="438150"/>
                  </a:lnTo>
                  <a:cubicBezTo>
                    <a:pt x="4572000" y="469713"/>
                    <a:pt x="4546413" y="495300"/>
                    <a:pt x="4514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A1A0A"/>
            </a:solidFill>
            <a:ln w="19050">
              <a:solidFill>
                <a:srgbClr val="22C55E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33512" y="4981575"/>
              <a:ext cx="30399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3DGS output in milliseconds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70290" y="5188268"/>
              <a:ext cx="33664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Single forward pass — no gradients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7549798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Single-View Feed-Forward 3DGS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314450"/>
            <a:ext cx="3524250" cy="4667250"/>
            <a:chOff x="571500" y="1314450"/>
            <a:chExt cx="3524250" cy="4667250"/>
          </a:xfrm>
        </p:grpSpPr>
        <p:sp>
          <p:nvSpPr>
            <p:cNvPr id="6" name="Freeform 6"/>
            <p:cNvSpPr/>
            <p:nvPr/>
          </p:nvSpPr>
          <p:spPr>
            <a:xfrm>
              <a:off x="571500" y="1314450"/>
              <a:ext cx="3524250" cy="4667250"/>
            </a:xfrm>
            <a:custGeom>
              <a:avLst/>
              <a:gdLst/>
              <a:ahLst/>
              <a:cxnLst/>
              <a:rect l="l" t="t" r="r" b="b"/>
              <a:pathLst>
                <a:path w="3524250" h="4667250">
                  <a:moveTo>
                    <a:pt x="76200" y="0"/>
                  </a:moveTo>
                  <a:lnTo>
                    <a:pt x="3448050" y="0"/>
                  </a:lnTo>
                  <a:cubicBezTo>
                    <a:pt x="3490134" y="0"/>
                    <a:pt x="3524250" y="34116"/>
                    <a:pt x="3524250" y="76200"/>
                  </a:cubicBezTo>
                  <a:lnTo>
                    <a:pt x="3524250" y="4591050"/>
                  </a:lnTo>
                  <a:cubicBezTo>
                    <a:pt x="3524250" y="4633134"/>
                    <a:pt x="3490134" y="4667250"/>
                    <a:pt x="3448050" y="4667250"/>
                  </a:cubicBezTo>
                  <a:lnTo>
                    <a:pt x="76200" y="4667250"/>
                  </a:lnTo>
                  <a:cubicBezTo>
                    <a:pt x="34116" y="4667250"/>
                    <a:pt x="0" y="4633134"/>
                    <a:pt x="0" y="4591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314450"/>
              <a:ext cx="3524250" cy="38100"/>
            </a:xfrm>
            <a:custGeom>
              <a:avLst/>
              <a:gdLst/>
              <a:ahLst/>
              <a:cxnLst/>
              <a:rect l="l" t="t" r="r" b="b"/>
              <a:pathLst>
                <a:path w="3524250" h="38100">
                  <a:moveTo>
                    <a:pt x="19050" y="0"/>
                  </a:moveTo>
                  <a:lnTo>
                    <a:pt x="3505200" y="0"/>
                  </a:lnTo>
                  <a:cubicBezTo>
                    <a:pt x="3515721" y="0"/>
                    <a:pt x="3524250" y="8529"/>
                    <a:pt x="3524250" y="19050"/>
                  </a:cubicBezTo>
                  <a:lnTo>
                    <a:pt x="3524250" y="19050"/>
                  </a:lnTo>
                  <a:cubicBezTo>
                    <a:pt x="3524250" y="29571"/>
                    <a:pt x="3515721" y="38100"/>
                    <a:pt x="3505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5661" y="1430655"/>
              <a:ext cx="23559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Splatter Image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2511" y="1759268"/>
              <a:ext cx="29622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Szymanowicz et al., CVPR 2024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2038350"/>
              <a:ext cx="29908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1055" y="2178368"/>
              <a:ext cx="551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INPUT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9150" y="2371725"/>
              <a:ext cx="26450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1 image (object-centric)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1055" y="2730818"/>
              <a:ext cx="8416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KEY IDEA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9150" y="2924175"/>
              <a:ext cx="2918936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1 pixel → 1 Gaussian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Pure image-to-image U-Net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No explicit depth needed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055" y="3740468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SPEED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7245" y="3917632"/>
              <a:ext cx="1909524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Recon: 38 FPS</a:t>
              </a:r>
            </a:p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Render: 588 FPS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055" y="452151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LIMITATION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9150" y="4714875"/>
              <a:ext cx="3159919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Object-centric only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Far-view extrapolation fails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Requires known camera poses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33875" y="1314450"/>
            <a:ext cx="3524250" cy="4667250"/>
            <a:chOff x="4333875" y="1314450"/>
            <a:chExt cx="3524250" cy="4667250"/>
          </a:xfrm>
        </p:grpSpPr>
        <p:sp>
          <p:nvSpPr>
            <p:cNvPr id="20" name="Freeform 20"/>
            <p:cNvSpPr/>
            <p:nvPr/>
          </p:nvSpPr>
          <p:spPr>
            <a:xfrm>
              <a:off x="4333875" y="1314450"/>
              <a:ext cx="3524250" cy="4667250"/>
            </a:xfrm>
            <a:custGeom>
              <a:avLst/>
              <a:gdLst/>
              <a:ahLst/>
              <a:cxnLst/>
              <a:rect l="l" t="t" r="r" b="b"/>
              <a:pathLst>
                <a:path w="3524250" h="4667250">
                  <a:moveTo>
                    <a:pt x="76200" y="0"/>
                  </a:moveTo>
                  <a:lnTo>
                    <a:pt x="3448050" y="0"/>
                  </a:lnTo>
                  <a:cubicBezTo>
                    <a:pt x="3490134" y="0"/>
                    <a:pt x="3524250" y="34116"/>
                    <a:pt x="3524250" y="76200"/>
                  </a:cubicBezTo>
                  <a:lnTo>
                    <a:pt x="3524250" y="4591050"/>
                  </a:lnTo>
                  <a:cubicBezTo>
                    <a:pt x="3524250" y="4633134"/>
                    <a:pt x="3490134" y="4667250"/>
                    <a:pt x="3448050" y="4667250"/>
                  </a:cubicBezTo>
                  <a:lnTo>
                    <a:pt x="76200" y="4667250"/>
                  </a:lnTo>
                  <a:cubicBezTo>
                    <a:pt x="34116" y="4667250"/>
                    <a:pt x="0" y="4633134"/>
                    <a:pt x="0" y="4591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33875" y="1314450"/>
              <a:ext cx="3524250" cy="38100"/>
            </a:xfrm>
            <a:custGeom>
              <a:avLst/>
              <a:gdLst/>
              <a:ahLst/>
              <a:cxnLst/>
              <a:rect l="l" t="t" r="r" b="b"/>
              <a:pathLst>
                <a:path w="3524250" h="38100">
                  <a:moveTo>
                    <a:pt x="19050" y="0"/>
                  </a:moveTo>
                  <a:lnTo>
                    <a:pt x="3505200" y="0"/>
                  </a:lnTo>
                  <a:cubicBezTo>
                    <a:pt x="3515721" y="0"/>
                    <a:pt x="3524250" y="8529"/>
                    <a:pt x="3524250" y="19050"/>
                  </a:cubicBezTo>
                  <a:lnTo>
                    <a:pt x="3524250" y="19050"/>
                  </a:lnTo>
                  <a:cubicBezTo>
                    <a:pt x="3524250" y="29571"/>
                    <a:pt x="3515721" y="38100"/>
                    <a:pt x="3505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89658" y="1430655"/>
              <a:ext cx="12126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Flash3D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61346" y="1759268"/>
              <a:ext cx="2469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Szymanowicz et al., 2024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00575" y="2038350"/>
              <a:ext cx="29908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3430" y="2178368"/>
              <a:ext cx="551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084FC"/>
                  </a:solidFill>
                  <a:latin typeface="Poppins"/>
                  <a:ea typeface="Poppins"/>
                  <a:cs typeface="Poppins"/>
                </a:rPr>
                <a:t>INPUT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1525" y="2371725"/>
              <a:ext cx="29408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1 scene image (in-the-wild)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3430" y="2730818"/>
              <a:ext cx="8416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084FC"/>
                  </a:solidFill>
                  <a:latin typeface="Poppins"/>
                  <a:ea typeface="Poppins"/>
                  <a:cs typeface="Poppins"/>
                </a:rPr>
                <a:t>KEY IDEA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1525" y="2924175"/>
              <a:ext cx="2886075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Monocular depth backbone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+ layered Gaussian head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Occlusion layers for depth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3430" y="3740468"/>
              <a:ext cx="15662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GENERALIZATION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81525" y="3933825"/>
              <a:ext cx="2294572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NYU / KITTI zero-shot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1-GPU, 1-day training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83430" y="452151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LIMITATION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81525" y="4714875"/>
              <a:ext cx="3247549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Requires known camera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Layered model has fixed depth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budget (4 layers)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096250" y="1314450"/>
            <a:ext cx="3524250" cy="4667250"/>
            <a:chOff x="8096250" y="1314450"/>
            <a:chExt cx="3524250" cy="4667250"/>
          </a:xfrm>
        </p:grpSpPr>
        <p:sp>
          <p:nvSpPr>
            <p:cNvPr id="34" name="Freeform 34"/>
            <p:cNvSpPr/>
            <p:nvPr/>
          </p:nvSpPr>
          <p:spPr>
            <a:xfrm>
              <a:off x="8096250" y="1314450"/>
              <a:ext cx="3524250" cy="4667250"/>
            </a:xfrm>
            <a:custGeom>
              <a:avLst/>
              <a:gdLst/>
              <a:ahLst/>
              <a:cxnLst/>
              <a:rect l="l" t="t" r="r" b="b"/>
              <a:pathLst>
                <a:path w="3524250" h="4667250">
                  <a:moveTo>
                    <a:pt x="76200" y="0"/>
                  </a:moveTo>
                  <a:lnTo>
                    <a:pt x="3448050" y="0"/>
                  </a:lnTo>
                  <a:cubicBezTo>
                    <a:pt x="3490134" y="0"/>
                    <a:pt x="3524250" y="34116"/>
                    <a:pt x="3524250" y="76200"/>
                  </a:cubicBezTo>
                  <a:lnTo>
                    <a:pt x="3524250" y="4591050"/>
                  </a:lnTo>
                  <a:cubicBezTo>
                    <a:pt x="3524250" y="4633134"/>
                    <a:pt x="3490134" y="4667250"/>
                    <a:pt x="3448050" y="4667250"/>
                  </a:cubicBezTo>
                  <a:lnTo>
                    <a:pt x="76200" y="4667250"/>
                  </a:lnTo>
                  <a:cubicBezTo>
                    <a:pt x="34116" y="4667250"/>
                    <a:pt x="0" y="4633134"/>
                    <a:pt x="0" y="4591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96250" y="1314450"/>
              <a:ext cx="3524250" cy="38100"/>
            </a:xfrm>
            <a:custGeom>
              <a:avLst/>
              <a:gdLst/>
              <a:ahLst/>
              <a:cxnLst/>
              <a:rect l="l" t="t" r="r" b="b"/>
              <a:pathLst>
                <a:path w="3524250" h="38100">
                  <a:moveTo>
                    <a:pt x="19050" y="0"/>
                  </a:moveTo>
                  <a:lnTo>
                    <a:pt x="3505200" y="0"/>
                  </a:lnTo>
                  <a:cubicBezTo>
                    <a:pt x="3515721" y="0"/>
                    <a:pt x="3524250" y="8529"/>
                    <a:pt x="3524250" y="19050"/>
                  </a:cubicBezTo>
                  <a:lnTo>
                    <a:pt x="3524250" y="19050"/>
                  </a:lnTo>
                  <a:cubicBezTo>
                    <a:pt x="3524250" y="29571"/>
                    <a:pt x="3515721" y="38100"/>
                    <a:pt x="3505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88900" y="1430655"/>
              <a:ext cx="9389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SHARP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94090" y="1759268"/>
              <a:ext cx="1128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Apple, 2025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62950" y="2038350"/>
              <a:ext cx="29908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45805" y="2178368"/>
              <a:ext cx="551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INPUT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3900" y="2371725"/>
              <a:ext cx="14292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1 scene image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5805" y="2730818"/>
              <a:ext cx="8416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KEY IDEA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43900" y="2924175"/>
              <a:ext cx="2590324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Depth Pro + DPT decoder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~1.2M Gaussians output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340M parameter model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45805" y="3740468"/>
              <a:ext cx="1628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SPEED &amp; QUALITY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41995" y="3917632"/>
              <a:ext cx="1885426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Synth: 0.91s</a:t>
              </a:r>
            </a:p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Render: 4–22ms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43900" y="4371975"/>
              <a:ext cx="2163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LPIPS 25–34% better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45805" y="473106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LIMITATION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43900" y="4924425"/>
              <a:ext cx="2831306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Requires depth foundation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model (Depth Pro)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9157124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Sparse Multi-View Feed-Forward 3DGS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314450"/>
            <a:ext cx="3524250" cy="4857750"/>
            <a:chOff x="571500" y="1314450"/>
            <a:chExt cx="3524250" cy="4857750"/>
          </a:xfrm>
        </p:grpSpPr>
        <p:sp>
          <p:nvSpPr>
            <p:cNvPr id="6" name="Freeform 6"/>
            <p:cNvSpPr/>
            <p:nvPr/>
          </p:nvSpPr>
          <p:spPr>
            <a:xfrm>
              <a:off x="571500" y="1314450"/>
              <a:ext cx="3524250" cy="4857750"/>
            </a:xfrm>
            <a:custGeom>
              <a:avLst/>
              <a:gdLst/>
              <a:ahLst/>
              <a:cxnLst/>
              <a:rect l="l" t="t" r="r" b="b"/>
              <a:pathLst>
                <a:path w="3524250" h="4857750">
                  <a:moveTo>
                    <a:pt x="76200" y="0"/>
                  </a:moveTo>
                  <a:lnTo>
                    <a:pt x="3448050" y="0"/>
                  </a:lnTo>
                  <a:cubicBezTo>
                    <a:pt x="3490134" y="0"/>
                    <a:pt x="3524250" y="34116"/>
                    <a:pt x="3524250" y="76200"/>
                  </a:cubicBezTo>
                  <a:lnTo>
                    <a:pt x="3524250" y="4781550"/>
                  </a:lnTo>
                  <a:cubicBezTo>
                    <a:pt x="3524250" y="4823634"/>
                    <a:pt x="3490134" y="4857750"/>
                    <a:pt x="3448050" y="4857750"/>
                  </a:cubicBezTo>
                  <a:lnTo>
                    <a:pt x="76200" y="4857750"/>
                  </a:lnTo>
                  <a:cubicBezTo>
                    <a:pt x="34116" y="4857750"/>
                    <a:pt x="0" y="4823634"/>
                    <a:pt x="0" y="478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314450"/>
              <a:ext cx="3524250" cy="38100"/>
            </a:xfrm>
            <a:custGeom>
              <a:avLst/>
              <a:gdLst/>
              <a:ahLst/>
              <a:cxnLst/>
              <a:rect l="l" t="t" r="r" b="b"/>
              <a:pathLst>
                <a:path w="3524250" h="38100">
                  <a:moveTo>
                    <a:pt x="19050" y="0"/>
                  </a:moveTo>
                  <a:lnTo>
                    <a:pt x="3505200" y="0"/>
                  </a:lnTo>
                  <a:cubicBezTo>
                    <a:pt x="3515721" y="0"/>
                    <a:pt x="3524250" y="8529"/>
                    <a:pt x="3524250" y="19050"/>
                  </a:cubicBezTo>
                  <a:lnTo>
                    <a:pt x="3524250" y="19050"/>
                  </a:lnTo>
                  <a:cubicBezTo>
                    <a:pt x="3524250" y="29571"/>
                    <a:pt x="3515721" y="38100"/>
                    <a:pt x="3505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42109" y="1430655"/>
              <a:ext cx="158303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pixelSplat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46846" y="1759268"/>
              <a:ext cx="2173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Chen et al., CVPR 2024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2038350"/>
              <a:ext cx="29908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1055" y="2197418"/>
              <a:ext cx="551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INPUT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9150" y="2390775"/>
              <a:ext cx="28751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Posed image pair (2 views)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1055" y="2749868"/>
              <a:ext cx="8416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KEY IDEA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9150" y="2943225"/>
              <a:ext cx="3214688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Epipolar Transformer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Probabilistic depth → Gaussian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means directly from pixels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055" y="3778568"/>
              <a:ext cx="1628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METRICS (RE10K)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7245" y="3955732"/>
              <a:ext cx="1704689" cy="88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PSNR 26.09</a:t>
              </a:r>
            </a:p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SSIM 0.863</a:t>
              </a:r>
            </a:p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0.002s render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055" y="476916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LIMITATION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9150" y="4962525"/>
              <a:ext cx="2918936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Noisy geometry from depth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distribution uncertainty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Requires known poses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33875" y="1314450"/>
            <a:ext cx="4010025" cy="4857750"/>
            <a:chOff x="4333875" y="1314450"/>
            <a:chExt cx="4010025" cy="4857750"/>
          </a:xfrm>
        </p:grpSpPr>
        <p:sp>
          <p:nvSpPr>
            <p:cNvPr id="20" name="Freeform 20"/>
            <p:cNvSpPr/>
            <p:nvPr/>
          </p:nvSpPr>
          <p:spPr>
            <a:xfrm>
              <a:off x="4333875" y="1314450"/>
              <a:ext cx="3524250" cy="4857750"/>
            </a:xfrm>
            <a:custGeom>
              <a:avLst/>
              <a:gdLst/>
              <a:ahLst/>
              <a:cxnLst/>
              <a:rect l="l" t="t" r="r" b="b"/>
              <a:pathLst>
                <a:path w="3524250" h="4857750">
                  <a:moveTo>
                    <a:pt x="76200" y="0"/>
                  </a:moveTo>
                  <a:lnTo>
                    <a:pt x="3448050" y="0"/>
                  </a:lnTo>
                  <a:cubicBezTo>
                    <a:pt x="3490134" y="0"/>
                    <a:pt x="3524250" y="34116"/>
                    <a:pt x="3524250" y="76200"/>
                  </a:cubicBezTo>
                  <a:lnTo>
                    <a:pt x="3524250" y="4781550"/>
                  </a:lnTo>
                  <a:cubicBezTo>
                    <a:pt x="3524250" y="4823634"/>
                    <a:pt x="3490134" y="4857750"/>
                    <a:pt x="3448050" y="4857750"/>
                  </a:cubicBezTo>
                  <a:lnTo>
                    <a:pt x="76200" y="4857750"/>
                  </a:lnTo>
                  <a:cubicBezTo>
                    <a:pt x="34116" y="4857750"/>
                    <a:pt x="0" y="4823634"/>
                    <a:pt x="0" y="478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33875" y="1314450"/>
              <a:ext cx="3524250" cy="38100"/>
            </a:xfrm>
            <a:custGeom>
              <a:avLst/>
              <a:gdLst/>
              <a:ahLst/>
              <a:cxnLst/>
              <a:rect l="l" t="t" r="r" b="b"/>
              <a:pathLst>
                <a:path w="3524250" h="38100">
                  <a:moveTo>
                    <a:pt x="19050" y="0"/>
                  </a:moveTo>
                  <a:lnTo>
                    <a:pt x="3505200" y="0"/>
                  </a:lnTo>
                  <a:cubicBezTo>
                    <a:pt x="3515721" y="0"/>
                    <a:pt x="3524250" y="8529"/>
                    <a:pt x="3524250" y="19050"/>
                  </a:cubicBezTo>
                  <a:lnTo>
                    <a:pt x="3524250" y="19050"/>
                  </a:lnTo>
                  <a:cubicBezTo>
                    <a:pt x="3524250" y="29571"/>
                    <a:pt x="3515721" y="38100"/>
                    <a:pt x="3505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57454" y="1430655"/>
              <a:ext cx="127709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MVSplat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09221" y="1759268"/>
              <a:ext cx="2173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Chen et al., ECCV 2024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00575" y="2038350"/>
              <a:ext cx="29908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3430" y="2197418"/>
              <a:ext cx="551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084FC"/>
                  </a:solidFill>
                  <a:latin typeface="Poppins"/>
                  <a:ea typeface="Poppins"/>
                  <a:cs typeface="Poppins"/>
                </a:rPr>
                <a:t>INPUT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1525" y="2390775"/>
              <a:ext cx="26231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Posed sparse multi-view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3430" y="2749868"/>
              <a:ext cx="8416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084FC"/>
                  </a:solidFill>
                  <a:latin typeface="Poppins"/>
                  <a:ea typeface="Poppins"/>
                  <a:cs typeface="Poppins"/>
                </a:rPr>
                <a:t>KEY IDEA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1525" y="2943225"/>
              <a:ext cx="3762375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Cost-volume guided depth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More stable geometry than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pixelSplat's probabilistic approach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3430" y="3778568"/>
              <a:ext cx="1628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METRICS (RE10K)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79620" y="3955732"/>
              <a:ext cx="2801160" cy="88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PSNR 26.39</a:t>
              </a:r>
            </a:p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22 FPS rendering</a:t>
              </a:r>
            </a:p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12M params (10× fewer)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83430" y="476916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LIMITATION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81525" y="4962525"/>
              <a:ext cx="2995612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Still requires known camera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poses (SfM/COLMAP)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Fixed 2-view design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096250" y="1314450"/>
            <a:ext cx="3524250" cy="4857750"/>
            <a:chOff x="8096250" y="1314450"/>
            <a:chExt cx="3524250" cy="4857750"/>
          </a:xfrm>
        </p:grpSpPr>
        <p:sp>
          <p:nvSpPr>
            <p:cNvPr id="34" name="Freeform 34"/>
            <p:cNvSpPr/>
            <p:nvPr/>
          </p:nvSpPr>
          <p:spPr>
            <a:xfrm>
              <a:off x="8096250" y="1314450"/>
              <a:ext cx="3524250" cy="4857750"/>
            </a:xfrm>
            <a:custGeom>
              <a:avLst/>
              <a:gdLst/>
              <a:ahLst/>
              <a:cxnLst/>
              <a:rect l="l" t="t" r="r" b="b"/>
              <a:pathLst>
                <a:path w="3524250" h="4857750">
                  <a:moveTo>
                    <a:pt x="76200" y="0"/>
                  </a:moveTo>
                  <a:lnTo>
                    <a:pt x="3448050" y="0"/>
                  </a:lnTo>
                  <a:cubicBezTo>
                    <a:pt x="3490134" y="0"/>
                    <a:pt x="3524250" y="34116"/>
                    <a:pt x="3524250" y="76200"/>
                  </a:cubicBezTo>
                  <a:lnTo>
                    <a:pt x="3524250" y="4781550"/>
                  </a:lnTo>
                  <a:cubicBezTo>
                    <a:pt x="3524250" y="4823634"/>
                    <a:pt x="3490134" y="4857750"/>
                    <a:pt x="3448050" y="4857750"/>
                  </a:cubicBezTo>
                  <a:lnTo>
                    <a:pt x="76200" y="4857750"/>
                  </a:lnTo>
                  <a:cubicBezTo>
                    <a:pt x="34116" y="4857750"/>
                    <a:pt x="0" y="4823634"/>
                    <a:pt x="0" y="478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96250" y="1314450"/>
              <a:ext cx="3524250" cy="38100"/>
            </a:xfrm>
            <a:custGeom>
              <a:avLst/>
              <a:gdLst/>
              <a:ahLst/>
              <a:cxnLst/>
              <a:rect l="l" t="t" r="r" b="b"/>
              <a:pathLst>
                <a:path w="3524250" h="38100">
                  <a:moveTo>
                    <a:pt x="19050" y="0"/>
                  </a:moveTo>
                  <a:lnTo>
                    <a:pt x="3505200" y="0"/>
                  </a:lnTo>
                  <a:cubicBezTo>
                    <a:pt x="3515721" y="0"/>
                    <a:pt x="3524250" y="8529"/>
                    <a:pt x="3524250" y="19050"/>
                  </a:cubicBezTo>
                  <a:lnTo>
                    <a:pt x="3524250" y="19050"/>
                  </a:lnTo>
                  <a:cubicBezTo>
                    <a:pt x="3524250" y="29571"/>
                    <a:pt x="3515721" y="38100"/>
                    <a:pt x="3505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24476" y="1405890"/>
              <a:ext cx="22677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Depth Anything 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34995" y="1702118"/>
              <a:ext cx="2646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Wang et al., ICLR 2026 Oral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62950" y="1981200"/>
              <a:ext cx="29908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45805" y="2140268"/>
              <a:ext cx="551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INPUT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3900" y="2333625"/>
              <a:ext cx="21959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Any number of views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5805" y="2692718"/>
              <a:ext cx="8416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KEY IDEA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43900" y="2886075"/>
              <a:ext cx="319278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Visual geometry foundation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model (VGGT backbone)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Optional 3DGS prediction head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45805" y="3721418"/>
              <a:ext cx="13592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GAINS vs VGGT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43900" y="3914775"/>
              <a:ext cx="1955006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Pose acc: +35.7%</a:t>
              </a:r>
            </a:p>
            <a:p>
              <a:pPr algn="l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Geometry: +23.6%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43900" y="4352925"/>
              <a:ext cx="25903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Posed or unposed inputs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45805" y="4712018"/>
              <a:ext cx="996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</a:rPr>
                <a:t>DIRECTION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43900" y="4905375"/>
              <a:ext cx="3006566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"Geometry first, then 3DGS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on top" — foundation models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for 3D perception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7277789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Pose-Free Feed-Forward 3DGS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1314450"/>
            <a:ext cx="7526179" cy="2400300"/>
            <a:chOff x="571500" y="1314450"/>
            <a:chExt cx="7526179" cy="2400300"/>
          </a:xfrm>
        </p:grpSpPr>
        <p:sp>
          <p:nvSpPr>
            <p:cNvPr id="6" name="Freeform 6"/>
            <p:cNvSpPr/>
            <p:nvPr/>
          </p:nvSpPr>
          <p:spPr>
            <a:xfrm>
              <a:off x="571500" y="1314450"/>
              <a:ext cx="5429250" cy="2400300"/>
            </a:xfrm>
            <a:custGeom>
              <a:avLst/>
              <a:gdLst/>
              <a:ahLst/>
              <a:cxnLst/>
              <a:rect l="l" t="t" r="r" b="b"/>
              <a:pathLst>
                <a:path w="5429250" h="2400300">
                  <a:moveTo>
                    <a:pt x="76200" y="0"/>
                  </a:moveTo>
                  <a:lnTo>
                    <a:pt x="5353050" y="0"/>
                  </a:lnTo>
                  <a:cubicBezTo>
                    <a:pt x="5395134" y="0"/>
                    <a:pt x="5429250" y="34116"/>
                    <a:pt x="5429250" y="76200"/>
                  </a:cubicBezTo>
                  <a:lnTo>
                    <a:pt x="5429250" y="2324100"/>
                  </a:lnTo>
                  <a:cubicBezTo>
                    <a:pt x="5429250" y="2366184"/>
                    <a:pt x="5395134" y="2400300"/>
                    <a:pt x="5353050" y="2400300"/>
                  </a:cubicBezTo>
                  <a:lnTo>
                    <a:pt x="76200" y="2400300"/>
                  </a:lnTo>
                  <a:cubicBezTo>
                    <a:pt x="34116" y="2400300"/>
                    <a:pt x="0" y="2366184"/>
                    <a:pt x="0" y="23241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A855F7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314450"/>
              <a:ext cx="5429250" cy="38100"/>
            </a:xfrm>
            <a:custGeom>
              <a:avLst/>
              <a:gdLst/>
              <a:ahLst/>
              <a:cxnLst/>
              <a:rect l="l" t="t" r="r" b="b"/>
              <a:pathLst>
                <a:path w="5429250" h="38100">
                  <a:moveTo>
                    <a:pt x="19050" y="0"/>
                  </a:moveTo>
                  <a:lnTo>
                    <a:pt x="5410200" y="0"/>
                  </a:lnTo>
                  <a:cubicBezTo>
                    <a:pt x="5420721" y="0"/>
                    <a:pt x="5429250" y="8529"/>
                    <a:pt x="5429250" y="19050"/>
                  </a:cubicBezTo>
                  <a:lnTo>
                    <a:pt x="5429250" y="19050"/>
                  </a:lnTo>
                  <a:cubicBezTo>
                    <a:pt x="5429250" y="29571"/>
                    <a:pt x="5420721" y="38100"/>
                    <a:pt x="5410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3435" y="1427798"/>
              <a:ext cx="145500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NoPoSplat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1055" y="1721168"/>
              <a:ext cx="23904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Ye et al., ICLR 2025 Oral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63981" y="1492568"/>
              <a:ext cx="18250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NO POSE REQUIRED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1981200"/>
              <a:ext cx="48958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9150" y="2085975"/>
              <a:ext cx="7278529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Canonical-space Gaussians; intrinsic token handles scale ambiguity.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RE10K avg: PSNR 25.03 / SSIM 0.838 / LPIPS 0.160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8198" y="2535079"/>
              <a:ext cx="519264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Beats posed MVSplat — without any pose input!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9150" y="2790825"/>
              <a:ext cx="55806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Limitation: cannot hallucinate richly unseen regions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055" y="3035618"/>
              <a:ext cx="36818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Kaixin Xu, Ruikai Cui et al. (NUS / HKU)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91250" y="1314450"/>
            <a:ext cx="7219474" cy="2400300"/>
            <a:chOff x="6191250" y="1314450"/>
            <a:chExt cx="7219474" cy="2400300"/>
          </a:xfrm>
        </p:grpSpPr>
        <p:sp>
          <p:nvSpPr>
            <p:cNvPr id="17" name="Freeform 17"/>
            <p:cNvSpPr/>
            <p:nvPr/>
          </p:nvSpPr>
          <p:spPr>
            <a:xfrm>
              <a:off x="6191250" y="1314450"/>
              <a:ext cx="5429250" cy="2400300"/>
            </a:xfrm>
            <a:custGeom>
              <a:avLst/>
              <a:gdLst/>
              <a:ahLst/>
              <a:cxnLst/>
              <a:rect l="l" t="t" r="r" b="b"/>
              <a:pathLst>
                <a:path w="5429250" h="2400300">
                  <a:moveTo>
                    <a:pt x="76200" y="0"/>
                  </a:moveTo>
                  <a:lnTo>
                    <a:pt x="5353050" y="0"/>
                  </a:lnTo>
                  <a:cubicBezTo>
                    <a:pt x="5395134" y="0"/>
                    <a:pt x="5429250" y="34116"/>
                    <a:pt x="5429250" y="76200"/>
                  </a:cubicBezTo>
                  <a:lnTo>
                    <a:pt x="5429250" y="2324100"/>
                  </a:lnTo>
                  <a:cubicBezTo>
                    <a:pt x="5429250" y="2366184"/>
                    <a:pt x="5395134" y="2400300"/>
                    <a:pt x="5353050" y="2400300"/>
                  </a:cubicBezTo>
                  <a:lnTo>
                    <a:pt x="76200" y="2400300"/>
                  </a:lnTo>
                  <a:cubicBezTo>
                    <a:pt x="34116" y="2400300"/>
                    <a:pt x="0" y="2366184"/>
                    <a:pt x="0" y="23241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C084FC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191250" y="1314450"/>
              <a:ext cx="5429250" cy="38100"/>
            </a:xfrm>
            <a:custGeom>
              <a:avLst/>
              <a:gdLst/>
              <a:ahLst/>
              <a:cxnLst/>
              <a:rect l="l" t="t" r="r" b="b"/>
              <a:pathLst>
                <a:path w="5429250" h="38100">
                  <a:moveTo>
                    <a:pt x="19050" y="0"/>
                  </a:moveTo>
                  <a:lnTo>
                    <a:pt x="5410200" y="0"/>
                  </a:lnTo>
                  <a:cubicBezTo>
                    <a:pt x="5420721" y="0"/>
                    <a:pt x="5429250" y="8529"/>
                    <a:pt x="5429250" y="19050"/>
                  </a:cubicBezTo>
                  <a:lnTo>
                    <a:pt x="5429250" y="19050"/>
                  </a:lnTo>
                  <a:cubicBezTo>
                    <a:pt x="5429250" y="29571"/>
                    <a:pt x="5420721" y="38100"/>
                    <a:pt x="5410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33185" y="1427798"/>
              <a:ext cx="112606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PF3plat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40805" y="1721168"/>
              <a:ext cx="23312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ICML 2025 — KAIST CV Lab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45881" y="1492568"/>
              <a:ext cx="18250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C084FC"/>
                  </a:solidFill>
                  <a:latin typeface="Poppins"/>
                  <a:ea typeface="Poppins"/>
                  <a:cs typeface="Poppins"/>
                </a:rPr>
                <a:t>NO POSE REQUIRED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57950" y="1981200"/>
              <a:ext cx="48958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38900" y="2085975"/>
              <a:ext cx="6971824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Coarse monocular depth + visual correspondence → align → refine.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SOTA on RE10K / ACID / DL3DV; wide-baseline, RGB-only input.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No pre-trained depth model required at inference.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8900" y="2790825"/>
              <a:ext cx="61612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Limitation: not yet tested on unbounded outdoor scenes.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40805" y="3035618"/>
              <a:ext cx="29129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84FC"/>
                  </a:solidFill>
                  <a:latin typeface="Lato"/>
                  <a:ea typeface="Lato"/>
                  <a:cs typeface="Lato"/>
                </a:rPr>
                <a:t>Korean research team (KAIST)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905250"/>
            <a:ext cx="7427595" cy="2305050"/>
            <a:chOff x="571500" y="3905250"/>
            <a:chExt cx="7427595" cy="2305050"/>
          </a:xfrm>
        </p:grpSpPr>
        <p:sp>
          <p:nvSpPr>
            <p:cNvPr id="27" name="Freeform 27"/>
            <p:cNvSpPr/>
            <p:nvPr/>
          </p:nvSpPr>
          <p:spPr>
            <a:xfrm>
              <a:off x="571500" y="3905250"/>
              <a:ext cx="5429250" cy="2305050"/>
            </a:xfrm>
            <a:custGeom>
              <a:avLst/>
              <a:gdLst/>
              <a:ahLst/>
              <a:cxnLst/>
              <a:rect l="l" t="t" r="r" b="b"/>
              <a:pathLst>
                <a:path w="5429250" h="2305050">
                  <a:moveTo>
                    <a:pt x="76200" y="0"/>
                  </a:moveTo>
                  <a:lnTo>
                    <a:pt x="5353050" y="0"/>
                  </a:lnTo>
                  <a:cubicBezTo>
                    <a:pt x="5395134" y="0"/>
                    <a:pt x="5429250" y="34116"/>
                    <a:pt x="5429250" y="76200"/>
                  </a:cubicBezTo>
                  <a:lnTo>
                    <a:pt x="5429250" y="2228850"/>
                  </a:lnTo>
                  <a:cubicBezTo>
                    <a:pt x="5429250" y="2270934"/>
                    <a:pt x="5395134" y="2305050"/>
                    <a:pt x="5353050" y="2305050"/>
                  </a:cubicBezTo>
                  <a:lnTo>
                    <a:pt x="76200" y="2305050"/>
                  </a:lnTo>
                  <a:cubicBezTo>
                    <a:pt x="34116" y="2305050"/>
                    <a:pt x="0" y="2270934"/>
                    <a:pt x="0" y="2228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7C3AED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71500" y="3905250"/>
              <a:ext cx="5429250" cy="38100"/>
            </a:xfrm>
            <a:custGeom>
              <a:avLst/>
              <a:gdLst/>
              <a:ahLst/>
              <a:cxnLst/>
              <a:rect l="l" t="t" r="r" b="b"/>
              <a:pathLst>
                <a:path w="5429250" h="38100">
                  <a:moveTo>
                    <a:pt x="19050" y="0"/>
                  </a:moveTo>
                  <a:lnTo>
                    <a:pt x="5410200" y="0"/>
                  </a:lnTo>
                  <a:cubicBezTo>
                    <a:pt x="5420721" y="0"/>
                    <a:pt x="5429250" y="8529"/>
                    <a:pt x="5429250" y="19050"/>
                  </a:cubicBezTo>
                  <a:lnTo>
                    <a:pt x="5429250" y="19050"/>
                  </a:lnTo>
                  <a:cubicBezTo>
                    <a:pt x="5429250" y="29571"/>
                    <a:pt x="5420721" y="38100"/>
                    <a:pt x="5410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3435" y="4018598"/>
              <a:ext cx="138024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SelfSplat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055" y="4311968"/>
              <a:ext cx="9609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CVPR 2025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98548" y="40833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7C3AED"/>
                  </a:solidFill>
                  <a:latin typeface="Poppins"/>
                  <a:ea typeface="Poppins"/>
                  <a:cs typeface="Poppins"/>
                </a:rPr>
                <a:t>SELF-SUPERVISED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38200" y="4572000"/>
              <a:ext cx="48958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9150" y="4676775"/>
              <a:ext cx="6993731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No pose or 3D supervision during training — pure self-supervised.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Strong results on RE10K / ACID / DL3DV; cross-dataset transfer.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9150" y="5133975"/>
              <a:ext cx="71799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Limitation: quality gap vs. supervised methods on complex scenes.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1055" y="5378768"/>
              <a:ext cx="24791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3AED"/>
                  </a:solidFill>
                  <a:latin typeface="Lato"/>
                  <a:ea typeface="Lato"/>
                  <a:cs typeface="Lato"/>
                </a:rPr>
                <a:t>Korean team contribution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91250" y="3905250"/>
            <a:ext cx="7635716" cy="2305050"/>
            <a:chOff x="6191250" y="3905250"/>
            <a:chExt cx="7635716" cy="2305050"/>
          </a:xfrm>
        </p:grpSpPr>
        <p:sp>
          <p:nvSpPr>
            <p:cNvPr id="37" name="Freeform 37"/>
            <p:cNvSpPr/>
            <p:nvPr/>
          </p:nvSpPr>
          <p:spPr>
            <a:xfrm>
              <a:off x="6191250" y="3905250"/>
              <a:ext cx="5429250" cy="2305050"/>
            </a:xfrm>
            <a:custGeom>
              <a:avLst/>
              <a:gdLst/>
              <a:ahLst/>
              <a:cxnLst/>
              <a:rect l="l" t="t" r="r" b="b"/>
              <a:pathLst>
                <a:path w="5429250" h="2305050">
                  <a:moveTo>
                    <a:pt x="76200" y="0"/>
                  </a:moveTo>
                  <a:lnTo>
                    <a:pt x="5353050" y="0"/>
                  </a:lnTo>
                  <a:cubicBezTo>
                    <a:pt x="5395134" y="0"/>
                    <a:pt x="5429250" y="34116"/>
                    <a:pt x="5429250" y="76200"/>
                  </a:cubicBezTo>
                  <a:lnTo>
                    <a:pt x="5429250" y="2228850"/>
                  </a:lnTo>
                  <a:cubicBezTo>
                    <a:pt x="5429250" y="2270934"/>
                    <a:pt x="5395134" y="2305050"/>
                    <a:pt x="5353050" y="2305050"/>
                  </a:cubicBezTo>
                  <a:lnTo>
                    <a:pt x="76200" y="2305050"/>
                  </a:lnTo>
                  <a:cubicBezTo>
                    <a:pt x="34116" y="2305050"/>
                    <a:pt x="0" y="2270934"/>
                    <a:pt x="0" y="2228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22C55E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191250" y="3905250"/>
              <a:ext cx="5429250" cy="38100"/>
            </a:xfrm>
            <a:custGeom>
              <a:avLst/>
              <a:gdLst/>
              <a:ahLst/>
              <a:cxnLst/>
              <a:rect l="l" t="t" r="r" b="b"/>
              <a:pathLst>
                <a:path w="5429250" h="38100">
                  <a:moveTo>
                    <a:pt x="19050" y="0"/>
                  </a:moveTo>
                  <a:lnTo>
                    <a:pt x="5410200" y="0"/>
                  </a:lnTo>
                  <a:cubicBezTo>
                    <a:pt x="5420721" y="0"/>
                    <a:pt x="5429250" y="8529"/>
                    <a:pt x="5429250" y="19050"/>
                  </a:cubicBezTo>
                  <a:lnTo>
                    <a:pt x="5429250" y="19050"/>
                  </a:lnTo>
                  <a:cubicBezTo>
                    <a:pt x="5429250" y="29571"/>
                    <a:pt x="5420721" y="38100"/>
                    <a:pt x="54102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33185" y="4018598"/>
              <a:ext cx="12905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AnySplat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40805" y="4311968"/>
              <a:ext cx="13158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ACM TOG 2025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90612" y="4083368"/>
              <a:ext cx="19803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UNCALIBRATED ANY-N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57950" y="4572000"/>
              <a:ext cx="48958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38900" y="4676775"/>
              <a:ext cx="7388066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Uncalibrated sparse→dense; voxelized Gaussians; VGGT pseudo-prior.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Zero-shot: near pose-aware quality, beats all pose-free baselines.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37948" y="5125879"/>
              <a:ext cx="534216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"Lifelong scene prior + unconstrained capture"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38900" y="5362575"/>
              <a:ext cx="48577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Limitation: voxel resolution limits fine detail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9429133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Feed-Forward 3DGS: Method Landscape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sp>
        <p:nvSpPr>
          <p:cNvPr id="6" name="Freeform 6"/>
          <p:cNvSpPr/>
          <p:nvPr/>
        </p:nvSpPr>
        <p:spPr>
          <a:xfrm>
            <a:off x="571500" y="1314450"/>
            <a:ext cx="11049000" cy="400050"/>
          </a:xfrm>
          <a:custGeom>
            <a:avLst/>
            <a:gdLst/>
            <a:ahLst/>
            <a:cxnLst/>
            <a:rect l="l" t="t" r="r" b="b"/>
            <a:pathLst>
              <a:path w="11049000" h="4000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361950"/>
                </a:lnTo>
                <a:cubicBezTo>
                  <a:pt x="11049000" y="382992"/>
                  <a:pt x="11031942" y="400050"/>
                  <a:pt x="11010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0D2E"/>
          </a:solidFill>
          <a:ln w="9525">
            <a:solidFill>
              <a:srgbClr val="A855F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38212" y="1440656"/>
            <a:ext cx="6669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METHOD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89461" y="1440656"/>
            <a:ext cx="4598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5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INPUT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76037" y="1440656"/>
            <a:ext cx="8394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5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INFERENCE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50787" y="1440656"/>
            <a:ext cx="4426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5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POSE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4095" y="1440656"/>
            <a:ext cx="5030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5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SPEED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41159" y="144065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5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RE10K PSNR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21245" y="1440656"/>
            <a:ext cx="5030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5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VENUE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714500"/>
            <a:ext cx="11049000" cy="438150"/>
          </a:xfrm>
          <a:prstGeom prst="rect">
            <a:avLst/>
          </a:prstGeom>
          <a:solidFill>
            <a:srgbClr val="0D0D14"/>
          </a:solidFill>
          <a:ln w="4762">
            <a:solidFill>
              <a:srgbClr val="1E1E2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35355" y="1835468"/>
            <a:ext cx="15130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3DGS (baseline)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93868" y="1835468"/>
            <a:ext cx="16510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posed multi-view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90615" y="1835468"/>
            <a:ext cx="10102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F4444"/>
                </a:solidFill>
                <a:latin typeface="Lato"/>
                <a:ea typeface="Lato"/>
                <a:cs typeface="Lato"/>
              </a:rPr>
              <a:t>per-scene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71895" y="1835468"/>
            <a:ext cx="10004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F4444"/>
                </a:solidFill>
                <a:latin typeface="Lato"/>
                <a:ea typeface="Lato"/>
                <a:cs typeface="Lato"/>
              </a:rPr>
              <a:t>Yes (SfM)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13156" y="1835468"/>
            <a:ext cx="13848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~40 min/scene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15384" y="18354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26766" y="1835468"/>
            <a:ext cx="8919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TOG 2023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152650"/>
            <a:ext cx="11049000" cy="438150"/>
          </a:xfrm>
          <a:prstGeom prst="rect">
            <a:avLst/>
          </a:prstGeom>
          <a:solidFill>
            <a:srgbClr val="0A0A11"/>
          </a:solidFill>
          <a:ln w="4762">
            <a:solidFill>
              <a:srgbClr val="1E1E2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35355" y="2273618"/>
            <a:ext cx="14440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Splatter Image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92452" y="2273618"/>
            <a:ext cx="14538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1 view (object)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08236" y="2273618"/>
            <a:ext cx="1375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Lato"/>
                <a:ea typeface="Lato"/>
                <a:cs typeface="Lato"/>
              </a:rPr>
              <a:t>feed-forward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92292" y="227361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F4444"/>
                </a:solidFill>
                <a:latin typeface="Lato"/>
                <a:ea typeface="Lato"/>
                <a:cs typeface="Lato"/>
              </a:rPr>
              <a:t>Yes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87094" y="2273618"/>
            <a:ext cx="12370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38 FPS recon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15384" y="227361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092261" y="2273618"/>
            <a:ext cx="9609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CVPR 2024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2590800"/>
            <a:ext cx="11049000" cy="438150"/>
          </a:xfrm>
          <a:prstGeom prst="rect">
            <a:avLst/>
          </a:prstGeom>
          <a:solidFill>
            <a:srgbClr val="0D0D14"/>
          </a:solidFill>
          <a:ln w="4762">
            <a:solidFill>
              <a:srgbClr val="1E1E2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35355" y="2711768"/>
            <a:ext cx="7440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Flash3D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22027" y="2711768"/>
            <a:ext cx="13947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1 view (scene)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08236" y="2711768"/>
            <a:ext cx="1375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Lato"/>
                <a:ea typeface="Lato"/>
                <a:cs typeface="Lato"/>
              </a:rPr>
              <a:t>feed-forward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92292" y="271176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F4444"/>
                </a:solidFill>
                <a:latin typeface="Lato"/>
                <a:ea typeface="Lato"/>
                <a:cs typeface="Lato"/>
              </a:rPr>
              <a:t>Yes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83581" y="2711768"/>
            <a:ext cx="14440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near real-time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15384" y="27117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38721" y="27117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2024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3028950"/>
            <a:ext cx="11049000" cy="438150"/>
          </a:xfrm>
          <a:prstGeom prst="rect">
            <a:avLst/>
          </a:prstGeom>
          <a:solidFill>
            <a:srgbClr val="0A0A11"/>
          </a:solidFill>
          <a:ln w="4762">
            <a:solidFill>
              <a:srgbClr val="1E1E2E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35355" y="314991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SHARP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22027" y="3149918"/>
            <a:ext cx="13947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1 view (scene)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08236" y="3149918"/>
            <a:ext cx="1375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Lato"/>
                <a:ea typeface="Lato"/>
                <a:cs typeface="Lato"/>
              </a:rPr>
              <a:t>feed-forward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192292" y="314991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F4444"/>
                </a:solidFill>
                <a:latin typeface="Lato"/>
                <a:ea typeface="Lato"/>
                <a:cs typeface="Lato"/>
              </a:rPr>
              <a:t>Yes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165961" y="3149918"/>
            <a:ext cx="10792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0.91s total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15384" y="314991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62686" y="3149918"/>
            <a:ext cx="10201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Apple 2025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3467100"/>
            <a:ext cx="11049000" cy="438150"/>
          </a:xfrm>
          <a:prstGeom prst="rect">
            <a:avLst/>
          </a:prstGeom>
          <a:solidFill>
            <a:srgbClr val="0D0D14"/>
          </a:solidFill>
          <a:ln w="4762">
            <a:solidFill>
              <a:srgbClr val="1E1E2E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35355" y="3588068"/>
            <a:ext cx="9708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pixelSplat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452283" y="3588068"/>
            <a:ext cx="7342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2 views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408236" y="3588068"/>
            <a:ext cx="1375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Lato"/>
                <a:ea typeface="Lato"/>
                <a:cs typeface="Lato"/>
              </a:rPr>
              <a:t>feed-forward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92292" y="358806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F4444"/>
                </a:solidFill>
                <a:latin typeface="Lato"/>
                <a:ea typeface="Lato"/>
                <a:cs typeface="Lato"/>
              </a:rPr>
              <a:t>Yes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008227" y="3588068"/>
            <a:ext cx="13947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0.002s render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998500" y="35880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26.09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092261" y="3588068"/>
            <a:ext cx="9609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CVPR 2024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3905250"/>
            <a:ext cx="11049000" cy="438150"/>
          </a:xfrm>
          <a:prstGeom prst="rect">
            <a:avLst/>
          </a:prstGeom>
          <a:solidFill>
            <a:srgbClr val="0A0A11"/>
          </a:solidFill>
          <a:ln w="4762">
            <a:solidFill>
              <a:srgbClr val="1E1E2E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35355" y="4026218"/>
            <a:ext cx="783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MVSplat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343841" y="4026218"/>
            <a:ext cx="9511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2–N views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408236" y="4026218"/>
            <a:ext cx="1375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Lato"/>
                <a:ea typeface="Lato"/>
                <a:cs typeface="Lato"/>
              </a:rPr>
              <a:t>feed-forward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92292" y="402621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F4444"/>
                </a:solidFill>
                <a:latin typeface="Lato"/>
                <a:ea typeface="Lato"/>
                <a:cs typeface="Lato"/>
              </a:rPr>
              <a:t>Yes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87775" y="4026218"/>
            <a:ext cx="6356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22 FPS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998500" y="402621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26.39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92261" y="4026218"/>
            <a:ext cx="9609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ECCV 2024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71500" y="4343400"/>
            <a:ext cx="11049000" cy="438150"/>
          </a:xfrm>
          <a:prstGeom prst="rect">
            <a:avLst/>
          </a:prstGeom>
          <a:solidFill>
            <a:srgbClr val="1A0D2E"/>
          </a:solidFill>
          <a:ln w="9525">
            <a:solidFill>
              <a:srgbClr val="A855F7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571500" y="4343400"/>
            <a:ext cx="38100" cy="438150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935355" y="4464368"/>
            <a:ext cx="10073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NoPoSplat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343841" y="4464368"/>
            <a:ext cx="9511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2–N views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408236" y="4464368"/>
            <a:ext cx="1375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Lato"/>
                <a:ea typeface="Lato"/>
                <a:cs typeface="Lato"/>
              </a:rPr>
              <a:t>feed-forward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246513" y="4464368"/>
            <a:ext cx="2511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No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230041" y="4464368"/>
            <a:ext cx="9511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real-time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998500" y="44643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25.03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875377" y="4464368"/>
            <a:ext cx="13947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A855F7"/>
                </a:solidFill>
                <a:latin typeface="Lato"/>
                <a:ea typeface="Lato"/>
                <a:cs typeface="Lato"/>
              </a:rPr>
              <a:t>ICLR 2025 Oral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4781550"/>
            <a:ext cx="11049000" cy="438150"/>
          </a:xfrm>
          <a:prstGeom prst="rect">
            <a:avLst/>
          </a:prstGeom>
          <a:solidFill>
            <a:srgbClr val="1A0D2E"/>
          </a:solidFill>
          <a:ln w="9525">
            <a:solidFill>
              <a:srgbClr val="A855F7"/>
            </a:solidFill>
          </a:ln>
        </p:spPr>
      </p:sp>
      <p:sp>
        <p:nvSpPr>
          <p:cNvPr id="72" name="Rectangle 72"/>
          <p:cNvSpPr/>
          <p:nvPr/>
        </p:nvSpPr>
        <p:spPr>
          <a:xfrm>
            <a:off x="571500" y="4781550"/>
            <a:ext cx="38100" cy="43815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935355" y="4902518"/>
            <a:ext cx="8934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AnySplat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151602" y="4902518"/>
            <a:ext cx="13355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N views (any)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408236" y="4902518"/>
            <a:ext cx="1375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Lato"/>
                <a:ea typeface="Lato"/>
                <a:cs typeface="Lato"/>
              </a:rPr>
              <a:t>feed-forward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46513" y="4902518"/>
            <a:ext cx="2511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No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254687" y="4902518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one-shot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786545" y="4902518"/>
            <a:ext cx="10004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near SOTA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126766" y="4902518"/>
            <a:ext cx="8919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A855F7"/>
                </a:solidFill>
                <a:latin typeface="Lato"/>
                <a:ea typeface="Lato"/>
                <a:cs typeface="Lato"/>
              </a:rPr>
              <a:t>TOG 2025</a:t>
            </a:r>
          </a:p>
        </p:txBody>
      </p:sp>
      <p:sp>
        <p:nvSpPr>
          <p:cNvPr id="80" name="Freeform 80"/>
          <p:cNvSpPr/>
          <p:nvPr/>
        </p:nvSpPr>
        <p:spPr>
          <a:xfrm>
            <a:off x="571500" y="5391150"/>
            <a:ext cx="11049000" cy="419100"/>
          </a:xfrm>
          <a:custGeom>
            <a:avLst/>
            <a:gdLst/>
            <a:ahLst/>
            <a:cxnLst/>
            <a:rect l="l" t="t" r="r" b="b"/>
            <a:pathLst>
              <a:path w="11049000" h="4191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61950"/>
                </a:lnTo>
                <a:cubicBezTo>
                  <a:pt x="11049000" y="393513"/>
                  <a:pt x="11023413" y="419100"/>
                  <a:pt x="10991850" y="419100"/>
                </a:cubicBezTo>
                <a:lnTo>
                  <a:pt x="57150" y="419100"/>
                </a:lnTo>
                <a:cubicBezTo>
                  <a:pt x="25587" y="419100"/>
                  <a:pt x="0" y="393513"/>
                  <a:pt x="0" y="361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D0D14"/>
          </a:solidFill>
          <a:ln w="9525">
            <a:solidFill>
              <a:srgbClr val="1E1E2E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935355" y="549306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Key trend: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830705" y="5493068"/>
            <a:ext cx="95969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Pose requirement dropping out · inference speed rising · quality converging toward per-scene 3DGS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48549" y="2167890"/>
            <a:ext cx="1494901" cy="365760"/>
            <a:chOff x="5348549" y="2167890"/>
            <a:chExt cx="1494901" cy="365760"/>
          </a:xfrm>
        </p:grpSpPr>
        <p:sp>
          <p:nvSpPr>
            <p:cNvPr id="2" name="TextBox 2"/>
            <p:cNvSpPr txBox="1"/>
            <p:nvPr/>
          </p:nvSpPr>
          <p:spPr>
            <a:xfrm>
              <a:off x="5348549" y="2167890"/>
              <a:ext cx="149490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CHAPTER 04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0" y="2514600"/>
              <a:ext cx="1143000" cy="9525"/>
            </a:xfrm>
            <a:prstGeom prst="rect">
              <a:avLst/>
            </a:prstGeom>
            <a:solidFill>
              <a:srgbClr val="A855F7">
                <a:alpha val="55000"/>
              </a:srgbClr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3882330" y="2943225"/>
            <a:ext cx="4427339" cy="914400"/>
            <a:chOff x="3882330" y="2943225"/>
            <a:chExt cx="4427339" cy="914400"/>
          </a:xfrm>
        </p:grpSpPr>
        <p:sp>
          <p:nvSpPr>
            <p:cNvPr id="5" name="TextBox 5"/>
            <p:cNvSpPr txBox="1"/>
            <p:nvPr/>
          </p:nvSpPr>
          <p:spPr>
            <a:xfrm>
              <a:off x="3882330" y="2943225"/>
              <a:ext cx="4427339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5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World Models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51632" y="3738086"/>
            <a:ext cx="5888736" cy="350520"/>
            <a:chOff x="3151632" y="3738086"/>
            <a:chExt cx="5888736" cy="350520"/>
          </a:xfrm>
        </p:grpSpPr>
        <p:sp>
          <p:nvSpPr>
            <p:cNvPr id="7" name="TextBox 7"/>
            <p:cNvSpPr txBox="1"/>
            <p:nvPr/>
          </p:nvSpPr>
          <p:spPr>
            <a:xfrm>
              <a:off x="3151632" y="3738086"/>
              <a:ext cx="58887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From Reconstruction to Generation &amp; Simulation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1541720" cy="655320"/>
            <a:chOff x="571500" y="604361"/>
            <a:chExt cx="11541720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11382652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World Models: Generating Persistent 3D Worlds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314450"/>
            <a:ext cx="4000500" cy="4762500"/>
            <a:chOff x="571500" y="1314450"/>
            <a:chExt cx="4000500" cy="4762500"/>
          </a:xfrm>
        </p:grpSpPr>
        <p:sp>
          <p:nvSpPr>
            <p:cNvPr id="6" name="Freeform 6"/>
            <p:cNvSpPr/>
            <p:nvPr/>
          </p:nvSpPr>
          <p:spPr>
            <a:xfrm>
              <a:off x="571500" y="1314450"/>
              <a:ext cx="4000500" cy="4762500"/>
            </a:xfrm>
            <a:custGeom>
              <a:avLst/>
              <a:gdLst/>
              <a:ahLst/>
              <a:cxnLst/>
              <a:rect l="l" t="t" r="r" b="b"/>
              <a:pathLst>
                <a:path w="4000500" h="4762500">
                  <a:moveTo>
                    <a:pt x="76200" y="0"/>
                  </a:moveTo>
                  <a:lnTo>
                    <a:pt x="3924300" y="0"/>
                  </a:lnTo>
                  <a:cubicBezTo>
                    <a:pt x="3966384" y="0"/>
                    <a:pt x="4000500" y="34116"/>
                    <a:pt x="4000500" y="76200"/>
                  </a:cubicBezTo>
                  <a:lnTo>
                    <a:pt x="4000500" y="4686300"/>
                  </a:lnTo>
                  <a:cubicBezTo>
                    <a:pt x="4000500" y="4728384"/>
                    <a:pt x="3966384" y="4762500"/>
                    <a:pt x="3924300" y="4762500"/>
                  </a:cubicBezTo>
                  <a:lnTo>
                    <a:pt x="76200" y="4762500"/>
                  </a:lnTo>
                  <a:cubicBezTo>
                    <a:pt x="34116" y="4762500"/>
                    <a:pt x="0" y="4728384"/>
                    <a:pt x="0" y="468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1E1E2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314450"/>
              <a:ext cx="57150" cy="4762500"/>
            </a:xfrm>
            <a:custGeom>
              <a:avLst/>
              <a:gdLst/>
              <a:ahLst/>
              <a:cxnLst/>
              <a:rect l="l" t="t" r="r" b="b"/>
              <a:pathLst>
                <a:path w="57150" h="4762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733925"/>
                  </a:lnTo>
                  <a:cubicBezTo>
                    <a:pt x="57150" y="4749707"/>
                    <a:pt x="44357" y="4762500"/>
                    <a:pt x="28575" y="4762500"/>
                  </a:cubicBezTo>
                  <a:lnTo>
                    <a:pt x="28575" y="4762500"/>
                  </a:lnTo>
                  <a:cubicBezTo>
                    <a:pt x="12793" y="4762500"/>
                    <a:pt x="0" y="4749707"/>
                    <a:pt x="0" y="4733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0105" y="1492568"/>
              <a:ext cx="24875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WHAT IS A WORLD MODEL?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1752600"/>
              <a:ext cx="34480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248" y="1868329"/>
              <a:ext cx="227415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Classical definition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8200" y="2105025"/>
              <a:ext cx="3127057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Ha &amp; Schmidhuber (2018):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Latent dynamics model of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the environment for planning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895600"/>
              <a:ext cx="34480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7248" y="3011329"/>
              <a:ext cx="336104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Modern expansion (2024–25)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8200" y="3248025"/>
              <a:ext cx="2480786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Video foundation model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+ 3D spatial generation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+ physics simulation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4038600"/>
              <a:ext cx="34480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7248" y="4154329"/>
              <a:ext cx="186355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Key capabilities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8200" y="4391025"/>
              <a:ext cx="329136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Predict unseen viewpoints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Generate future frames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Simulate interaction outcomes</a:t>
              </a:r>
            </a:p>
            <a:p>
              <a:pPr algn="l" marL="228600" indent="-133350">
                <a:buFont typeface="Lato"/>
                <a:buChar char="•"/>
              </a:pPr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Maintain persistent state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0105" y="5454968"/>
              <a:ext cx="2991803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3DGS = internal representation</a:t>
              </a:r>
            </a:p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World model = cognition on top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762500" y="1314450"/>
            <a:ext cx="8246269" cy="2266950"/>
            <a:chOff x="4762500" y="1314450"/>
            <a:chExt cx="8246269" cy="2266950"/>
          </a:xfrm>
        </p:grpSpPr>
        <p:sp>
          <p:nvSpPr>
            <p:cNvPr id="20" name="Freeform 20"/>
            <p:cNvSpPr/>
            <p:nvPr/>
          </p:nvSpPr>
          <p:spPr>
            <a:xfrm>
              <a:off x="4762500" y="1314450"/>
              <a:ext cx="6858000" cy="2266950"/>
            </a:xfrm>
            <a:custGeom>
              <a:avLst/>
              <a:gdLst/>
              <a:ahLst/>
              <a:cxnLst/>
              <a:rect l="l" t="t" r="r" b="b"/>
              <a:pathLst>
                <a:path w="6858000" h="2266950">
                  <a:moveTo>
                    <a:pt x="76200" y="0"/>
                  </a:moveTo>
                  <a:lnTo>
                    <a:pt x="6781800" y="0"/>
                  </a:lnTo>
                  <a:cubicBezTo>
                    <a:pt x="6823884" y="0"/>
                    <a:pt x="6858000" y="34116"/>
                    <a:pt x="6858000" y="76200"/>
                  </a:cubicBezTo>
                  <a:lnTo>
                    <a:pt x="6858000" y="2190750"/>
                  </a:lnTo>
                  <a:cubicBezTo>
                    <a:pt x="6858000" y="2232834"/>
                    <a:pt x="6823884" y="2266950"/>
                    <a:pt x="6781800" y="2266950"/>
                  </a:cubicBezTo>
                  <a:lnTo>
                    <a:pt x="76200" y="2266950"/>
                  </a:lnTo>
                  <a:cubicBezTo>
                    <a:pt x="34116" y="2266950"/>
                    <a:pt x="0" y="2232834"/>
                    <a:pt x="0" y="2190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C084F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762500" y="1314450"/>
              <a:ext cx="6858000" cy="38100"/>
            </a:xfrm>
            <a:custGeom>
              <a:avLst/>
              <a:gdLst/>
              <a:ahLst/>
              <a:cxnLst/>
              <a:rect l="l" t="t" r="r" b="b"/>
              <a:pathLst>
                <a:path w="6858000" h="38100">
                  <a:moveTo>
                    <a:pt x="19050" y="0"/>
                  </a:moveTo>
                  <a:lnTo>
                    <a:pt x="6838950" y="0"/>
                  </a:lnTo>
                  <a:cubicBezTo>
                    <a:pt x="6849471" y="0"/>
                    <a:pt x="6858000" y="8529"/>
                    <a:pt x="6858000" y="19050"/>
                  </a:cubicBezTo>
                  <a:lnTo>
                    <a:pt x="6858000" y="19050"/>
                  </a:lnTo>
                  <a:cubicBezTo>
                    <a:pt x="6858000" y="29571"/>
                    <a:pt x="6849471" y="38100"/>
                    <a:pt x="6838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23485" y="1427798"/>
              <a:ext cx="202317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NVIDIA Cosmos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31105" y="1721168"/>
              <a:ext cx="38297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World Foundation Model Platform · 2025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48250" y="1981200"/>
              <a:ext cx="63055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29200" y="2085975"/>
              <a:ext cx="7979569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Platform: video curation + WFM + tokenizer + fine-tuning toolkit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Three modes: Cosmos Predict / Cosmos Transfer / Cosmos Reason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Scale: 20M hrs curated data · 9,000T tokens · AR + diffusion transformer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1105" y="2883218"/>
              <a:ext cx="44749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084FC"/>
                  </a:solidFill>
                  <a:latin typeface="Poppins"/>
                  <a:ea typeface="Poppins"/>
                  <a:cs typeface="Poppins"/>
                </a:rPr>
                <a:t>3D Consistency (on RealDreamer benchmark)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29200" y="3095625"/>
              <a:ext cx="5734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084FC"/>
                  </a:solidFill>
                  <a:latin typeface="Consolas"/>
                  <a:ea typeface="Consolas"/>
                  <a:cs typeface="Consolas"/>
                </a:rPr>
                <a:t>Sampson Err 0.355 · Pose Success 62.6% · PSNR 33.02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0" y="3771900"/>
            <a:ext cx="7139940" cy="2333625"/>
            <a:chOff x="4762500" y="3771900"/>
            <a:chExt cx="7139940" cy="2333625"/>
          </a:xfrm>
        </p:grpSpPr>
        <p:sp>
          <p:nvSpPr>
            <p:cNvPr id="29" name="Freeform 29"/>
            <p:cNvSpPr/>
            <p:nvPr/>
          </p:nvSpPr>
          <p:spPr>
            <a:xfrm>
              <a:off x="4762500" y="3771900"/>
              <a:ext cx="6858000" cy="2305050"/>
            </a:xfrm>
            <a:custGeom>
              <a:avLst/>
              <a:gdLst/>
              <a:ahLst/>
              <a:cxnLst/>
              <a:rect l="l" t="t" r="r" b="b"/>
              <a:pathLst>
                <a:path w="6858000" h="2305050">
                  <a:moveTo>
                    <a:pt x="76200" y="0"/>
                  </a:moveTo>
                  <a:lnTo>
                    <a:pt x="6781800" y="0"/>
                  </a:lnTo>
                  <a:cubicBezTo>
                    <a:pt x="6823884" y="0"/>
                    <a:pt x="6858000" y="34116"/>
                    <a:pt x="6858000" y="76200"/>
                  </a:cubicBezTo>
                  <a:lnTo>
                    <a:pt x="6858000" y="2228850"/>
                  </a:lnTo>
                  <a:cubicBezTo>
                    <a:pt x="6858000" y="2270934"/>
                    <a:pt x="6823884" y="2305050"/>
                    <a:pt x="6781800" y="2305050"/>
                  </a:cubicBezTo>
                  <a:lnTo>
                    <a:pt x="76200" y="2305050"/>
                  </a:lnTo>
                  <a:cubicBezTo>
                    <a:pt x="34116" y="2305050"/>
                    <a:pt x="0" y="2270934"/>
                    <a:pt x="0" y="2228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14288">
              <a:solidFill>
                <a:srgbClr val="22C55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762500" y="3771900"/>
              <a:ext cx="6858000" cy="38100"/>
            </a:xfrm>
            <a:custGeom>
              <a:avLst/>
              <a:gdLst/>
              <a:ahLst/>
              <a:cxnLst/>
              <a:rect l="l" t="t" r="r" b="b"/>
              <a:pathLst>
                <a:path w="6858000" h="38100">
                  <a:moveTo>
                    <a:pt x="19050" y="0"/>
                  </a:moveTo>
                  <a:lnTo>
                    <a:pt x="6838950" y="0"/>
                  </a:lnTo>
                  <a:cubicBezTo>
                    <a:pt x="6849471" y="0"/>
                    <a:pt x="6858000" y="8529"/>
                    <a:pt x="6858000" y="19050"/>
                  </a:cubicBezTo>
                  <a:lnTo>
                    <a:pt x="6858000" y="19050"/>
                  </a:lnTo>
                  <a:cubicBezTo>
                    <a:pt x="6858000" y="29571"/>
                    <a:pt x="6849471" y="38100"/>
                    <a:pt x="6838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23485" y="3885248"/>
              <a:ext cx="389216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World Labs: Marble &amp; RTFM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31105" y="4178618"/>
              <a:ext cx="3060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Sohl-Dickstein, Ha et al. · 2025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048250" y="4438650"/>
              <a:ext cx="63055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028248" y="4535329"/>
              <a:ext cx="295044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Marble — geometry-first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29200" y="4772025"/>
              <a:ext cx="5449252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Text / image / video / layout → persistent 3D world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Export as Gaussian splats, meshes, or video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048250" y="5295900"/>
              <a:ext cx="63055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28248" y="5335429"/>
              <a:ext cx="234661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RTFM — frame-first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29200" y="5553075"/>
              <a:ext cx="687324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Autoregressive diffusion transformer · KV-cache = world state</a:t>
              </a:r>
            </a:p>
            <a:p>
              <a:pPr algn="l"/>
              <a:r>
                <a:rPr lang="en-US" sz="150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No explicit 3D — implicitly consistent world representation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5719920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The Evolving Bottleneck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" y="1905000"/>
            <a:ext cx="1828800" cy="2857500"/>
            <a:chOff x="571500" y="1905000"/>
            <a:chExt cx="1828800" cy="2857500"/>
          </a:xfrm>
        </p:grpSpPr>
        <p:sp>
          <p:nvSpPr>
            <p:cNvPr id="6" name="Freeform 6"/>
            <p:cNvSpPr/>
            <p:nvPr/>
          </p:nvSpPr>
          <p:spPr>
            <a:xfrm>
              <a:off x="571500" y="1905000"/>
              <a:ext cx="1828800" cy="2857500"/>
            </a:xfrm>
            <a:custGeom>
              <a:avLst/>
              <a:gdLst/>
              <a:ahLst/>
              <a:cxnLst/>
              <a:rect l="l" t="t" r="r" b="b"/>
              <a:pathLst>
                <a:path w="1828800" h="2857500">
                  <a:moveTo>
                    <a:pt x="76200" y="0"/>
                  </a:moveTo>
                  <a:lnTo>
                    <a:pt x="1752600" y="0"/>
                  </a:lnTo>
                  <a:cubicBezTo>
                    <a:pt x="1794684" y="0"/>
                    <a:pt x="1828800" y="34116"/>
                    <a:pt x="1828800" y="76200"/>
                  </a:cubicBezTo>
                  <a:lnTo>
                    <a:pt x="1828800" y="2781300"/>
                  </a:lnTo>
                  <a:cubicBezTo>
                    <a:pt x="1828800" y="2823384"/>
                    <a:pt x="1794684" y="2857500"/>
                    <a:pt x="1752600" y="2857500"/>
                  </a:cubicBezTo>
                  <a:lnTo>
                    <a:pt x="76200" y="2857500"/>
                  </a:lnTo>
                  <a:cubicBezTo>
                    <a:pt x="34116" y="2857500"/>
                    <a:pt x="0" y="2823384"/>
                    <a:pt x="0" y="2781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64748B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905000"/>
              <a:ext cx="1828800" cy="38100"/>
            </a:xfrm>
            <a:custGeom>
              <a:avLst/>
              <a:gdLst/>
              <a:ahLst/>
              <a:cxnLst/>
              <a:rect l="l" t="t" r="r" b="b"/>
              <a:pathLst>
                <a:path w="1828800" h="38100">
                  <a:moveTo>
                    <a:pt x="19050" y="0"/>
                  </a:moveTo>
                  <a:lnTo>
                    <a:pt x="1809750" y="0"/>
                  </a:lnTo>
                  <a:cubicBezTo>
                    <a:pt x="1820271" y="0"/>
                    <a:pt x="1828800" y="8529"/>
                    <a:pt x="1828800" y="19050"/>
                  </a:cubicBezTo>
                  <a:lnTo>
                    <a:pt x="1828800" y="19050"/>
                  </a:lnTo>
                  <a:cubicBezTo>
                    <a:pt x="1828800" y="29571"/>
                    <a:pt x="1820271" y="38100"/>
                    <a:pt x="18097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584" y="2064068"/>
              <a:ext cx="1576633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Classical</a:t>
              </a:r>
            </a:p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Reconstruction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0651" y="25593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SfM / MVS / Mesh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2876550"/>
              <a:ext cx="12954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926" y="3002756"/>
              <a:ext cx="101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BOTTLENECK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6969" y="3188018"/>
              <a:ext cx="1177862" cy="72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Topology &amp;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coverage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constraints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0139" y="4260056"/>
              <a:ext cx="751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Pre-2020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2438400" y="3333750"/>
            <a:ext cx="209550" cy="9525"/>
          </a:xfrm>
          <a:custGeom>
            <a:avLst/>
            <a:gdLst/>
            <a:ahLst/>
            <a:cxnLst/>
            <a:rect l="l" t="t" r="r" b="b"/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9050">
            <a:solidFill>
              <a:srgbClr val="A855F7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2647950" y="3276600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A855F7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2794897" y="1905000"/>
            <a:ext cx="1877806" cy="2857500"/>
            <a:chOff x="2794897" y="1905000"/>
            <a:chExt cx="1877806" cy="2857500"/>
          </a:xfrm>
        </p:grpSpPr>
        <p:sp>
          <p:nvSpPr>
            <p:cNvPr id="17" name="Freeform 17"/>
            <p:cNvSpPr/>
            <p:nvPr/>
          </p:nvSpPr>
          <p:spPr>
            <a:xfrm>
              <a:off x="2819400" y="1905000"/>
              <a:ext cx="1828800" cy="2857500"/>
            </a:xfrm>
            <a:custGeom>
              <a:avLst/>
              <a:gdLst/>
              <a:ahLst/>
              <a:cxnLst/>
              <a:rect l="l" t="t" r="r" b="b"/>
              <a:pathLst>
                <a:path w="1828800" h="2857500">
                  <a:moveTo>
                    <a:pt x="76200" y="0"/>
                  </a:moveTo>
                  <a:lnTo>
                    <a:pt x="1752600" y="0"/>
                  </a:lnTo>
                  <a:cubicBezTo>
                    <a:pt x="1794684" y="0"/>
                    <a:pt x="1828800" y="34116"/>
                    <a:pt x="1828800" y="76200"/>
                  </a:cubicBezTo>
                  <a:lnTo>
                    <a:pt x="1828800" y="2781300"/>
                  </a:lnTo>
                  <a:cubicBezTo>
                    <a:pt x="1828800" y="2823384"/>
                    <a:pt x="1794684" y="2857500"/>
                    <a:pt x="1752600" y="2857500"/>
                  </a:cubicBezTo>
                  <a:lnTo>
                    <a:pt x="76200" y="2857500"/>
                  </a:lnTo>
                  <a:cubicBezTo>
                    <a:pt x="34116" y="2857500"/>
                    <a:pt x="0" y="2823384"/>
                    <a:pt x="0" y="2781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7C3AED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19400" y="1905000"/>
              <a:ext cx="1828800" cy="38100"/>
            </a:xfrm>
            <a:custGeom>
              <a:avLst/>
              <a:gdLst/>
              <a:ahLst/>
              <a:cxnLst/>
              <a:rect l="l" t="t" r="r" b="b"/>
              <a:pathLst>
                <a:path w="1828800" h="38100">
                  <a:moveTo>
                    <a:pt x="19050" y="0"/>
                  </a:moveTo>
                  <a:lnTo>
                    <a:pt x="1809750" y="0"/>
                  </a:lnTo>
                  <a:cubicBezTo>
                    <a:pt x="1820271" y="0"/>
                    <a:pt x="1828800" y="8529"/>
                    <a:pt x="1828800" y="19050"/>
                  </a:cubicBezTo>
                  <a:lnTo>
                    <a:pt x="1828800" y="19050"/>
                  </a:lnTo>
                  <a:cubicBezTo>
                    <a:pt x="1828800" y="29571"/>
                    <a:pt x="1820271" y="38100"/>
                    <a:pt x="18097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40308" y="2064068"/>
              <a:ext cx="1586984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Neural Radiance</a:t>
              </a:r>
            </a:p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Fields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94897" y="2559368"/>
              <a:ext cx="18778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NeRF / Mip-NeRF360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086100" y="2876550"/>
              <a:ext cx="12954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27826" y="3002756"/>
              <a:ext cx="101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BOTTLENECK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90648" y="3188018"/>
              <a:ext cx="1286304" cy="72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48h training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0.06 FPS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render speed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12855" y="4260056"/>
              <a:ext cx="8418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2020–2022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4686300" y="3333750"/>
            <a:ext cx="209550" cy="9525"/>
          </a:xfrm>
          <a:custGeom>
            <a:avLst/>
            <a:gdLst/>
            <a:ahLst/>
            <a:cxnLst/>
            <a:rect l="l" t="t" r="r" b="b"/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9050">
            <a:solidFill>
              <a:srgbClr val="A855F7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4895850" y="3276600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A855F7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5012672" y="1676400"/>
            <a:ext cx="2166657" cy="3314700"/>
            <a:chOff x="5012672" y="1676400"/>
            <a:chExt cx="2166657" cy="3314700"/>
          </a:xfrm>
        </p:grpSpPr>
        <p:sp>
          <p:nvSpPr>
            <p:cNvPr id="28" name="Freeform 28"/>
            <p:cNvSpPr/>
            <p:nvPr/>
          </p:nvSpPr>
          <p:spPr>
            <a:xfrm>
              <a:off x="5067300" y="1676400"/>
              <a:ext cx="2057400" cy="3314700"/>
            </a:xfrm>
            <a:custGeom>
              <a:avLst/>
              <a:gdLst/>
              <a:ahLst/>
              <a:cxnLst/>
              <a:rect l="l" t="t" r="r" b="b"/>
              <a:pathLst>
                <a:path w="2057400" h="3314700">
                  <a:moveTo>
                    <a:pt x="76200" y="0"/>
                  </a:moveTo>
                  <a:lnTo>
                    <a:pt x="1981200" y="0"/>
                  </a:lnTo>
                  <a:cubicBezTo>
                    <a:pt x="2023284" y="0"/>
                    <a:pt x="2057400" y="34116"/>
                    <a:pt x="2057400" y="76200"/>
                  </a:cubicBezTo>
                  <a:lnTo>
                    <a:pt x="2057400" y="3238500"/>
                  </a:lnTo>
                  <a:cubicBezTo>
                    <a:pt x="2057400" y="3280584"/>
                    <a:pt x="2023284" y="3314700"/>
                    <a:pt x="1981200" y="3314700"/>
                  </a:cubicBezTo>
                  <a:lnTo>
                    <a:pt x="76200" y="3314700"/>
                  </a:lnTo>
                  <a:cubicBezTo>
                    <a:pt x="34116" y="3314700"/>
                    <a:pt x="0" y="3280584"/>
                    <a:pt x="0" y="32385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A0D2E"/>
            </a:solidFill>
            <a:ln w="19050">
              <a:solidFill>
                <a:srgbClr val="A855F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067300" y="1676400"/>
              <a:ext cx="2057400" cy="38100"/>
            </a:xfrm>
            <a:custGeom>
              <a:avLst/>
              <a:gdLst/>
              <a:ahLst/>
              <a:cxnLst/>
              <a:rect l="l" t="t" r="r" b="b"/>
              <a:pathLst>
                <a:path w="2057400" h="38100">
                  <a:moveTo>
                    <a:pt x="19050" y="0"/>
                  </a:moveTo>
                  <a:lnTo>
                    <a:pt x="2038350" y="0"/>
                  </a:lnTo>
                  <a:cubicBezTo>
                    <a:pt x="2048871" y="0"/>
                    <a:pt x="2057400" y="8529"/>
                    <a:pt x="2057400" y="19050"/>
                  </a:cubicBezTo>
                  <a:lnTo>
                    <a:pt x="2057400" y="19050"/>
                  </a:lnTo>
                  <a:cubicBezTo>
                    <a:pt x="2057400" y="29571"/>
                    <a:pt x="2048871" y="38100"/>
                    <a:pt x="20383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40400" y="1873568"/>
              <a:ext cx="17112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Explicit Radiance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12672" y="2083118"/>
              <a:ext cx="21666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 Gaussian Splatting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0327" y="2349818"/>
              <a:ext cx="16313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A855F7"/>
                  </a:solidFill>
                  <a:latin typeface="Lato"/>
                  <a:ea typeface="Lato"/>
                  <a:cs typeface="Lato"/>
                </a:rPr>
                <a:t>Kerbl et al. 2023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0" y="2647950"/>
              <a:ext cx="1524000" cy="9525"/>
            </a:xfrm>
            <a:prstGeom prst="rect">
              <a:avLst/>
            </a:prstGeom>
            <a:solidFill>
              <a:srgbClr val="A855F7">
                <a:alpha val="3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79800" y="2774156"/>
              <a:ext cx="632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SOLVED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41632" y="2943225"/>
              <a:ext cx="1308735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160 FPS</a:t>
              </a:r>
            </a:p>
            <a:p>
              <a:pPr algn="ctr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40 min train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0" y="3524250"/>
              <a:ext cx="15240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80600" y="3650456"/>
              <a:ext cx="830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REMAINING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82423" y="3835718"/>
              <a:ext cx="1227153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Per-scene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optimization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35394" y="4526756"/>
              <a:ext cx="1121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A855F7"/>
                  </a:solidFill>
                  <a:latin typeface="Lato"/>
                  <a:ea typeface="Lato"/>
                  <a:cs typeface="Lato"/>
                </a:rPr>
                <a:t>SIGGRAPH 2023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7162800" y="3333750"/>
            <a:ext cx="209550" cy="9525"/>
          </a:xfrm>
          <a:custGeom>
            <a:avLst/>
            <a:gdLst/>
            <a:ahLst/>
            <a:cxnLst/>
            <a:rect l="l" t="t" r="r" b="b"/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9050">
            <a:solidFill>
              <a:srgbClr val="A855F7"/>
            </a:solidFill>
          </a:ln>
        </p:spPr>
      </p:sp>
      <p:sp>
        <p:nvSpPr>
          <p:cNvPr id="42" name="Polygon 42"/>
          <p:cNvSpPr/>
          <p:nvPr/>
        </p:nvSpPr>
        <p:spPr>
          <a:xfrm>
            <a:off x="7372350" y="3276600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A855F7"/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7524226" y="1905000"/>
            <a:ext cx="1867948" cy="2857500"/>
            <a:chOff x="7524226" y="1905000"/>
            <a:chExt cx="1867948" cy="2857500"/>
          </a:xfrm>
        </p:grpSpPr>
        <p:sp>
          <p:nvSpPr>
            <p:cNvPr id="43" name="Freeform 43"/>
            <p:cNvSpPr/>
            <p:nvPr/>
          </p:nvSpPr>
          <p:spPr>
            <a:xfrm>
              <a:off x="7543800" y="1905000"/>
              <a:ext cx="1828800" cy="2857500"/>
            </a:xfrm>
            <a:custGeom>
              <a:avLst/>
              <a:gdLst/>
              <a:ahLst/>
              <a:cxnLst/>
              <a:rect l="l" t="t" r="r" b="b"/>
              <a:pathLst>
                <a:path w="1828800" h="2857500">
                  <a:moveTo>
                    <a:pt x="76200" y="0"/>
                  </a:moveTo>
                  <a:lnTo>
                    <a:pt x="1752600" y="0"/>
                  </a:lnTo>
                  <a:cubicBezTo>
                    <a:pt x="1794684" y="0"/>
                    <a:pt x="1828800" y="34116"/>
                    <a:pt x="1828800" y="76200"/>
                  </a:cubicBezTo>
                  <a:lnTo>
                    <a:pt x="1828800" y="2781300"/>
                  </a:lnTo>
                  <a:cubicBezTo>
                    <a:pt x="1828800" y="2823384"/>
                    <a:pt x="1794684" y="2857500"/>
                    <a:pt x="1752600" y="2857500"/>
                  </a:cubicBezTo>
                  <a:lnTo>
                    <a:pt x="76200" y="2857500"/>
                  </a:lnTo>
                  <a:cubicBezTo>
                    <a:pt x="34116" y="2857500"/>
                    <a:pt x="0" y="2823384"/>
                    <a:pt x="0" y="2781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C084FC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543800" y="1905000"/>
              <a:ext cx="1828800" cy="38100"/>
            </a:xfrm>
            <a:custGeom>
              <a:avLst/>
              <a:gdLst/>
              <a:ahLst/>
              <a:cxnLst/>
              <a:rect l="l" t="t" r="r" b="b"/>
              <a:pathLst>
                <a:path w="1828800" h="38100">
                  <a:moveTo>
                    <a:pt x="19050" y="0"/>
                  </a:moveTo>
                  <a:lnTo>
                    <a:pt x="1809750" y="0"/>
                  </a:lnTo>
                  <a:cubicBezTo>
                    <a:pt x="1820271" y="0"/>
                    <a:pt x="1828800" y="8529"/>
                    <a:pt x="1828800" y="19050"/>
                  </a:cubicBezTo>
                  <a:lnTo>
                    <a:pt x="1828800" y="19050"/>
                  </a:lnTo>
                  <a:cubicBezTo>
                    <a:pt x="1828800" y="29571"/>
                    <a:pt x="1820271" y="38100"/>
                    <a:pt x="18097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C084F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54544" y="2064068"/>
              <a:ext cx="1007312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Universal</a:t>
              </a:r>
            </a:p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Inference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24226" y="2559368"/>
              <a:ext cx="18679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Feed-Forward 3DGS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810500" y="2876550"/>
              <a:ext cx="12954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68678" y="3002756"/>
              <a:ext cx="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EF4444"/>
                  </a:solidFill>
                  <a:latin typeface="Poppins"/>
                  <a:ea typeface="Poppins"/>
                  <a:cs typeface="Poppins"/>
                </a:rPr>
                <a:t>FRONTIER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85473" y="3188018"/>
              <a:ext cx="1345454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Unseen region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generation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37255" y="4260056"/>
              <a:ext cx="8418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2024–2025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9410700" y="3333750"/>
            <a:ext cx="209550" cy="9525"/>
          </a:xfrm>
          <a:custGeom>
            <a:avLst/>
            <a:gdLst/>
            <a:ahLst/>
            <a:cxnLst/>
            <a:rect l="l" t="t" r="r" b="b"/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9050">
            <a:solidFill>
              <a:srgbClr val="A855F7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9620250" y="3276600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A855F7"/>
          </a:solidFill>
          <a:ln>
            <a:noFill/>
          </a:ln>
        </p:spPr>
      </p:sp>
      <p:grpSp>
        <p:nvGrpSpPr>
          <p:cNvPr id="62" name="Group 62"/>
          <p:cNvGrpSpPr/>
          <p:nvPr/>
        </p:nvGrpSpPr>
        <p:grpSpPr>
          <a:xfrm>
            <a:off x="9778041" y="1905000"/>
            <a:ext cx="1856118" cy="2857500"/>
            <a:chOff x="9778041" y="1905000"/>
            <a:chExt cx="1856118" cy="2857500"/>
          </a:xfrm>
        </p:grpSpPr>
        <p:sp>
          <p:nvSpPr>
            <p:cNvPr id="54" name="Freeform 54"/>
            <p:cNvSpPr/>
            <p:nvPr/>
          </p:nvSpPr>
          <p:spPr>
            <a:xfrm>
              <a:off x="9791700" y="1905000"/>
              <a:ext cx="1828800" cy="2857500"/>
            </a:xfrm>
            <a:custGeom>
              <a:avLst/>
              <a:gdLst/>
              <a:ahLst/>
              <a:cxnLst/>
              <a:rect l="l" t="t" r="r" b="b"/>
              <a:pathLst>
                <a:path w="1828800" h="2857500">
                  <a:moveTo>
                    <a:pt x="76200" y="0"/>
                  </a:moveTo>
                  <a:lnTo>
                    <a:pt x="1752600" y="0"/>
                  </a:lnTo>
                  <a:cubicBezTo>
                    <a:pt x="1794684" y="0"/>
                    <a:pt x="1828800" y="34116"/>
                    <a:pt x="1828800" y="76200"/>
                  </a:cubicBezTo>
                  <a:lnTo>
                    <a:pt x="1828800" y="2781300"/>
                  </a:lnTo>
                  <a:cubicBezTo>
                    <a:pt x="1828800" y="2823384"/>
                    <a:pt x="1794684" y="2857500"/>
                    <a:pt x="1752600" y="2857500"/>
                  </a:cubicBezTo>
                  <a:lnTo>
                    <a:pt x="76200" y="2857500"/>
                  </a:lnTo>
                  <a:cubicBezTo>
                    <a:pt x="34116" y="2857500"/>
                    <a:pt x="0" y="2823384"/>
                    <a:pt x="0" y="2781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0D14"/>
            </a:solidFill>
            <a:ln w="9525">
              <a:solidFill>
                <a:srgbClr val="22C55E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791700" y="1905000"/>
              <a:ext cx="1828800" cy="38100"/>
            </a:xfrm>
            <a:custGeom>
              <a:avLst/>
              <a:gdLst/>
              <a:ahLst/>
              <a:cxnLst/>
              <a:rect l="l" t="t" r="r" b="b"/>
              <a:pathLst>
                <a:path w="1828800" h="38100">
                  <a:moveTo>
                    <a:pt x="19050" y="0"/>
                  </a:moveTo>
                  <a:lnTo>
                    <a:pt x="1809750" y="0"/>
                  </a:lnTo>
                  <a:cubicBezTo>
                    <a:pt x="1820271" y="0"/>
                    <a:pt x="1828800" y="8529"/>
                    <a:pt x="1828800" y="19050"/>
                  </a:cubicBezTo>
                  <a:lnTo>
                    <a:pt x="1828800" y="19050"/>
                  </a:lnTo>
                  <a:cubicBezTo>
                    <a:pt x="1828800" y="29571"/>
                    <a:pt x="1820271" y="38100"/>
                    <a:pt x="18097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778041" y="2064068"/>
              <a:ext cx="1856118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World</a:t>
              </a:r>
            </a:p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Foundation Models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10143" y="2559368"/>
              <a:ext cx="15919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Cosmos / Marble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058400" y="2876550"/>
              <a:ext cx="129540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389900" y="3002756"/>
              <a:ext cx="632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BEYOND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17169" y="3188018"/>
              <a:ext cx="1177862" cy="72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Persistence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Interaction</a:t>
              </a:r>
            </a:p>
            <a:p>
              <a:pPr algn="ctr"/>
              <a:r>
                <a:rPr lang="en-US" sz="1350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Simulation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65891" y="4260056"/>
              <a:ext cx="4804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dirty="0">
                  <a:solidFill>
                    <a:srgbClr val="64748B"/>
                  </a:solidFill>
                  <a:latin typeface="Lato"/>
                  <a:ea typeface="Lato"/>
                  <a:cs typeface="Lato"/>
                </a:rPr>
                <a:t>2025–</a:t>
              </a:r>
            </a:p>
          </p:txBody>
        </p:sp>
      </p:grpSp>
      <p:sp>
        <p:nvSpPr>
          <p:cNvPr id="63" name="Freeform 63"/>
          <p:cNvSpPr/>
          <p:nvPr/>
        </p:nvSpPr>
        <p:spPr>
          <a:xfrm>
            <a:off x="1905000" y="5410200"/>
            <a:ext cx="8382000" cy="457200"/>
          </a:xfrm>
          <a:custGeom>
            <a:avLst/>
            <a:gdLst/>
            <a:ahLst/>
            <a:cxnLst/>
            <a:rect l="l" t="t" r="r" b="b"/>
            <a:pathLst>
              <a:path w="8382000" h="457200">
                <a:moveTo>
                  <a:pt x="76200" y="0"/>
                </a:moveTo>
                <a:lnTo>
                  <a:pt x="8305800" y="0"/>
                </a:lnTo>
                <a:cubicBezTo>
                  <a:pt x="8347884" y="0"/>
                  <a:pt x="8382000" y="34116"/>
                  <a:pt x="8382000" y="76200"/>
                </a:cubicBezTo>
                <a:lnTo>
                  <a:pt x="8382000" y="381000"/>
                </a:lnTo>
                <a:cubicBezTo>
                  <a:pt x="8382000" y="423084"/>
                  <a:pt x="8347884" y="457200"/>
                  <a:pt x="8305800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D0D14">
              <a:alpha val="80000"/>
            </a:srgbClr>
          </a:solidFill>
          <a:ln w="9525">
            <a:solidFill>
              <a:srgbClr val="A855F7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3713405" y="5448300"/>
            <a:ext cx="47651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Each step solves the previous bottleneck.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969294" y="5648325"/>
            <a:ext cx="82534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Not a replacement — a progression. All representations co-exist in practice.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604361"/>
            <a:ext cx="10848975" cy="655320"/>
            <a:chOff x="571500" y="604361"/>
            <a:chExt cx="10848975" cy="655320"/>
          </a:xfrm>
        </p:grpSpPr>
        <p:sp>
          <p:nvSpPr>
            <p:cNvPr id="2" name="Rectangle 2"/>
            <p:cNvSpPr/>
            <p:nvPr/>
          </p:nvSpPr>
          <p:spPr>
            <a:xfrm>
              <a:off x="571500" y="638175"/>
              <a:ext cx="28575" cy="381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30568" y="604361"/>
              <a:ext cx="3593304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Key Takeaways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71525" y="1123950"/>
              <a:ext cx="10648950" cy="9525"/>
            </a:xfrm>
            <a:prstGeom prst="rect">
              <a:avLst/>
            </a:prstGeom>
            <a:solidFill>
              <a:srgbClr val="A855F7">
                <a:alpha val="20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14375" y="1228725"/>
            <a:ext cx="11630192" cy="1333976"/>
            <a:chOff x="714375" y="1228725"/>
            <a:chExt cx="11630192" cy="1333976"/>
          </a:xfrm>
        </p:grpSpPr>
        <p:sp>
          <p:nvSpPr>
            <p:cNvPr id="6" name="TextBox 6"/>
            <p:cNvSpPr txBox="1"/>
            <p:nvPr/>
          </p:nvSpPr>
          <p:spPr>
            <a:xfrm>
              <a:off x="714375" y="1228725"/>
              <a:ext cx="700873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A855F7">
                      <a:alpha val="20000"/>
                    </a:srgbClr>
                  </a:solidFill>
                  <a:latin typeface="Poppins"/>
                  <a:ea typeface="Poppins"/>
                  <a:cs typeface="Poppins"/>
                </a:rPr>
                <a:t>01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71525" y="1543050"/>
              <a:ext cx="106489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7792" y="1680686"/>
              <a:ext cx="15781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NeRF opened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16592" y="1680686"/>
              <a:ext cx="312562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representation quality;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12292" y="1680686"/>
              <a:ext cx="15781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3DGS opened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41092" y="1680686"/>
              <a:ext cx="274205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real-time rendering.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89698" y="1982629"/>
              <a:ext cx="10954869" cy="580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Same image formation model (alpha compositing), different primitive (MLP vs. Gaussian) and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rasterization strategy (ray marching vs. tile-based splatting). Complementary, not competing.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4375" y="2714625"/>
            <a:ext cx="11618691" cy="1619726"/>
            <a:chOff x="714375" y="2714625"/>
            <a:chExt cx="11618691" cy="1619726"/>
          </a:xfrm>
        </p:grpSpPr>
        <p:sp>
          <p:nvSpPr>
            <p:cNvPr id="14" name="TextBox 14"/>
            <p:cNvSpPr txBox="1"/>
            <p:nvPr/>
          </p:nvSpPr>
          <p:spPr>
            <a:xfrm>
              <a:off x="714375" y="2714625"/>
              <a:ext cx="87339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A855F7">
                      <a:alpha val="20000"/>
                    </a:srgbClr>
                  </a:solidFill>
                  <a:latin typeface="Poppins"/>
                  <a:ea typeface="Poppins"/>
                  <a:cs typeface="Poppins"/>
                </a:rPr>
                <a:t>02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71525" y="3028950"/>
              <a:ext cx="106489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87792" y="3166586"/>
              <a:ext cx="768882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Feed-forward 3DGS removes the last major 3DGS bottleneck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7792" y="3433286"/>
              <a:ext cx="332402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b="1" dirty="0">
                  <a:solidFill>
                    <a:srgbClr val="A855F7"/>
                  </a:solidFill>
                  <a:latin typeface="Poppins"/>
                  <a:ea typeface="Poppins"/>
                  <a:cs typeface="Poppins"/>
                </a:rPr>
                <a:t>(per-scene optimization)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59642" y="3433286"/>
              <a:ext cx="627356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by amortizing scene priors over large datasets.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9698" y="3754279"/>
              <a:ext cx="10943368" cy="580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Result: millisecond inference at test time, product-scale deployment, no COLMAP dependency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(pose-free variants). Enables AR, robotics, large-scale mapping at previously impossible speed.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4375" y="4219575"/>
            <a:ext cx="11296650" cy="1619726"/>
            <a:chOff x="714375" y="4219575"/>
            <a:chExt cx="11296650" cy="1619726"/>
          </a:xfrm>
        </p:grpSpPr>
        <p:sp>
          <p:nvSpPr>
            <p:cNvPr id="21" name="TextBox 21"/>
            <p:cNvSpPr txBox="1"/>
            <p:nvPr/>
          </p:nvSpPr>
          <p:spPr>
            <a:xfrm>
              <a:off x="714375" y="4219575"/>
              <a:ext cx="87339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A855F7">
                      <a:alpha val="20000"/>
                    </a:srgbClr>
                  </a:solidFill>
                  <a:latin typeface="Poppins"/>
                  <a:ea typeface="Poppins"/>
                  <a:cs typeface="Poppins"/>
                </a:rPr>
                <a:t>03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1525" y="4533900"/>
              <a:ext cx="10648950" cy="9525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87792" y="4671536"/>
              <a:ext cx="52154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World models go beyond reconstruction: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87792" y="4938236"/>
              <a:ext cx="56915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5" b="1" dirty="0">
                  <a:solidFill>
                    <a:srgbClr val="22C55E"/>
                  </a:solidFill>
                  <a:latin typeface="Poppins"/>
                  <a:ea typeface="Poppins"/>
                  <a:cs typeface="Poppins"/>
                </a:rPr>
                <a:t>persistent state · generation · simulation.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89698" y="5259229"/>
              <a:ext cx="10621327" cy="580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3DGS and world models are complementary — 3DGS provides the spatial substrate; world models</a:t>
              </a:r>
            </a:p>
            <a:p>
              <a:pPr algn="l"/>
              <a:r>
                <a:rPr lang="en-US" sz="1575" dirty="0">
                  <a:solidFill>
                    <a:srgbClr val="94A3B8"/>
                  </a:solidFill>
                  <a:latin typeface="Lato"/>
                  <a:ea typeface="Lato"/>
                  <a:cs typeface="Lato"/>
                </a:rPr>
                <a:t>provide the temporal dynamics, generative capability, and interaction reasoning on top of it.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67250" y="1809750"/>
            <a:ext cx="2857500" cy="19050"/>
          </a:xfrm>
          <a:custGeom>
            <a:avLst/>
            <a:gdLst/>
            <a:ahLst/>
            <a:cxnLst/>
            <a:rect l="l" t="t" r="r" b="b"/>
            <a:pathLst>
              <a:path w="2857500" h="19050">
                <a:moveTo>
                  <a:pt x="9525" y="0"/>
                </a:moveTo>
                <a:lnTo>
                  <a:pt x="2847975" y="0"/>
                </a:lnTo>
                <a:cubicBezTo>
                  <a:pt x="2853236" y="0"/>
                  <a:pt x="2857500" y="4264"/>
                  <a:pt x="2857500" y="9525"/>
                </a:cubicBezTo>
                <a:lnTo>
                  <a:pt x="2857500" y="9525"/>
                </a:lnTo>
                <a:cubicBezTo>
                  <a:pt x="2857500" y="14786"/>
                  <a:pt x="2853236" y="19050"/>
                  <a:pt x="2847975" y="19050"/>
                </a:cubicBezTo>
                <a:lnTo>
                  <a:pt x="9525" y="19050"/>
                </a:lnTo>
                <a:cubicBezTo>
                  <a:pt x="4264" y="19050"/>
                  <a:pt x="0" y="14786"/>
                  <a:pt x="0" y="9525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A855F7">
              <a:alpha val="60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081377" y="2369820"/>
            <a:ext cx="4029246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97729" y="3294698"/>
            <a:ext cx="31965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dirty="0">
                <a:solidFill>
                  <a:srgbClr val="94A3B8"/>
                </a:solidFill>
                <a:latin typeface="Lato"/>
                <a:ea typeface="Lato"/>
                <a:cs typeface="Lato"/>
              </a:rPr>
              <a:t>Questions &amp; Discussion</a:t>
            </a:r>
          </a:p>
        </p:txBody>
      </p:sp>
      <p:sp>
        <p:nvSpPr>
          <p:cNvPr id="5" name="Freeform 5"/>
          <p:cNvSpPr/>
          <p:nvPr/>
        </p:nvSpPr>
        <p:spPr>
          <a:xfrm>
            <a:off x="4667250" y="37719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9525" y="0"/>
                </a:moveTo>
                <a:lnTo>
                  <a:pt x="2847975" y="0"/>
                </a:lnTo>
                <a:cubicBezTo>
                  <a:pt x="2853236" y="0"/>
                  <a:pt x="2857500" y="2132"/>
                  <a:pt x="2857500" y="4762"/>
                </a:cubicBezTo>
                <a:lnTo>
                  <a:pt x="2857500" y="4762"/>
                </a:lnTo>
                <a:cubicBezTo>
                  <a:pt x="2857500" y="7393"/>
                  <a:pt x="2853236" y="9525"/>
                  <a:pt x="2847975" y="9525"/>
                </a:cubicBezTo>
                <a:lnTo>
                  <a:pt x="9525" y="9525"/>
                </a:lnTo>
                <a:cubicBezTo>
                  <a:pt x="4264" y="9525"/>
                  <a:pt x="0" y="7393"/>
                  <a:pt x="0" y="4762"/>
                </a:cubicBezTo>
                <a:lnTo>
                  <a:pt x="0" y="4762"/>
                </a:lnTo>
                <a:cubicBezTo>
                  <a:pt x="0" y="2132"/>
                  <a:pt x="4264" y="0"/>
                  <a:pt x="9525" y="0"/>
                </a:cubicBezTo>
                <a:close/>
              </a:path>
            </a:pathLst>
          </a:custGeom>
          <a:solidFill>
            <a:srgbClr val="A855F7">
              <a:alpha val="4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632855" y="4020979"/>
            <a:ext cx="292629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75" b="1" dirty="0">
                <a:solidFill>
                  <a:srgbClr val="A855F7"/>
                </a:solidFill>
                <a:latin typeface="Poppins"/>
                <a:ea typeface="Poppins"/>
                <a:cs typeface="Poppins"/>
              </a:rPr>
              <a:t>VisualSol Research Group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85636" y="4314825"/>
            <a:ext cx="2020729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joon3711@gmail.com</a:t>
            </a:r>
          </a:p>
          <a:p>
            <a:pPr algn="ctr"/>
            <a:r>
              <a:rPr lang="en-US" sz="1500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May 2026</a:t>
            </a:r>
          </a:p>
        </p:txBody>
      </p:sp>
      <p:sp>
        <p:nvSpPr>
          <p:cNvPr id="8" name="Freeform 8"/>
          <p:cNvSpPr/>
          <p:nvPr/>
        </p:nvSpPr>
        <p:spPr>
          <a:xfrm>
            <a:off x="4667250" y="5029200"/>
            <a:ext cx="2857500" cy="19050"/>
          </a:xfrm>
          <a:custGeom>
            <a:avLst/>
            <a:gdLst/>
            <a:ahLst/>
            <a:cxnLst/>
            <a:rect l="l" t="t" r="r" b="b"/>
            <a:pathLst>
              <a:path w="2857500" h="19050">
                <a:moveTo>
                  <a:pt x="9525" y="0"/>
                </a:moveTo>
                <a:lnTo>
                  <a:pt x="2847975" y="0"/>
                </a:lnTo>
                <a:cubicBezTo>
                  <a:pt x="2853236" y="0"/>
                  <a:pt x="2857500" y="4264"/>
                  <a:pt x="2857500" y="9525"/>
                </a:cubicBezTo>
                <a:lnTo>
                  <a:pt x="2857500" y="9525"/>
                </a:lnTo>
                <a:cubicBezTo>
                  <a:pt x="2857500" y="14786"/>
                  <a:pt x="2853236" y="19050"/>
                  <a:pt x="2847975" y="19050"/>
                </a:cubicBezTo>
                <a:lnTo>
                  <a:pt x="9525" y="19050"/>
                </a:lnTo>
                <a:cubicBezTo>
                  <a:pt x="4264" y="19050"/>
                  <a:pt x="0" y="14786"/>
                  <a:pt x="0" y="9525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A855F7">
              <a:alpha val="2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