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5EDB97-5D6F-4415-97E5-2B80AE7430C8}">
  <a:tblStyle styleId="{FB5EDB97-5D6F-4415-97E5-2B80AE7430C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9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875" y="4283273"/>
            <a:ext cx="4286250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505075" y="1675507"/>
            <a:ext cx="71818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RESEARCH INTELLIGENCE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325528" y="2155477"/>
            <a:ext cx="7540942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VISTA4D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505075" y="3288952"/>
            <a:ext cx="7181850" cy="518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Video Reshooting with 4D-Grounded Point Clouds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505075" y="4673798"/>
            <a:ext cx="71818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Eyeline Labs • Kuan Heng Lin • Jiajun Wu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638300" y="2901404"/>
            <a:ext cx="936117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Technical Foundations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4044404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Breaking down the limitations of prior methods and the Vista4D architectural shift.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88121"/>
            <a:ext cx="5276850" cy="26628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588121"/>
            <a:ext cx="5276850" cy="26628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71550" y="2978646"/>
            <a:ext cx="472059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C084FC"/>
                </a:solidFill>
                <a:latin typeface="Poppins"/>
                <a:ea typeface="Poppins"/>
                <a:cs typeface="Poppins"/>
                <a:sym typeface="Poppins"/>
              </a:rPr>
              <a:t>Latent Instability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71550" y="3559671"/>
            <a:ext cx="449580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Implicit models (CamClone, TrajectoryCrafter) rely on latent camera conditioning. While visually clean, they cannot strictly enforce the </a:t>
            </a:r>
            <a:r>
              <a:rPr b="1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target trajectory</a:t>
            </a: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, leading to content drift in complex motions.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2978646"/>
            <a:ext cx="472059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C084FC"/>
                </a:solidFill>
                <a:latin typeface="Poppins"/>
                <a:ea typeface="Poppins"/>
                <a:cs typeface="Poppins"/>
                <a:sym typeface="Poppins"/>
              </a:rPr>
              <a:t>Geometric Noise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24650" y="3559671"/>
            <a:ext cx="449580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Explicit methods (EX-4D, GEN3C) provide better control but suffer from </a:t>
            </a:r>
            <a:r>
              <a:rPr b="1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depth artifacts</a:t>
            </a: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 Errors in 3D reconstruction are often baked into the output as unnatural visual glitches.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IMPLICIT VS. EXPLICIT METHODS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81025" y="581025"/>
            <a:ext cx="57150" cy="60007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1453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81025" y="2430065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Vista4D grounds reshooting in a </a:t>
            </a:r>
            <a:r>
              <a:rPr b="1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Temporally Persistent 4D Point Cloud</a:t>
            </a: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to provide a rigid geometric anchor for generative synthesis.</a:t>
            </a:r>
            <a:endParaRPr/>
          </a:p>
        </p:txBody>
      </p:sp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24062"/>
            <a:ext cx="52578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2235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1038225" y="3774727"/>
            <a:ext cx="48196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Explicit Grounding: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Visible scene geometry is encoded across time to guide the diffusion model.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734669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076325" y="4687044"/>
            <a:ext cx="47815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Artifact Correction: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The model is trained to recover from noisy 4D renders rather than copying them.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OVERVIEW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81025" y="581025"/>
            <a:ext cx="57150" cy="60007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902249"/>
            <a:ext cx="2952750" cy="79623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771525" y="771525"/>
            <a:ext cx="4990623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TEMPORAL PERSISTENCE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81025" y="771525"/>
            <a:ext cx="57150" cy="120015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81025" y="2788146"/>
            <a:ext cx="49434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Unlike per-frame depth methods, Vista4D accumulates </a:t>
            </a:r>
            <a:r>
              <a:rPr b="1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static scene context</a:t>
            </a: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across the entire video sequence.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81025" y="3509962"/>
            <a:ext cx="4943475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This allows for geometric grounding even when the target camera has zero pixel overlap with the current source frame, providing a stable spatial "anchor" for large viewpoint shifts.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57250" y="5140374"/>
            <a:ext cx="2438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Zero-Drift Spatial Mapping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75594"/>
            <a:ext cx="3486150" cy="3087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75594"/>
            <a:ext cx="3486150" cy="3087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75594"/>
            <a:ext cx="3486150" cy="308773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853916" y="3528119"/>
            <a:ext cx="294036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C084FC"/>
                </a:solidFill>
                <a:latin typeface="Poppins"/>
                <a:ea typeface="Poppins"/>
                <a:cs typeface="Poppins"/>
                <a:sym typeface="Poppins"/>
              </a:rPr>
              <a:t>Decomposition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923925" y="4109144"/>
            <a:ext cx="28003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Separating dynamic actors from static background pixels to build persistent 4D context.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4625816" y="3528119"/>
            <a:ext cx="294036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C084FC"/>
                </a:solidFill>
                <a:latin typeface="Poppins"/>
                <a:ea typeface="Poppins"/>
                <a:cs typeface="Poppins"/>
                <a:sym typeface="Poppins"/>
              </a:rPr>
              <a:t>Noisy Training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4695825" y="4109144"/>
            <a:ext cx="28003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Training on artifact-laden renders to ensure robustness to imperfect geometric inputs at inference.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397716" y="3528119"/>
            <a:ext cx="294036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C084FC"/>
                </a:solidFill>
                <a:latin typeface="Poppins"/>
                <a:ea typeface="Poppins"/>
                <a:cs typeface="Poppins"/>
                <a:sym typeface="Poppins"/>
              </a:rPr>
              <a:t>Plücker Rays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467725" y="4109144"/>
            <a:ext cx="28003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Injecting precise camera parameters as ray embeddings into every transformer block.</a:t>
            </a:r>
            <a:endParaRPr/>
          </a:p>
        </p:txBody>
      </p:sp>
      <p:pic>
        <p:nvPicPr>
          <p:cNvPr descr="image.png" id="150" name="Google Shape;15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76611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76611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9775" y="276611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CORE METHODOLOGY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81025" y="581025"/>
            <a:ext cx="57150" cy="60007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581025" y="2762398"/>
            <a:ext cx="5276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170K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81025" y="4286398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Video Clips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334125" y="2762398"/>
            <a:ext cx="554069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C084FC"/>
                </a:solidFill>
                <a:latin typeface="Poppins"/>
                <a:ea typeface="Poppins"/>
                <a:cs typeface="Poppins"/>
                <a:sym typeface="Poppins"/>
              </a:rPr>
              <a:t>Hybrid Data Strategy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334125" y="3343423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Vista4D leverages 170,000 multi-camera clips (ground-truth targets) alongside large-scale 4D-reconstructed monocular internet video from the OpenVidHD-1.0 dataset.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334125" y="4354710"/>
            <a:ext cx="52768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This ensures the model generalizes across diverse visual content while maintaining precise trajectory adherence.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&amp; TRAINING SCALE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81025" y="581025"/>
            <a:ext cx="57150" cy="60007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2681287" y="5256758"/>
            <a:ext cx="68294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Vista4D achieves state-of-the-art camera accuracy and video realism simultaneously.</a:t>
            </a:r>
            <a:endParaRPr/>
          </a:p>
        </p:txBody>
      </p:sp>
      <p:graphicFrame>
        <p:nvGraphicFramePr>
          <p:cNvPr id="173" name="Google Shape;173;p20"/>
          <p:cNvGraphicFramePr/>
          <p:nvPr/>
        </p:nvGraphicFramePr>
        <p:xfrm>
          <a:off x="581025" y="2149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{FB5EDB97-5D6F-4415-97E5-2B80AE7430C8}</a:tableStyleId>
              </a:tblPr>
              <a:tblGrid>
                <a:gridCol w="2709575"/>
                <a:gridCol w="2805250"/>
                <a:gridCol w="2167675"/>
                <a:gridCol w="1561950"/>
                <a:gridCol w="1785500"/>
              </a:tblGrid>
              <a:tr h="70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084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084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RotE (Deg) 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084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TransE 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084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FVD 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084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LPIPS 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55F7"/>
                    </a:solidFill>
                  </a:tcPr>
                </a:tc>
              </a:tr>
              <a:tr h="70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ReCamMaster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1.574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12.79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23.66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0.285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GEN3C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1.309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4.751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12.99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0.228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Vista4D (Ours)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A855F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1.251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A855F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4.647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A855F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7.504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A855F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0.214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55F7"/>
                    </a:solidFill>
                  </a:tcPr>
                </a:tc>
              </a:tr>
            </a:tbl>
          </a:graphicData>
        </a:graphic>
      </p:graphicFrame>
      <p:sp>
        <p:nvSpPr>
          <p:cNvPr id="174" name="Google Shape;174;p20"/>
          <p:cNvSpPr/>
          <p:nvPr/>
        </p:nvSpPr>
        <p:spPr>
          <a:xfrm>
            <a:off x="581025" y="2802433"/>
            <a:ext cx="270956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290589" y="2802433"/>
            <a:ext cx="28052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095851" y="2802433"/>
            <a:ext cx="21676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8263532" y="2802433"/>
            <a:ext cx="15619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9825483" y="2802433"/>
            <a:ext cx="17854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81025" y="3520529"/>
            <a:ext cx="270956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290589" y="3520529"/>
            <a:ext cx="28052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6095851" y="3520529"/>
            <a:ext cx="21676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8263532" y="3520529"/>
            <a:ext cx="15619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9825483" y="3520529"/>
            <a:ext cx="17854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81025" y="4238625"/>
            <a:ext cx="270956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290589" y="4238625"/>
            <a:ext cx="28052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6095851" y="4238625"/>
            <a:ext cx="21676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8263532" y="4238625"/>
            <a:ext cx="15619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9825483" y="4238625"/>
            <a:ext cx="17854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81025" y="4956720"/>
            <a:ext cx="270956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3290589" y="4956720"/>
            <a:ext cx="28052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6095851" y="4956720"/>
            <a:ext cx="216768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8263532" y="4956720"/>
            <a:ext cx="15619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9825483" y="4956720"/>
            <a:ext cx="17854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QUANTITATIVE BENCHMARKS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81025" y="581025"/>
            <a:ext cx="57150" cy="60007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62100"/>
            <a:ext cx="1102995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2757487" y="5036790"/>
            <a:ext cx="66770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Lower rotation error reflects tighter adherence to the specified target camera path.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PRECISION: ROTATION ERROR (ROTE)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581025" y="581025"/>
            <a:ext cx="57150" cy="60007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4450" y="201453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6334125" y="2833836"/>
            <a:ext cx="554069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C084FC"/>
                </a:solidFill>
                <a:latin typeface="Poppins"/>
                <a:ea typeface="Poppins"/>
                <a:cs typeface="Poppins"/>
                <a:sym typeface="Poppins"/>
              </a:rPr>
              <a:t>Wan2.1-T2V Scale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334125" y="3414861"/>
            <a:ext cx="5276850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model architecture is built on the 14B parameter Wan2.1 video diffusion prior. By fine-tuning the camera encoder and projector layers, Vista4D gains a deep understanding of spatial geometry while maintaining the base model's world-class motion synthesis capability.</a:t>
            </a:r>
            <a:endParaRPr/>
          </a:p>
        </p:txBody>
      </p:sp>
      <p:pic>
        <p:nvPicPr>
          <p:cNvPr descr="image.png" id="213" name="Google Shape;21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2033587"/>
            <a:ext cx="37719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GENERATIVE TRANSFORMER BACKBONE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581025" y="581025"/>
            <a:ext cx="57150" cy="60007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1724025" y="2064246"/>
            <a:ext cx="8743950" cy="24532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"Vista4D resolves the fundamental tension between explicit geometric control and generative imagination in video reshooting."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581025" y="4955678"/>
            <a:ext cx="11029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— Eyeline Labs Research Briefing 2026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962025" y="1683246"/>
            <a:ext cx="39052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183549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3785711" y="2883247"/>
            <a:ext cx="462057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3895725" y="3721447"/>
            <a:ext cx="44005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Explore the 4D reshooting future.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4343400" y="4784377"/>
            <a:ext cx="16668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084FC"/>
                </a:solidFill>
                <a:latin typeface="Poppins"/>
                <a:ea typeface="Poppins"/>
                <a:cs typeface="Poppins"/>
                <a:sym typeface="Poppins"/>
              </a:rPr>
              <a:t> github.com/vista4d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6486525" y="4784377"/>
            <a:ext cx="13620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084FC"/>
                </a:solidFill>
                <a:latin typeface="Poppins"/>
                <a:ea typeface="Poppins"/>
                <a:cs typeface="Poppins"/>
                <a:sym typeface="Poppins"/>
              </a:rPr>
              <a:t>arXiv:2604.21915</a:t>
            </a:r>
            <a:endParaRPr/>
          </a:p>
        </p:txBody>
      </p:sp>
      <p:pic>
        <p:nvPicPr>
          <p:cNvPr descr="image.png" id="234" name="Google Shape;23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482247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4822477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1866900" y="2747069"/>
            <a:ext cx="84582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1866900" y="3531840"/>
            <a:ext cx="84582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1866900" y="3522315"/>
            <a:ext cx="8458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1866900" y="3522315"/>
            <a:ext cx="8458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1866900" y="4307085"/>
            <a:ext cx="8458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1866900" y="4307085"/>
            <a:ext cx="8458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7" name="Google Shape;24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66900" y="2896492"/>
            <a:ext cx="1038225" cy="86841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2962275" y="2889944"/>
            <a:ext cx="7362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https://derivative.ca/sites/default/files/styles/project_teaser/public/field/image/Capture-Resemble-6.jpg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2962275" y="3135659"/>
            <a:ext cx="7362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derivative.ca</a:t>
            </a:r>
            <a:endParaRPr/>
          </a:p>
        </p:txBody>
      </p:sp>
      <p:pic>
        <p:nvPicPr>
          <p:cNvPr descr="image.png" id="250" name="Google Shape;25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66900" y="368126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2962275" y="3674715"/>
            <a:ext cx="7362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https://www.mdpi.com/remotesensing/remotesensing-16-00773/article_deploy/html/images/remotesensing-16-00773-g003-550.jpg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2962275" y="3920430"/>
            <a:ext cx="7362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www.mdpi.com</a:t>
            </a:r>
            <a:endParaRPr/>
          </a:p>
        </p:txBody>
      </p:sp>
      <p:pic>
        <p:nvPicPr>
          <p:cNvPr descr="image.png" id="253" name="Google Shape;25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66900" y="44660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2962275" y="4459485"/>
            <a:ext cx="7362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https://miro.medium.com/1*Kyc68FzwCa5zhGBePeK-lg.png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2962275" y="4705201"/>
            <a:ext cx="7362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771525" y="581025"/>
            <a:ext cx="1138142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581025" y="581025"/>
            <a:ext cx="57150" cy="60007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